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71" r:id="rId4"/>
    <p:sldId id="259" r:id="rId5"/>
    <p:sldId id="260" r:id="rId6"/>
    <p:sldId id="273" r:id="rId7"/>
    <p:sldId id="262" r:id="rId8"/>
    <p:sldId id="263" r:id="rId9"/>
    <p:sldId id="269" r:id="rId10"/>
    <p:sldId id="270" r:id="rId11"/>
    <p:sldId id="264" r:id="rId12"/>
    <p:sldId id="272" r:id="rId13"/>
    <p:sldId id="267" r:id="rId14"/>
    <p:sldId id="268" r:id="rId15"/>
    <p:sldId id="265" r:id="rId16"/>
    <p:sldId id="266" r:id="rId17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01" autoAdjust="0"/>
    <p:restoredTop sz="94660"/>
  </p:normalViewPr>
  <p:slideViewPr>
    <p:cSldViewPr snapToGrid="0">
      <p:cViewPr varScale="1">
        <p:scale>
          <a:sx n="83" d="100"/>
          <a:sy n="83" d="100"/>
        </p:scale>
        <p:origin x="629" y="7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0195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10 s. Presentar el proyecto APT, cliente: Cámara Chilena de Inteligencia Artificial.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15 s. Una frase por integrante: rol Scrum y aporte técnico.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40 s. Problema real de CCHIA: proceso manual y sin flujo de revisión. La solución es una plataforma propia con roles y aprobación humana. Aclarar que la IA es siguiente etapa.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30 s. Objetivo general y estado de cada objetivo específico. Ser honestos: 1 y 2 pendientes, 3 y 4 parciales, 5 logrado.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30 s. Enfoque híbrido: Scrum (roles, sprints, revisiones) + Kanban en Jira (tablero cchia-tablero-qa). Mencionar dificultades más adelante.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20 s. Cronograma de 18 semanas (10 ago – 13 dic). Hoy vamos en la S10: requisitos y arquitectura completos, backend y frontend en curso, pruebas y validación por iniciar. La IA se declara fuera del alcance.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45 s. Un solo despliegue Next.js: el servidor es el backend. Navegador -&gt; servidor -&gt; PostgreSQL. Justificar: único cliente, menos superficie de ataque. Mejora: separar API/IA.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40 s. Tres entidades implementadas (ROL 1:N USUARIO 1:N ARTICULO). Enums validados por la BD, claves únicas, FK. En gris lo proyectado.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25 s. Tecnologías por capa y su función. No leer la tabla completa.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40 s. Medidas reales y, sobre todo, limitaciones declaradas: token 8 h, límite en memoria, sin 2FA, BD compartida.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25 s. Valor institucional, sostenibilidad (hosting + mantención), escalabilidad por capas. No inventar cifras.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30 s. Operativo vs parcial vs pendiente, sin atribuir funciones que no existen.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20 s. Tres dificultades reales y el aprendizaje principal.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 min de demo: 1) sitio público y artículo; 2) login; 3) panel de administración; 4) crear usuario; 5) cerrar sesión. Tener video de respaldo.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Preguntas. Preparar: arquitectura, modelo de datos, seguridad, por qué sin backend separado, por qué se descartó la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64A916-2C2E-265E-D1A7-F8BA8BAA56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2B618F-FEF4-D0FB-4038-D93A262EA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43312A-AEFB-3177-E12B-386C4F429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19-10-2026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7C3C00-ADC0-ABB2-EF55-4D170DA0D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B0C28A-E393-39C0-65D4-7252445FA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53887044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7B6CD-9456-B138-ECD2-C8D7A666C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74D6B0-7AF3-685F-CEAB-5529E05E8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F52F25-C2C6-7F7B-276E-37CD648AA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19-10-2026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947A73-C5CF-9FE2-967B-D4D866F9D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ECAE93-9144-BF33-1401-DF6FFF6FA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23929711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B56A89-B019-96BD-5BAD-62AE0C3AC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22B60B4-76B8-D88B-5674-F86DC3670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DE800A-255F-4AE1-5E56-606A61B37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19-10-2026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FC92BF-9B9F-10CC-5BC8-BAC85DDB9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372357-062E-F22F-4B80-ED779DDD1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1426009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399D17-3BAA-B1F3-D450-274A02753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60F58E-6555-CC20-7FB5-60DB4AEFC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CAA47F-EB54-628D-A823-3A00718BE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90AFF8-D9BE-4C13-0483-E843C51CA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19-10-2026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CF5C03-2790-90EB-0D65-AA62820C0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491F526-CDE5-755B-4A3F-50F807763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52846858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9CF108-6B99-8CCE-C8FD-D995F9965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B0B922A-6156-2235-AA95-A8B8C02B3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40D8F2-325E-B2D8-EDDA-56DE9D1F20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58884F1-5F33-E36A-DEE4-9693FBE7DB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5DF08E0-1508-F512-337D-F5C8A5F0C3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553ED18-81E3-9782-22CD-40D6A1909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19-10-2026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78D2E67-9BFA-E800-3A7E-8900D96D4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56AEF8A-22F0-544A-1B96-40996F1A6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63044769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0A5D8-AC89-1289-2F04-0814CB9B1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703452B-17EB-394F-735B-5A921A58A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19-10-2026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60A54D4-94C4-7743-43A2-1A52792A4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9886359-BA16-2E60-D21D-C9E1AD88B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2827478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9082406-6A57-2057-24EC-1A6C257A2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19-10-2026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D4737A7-3975-9225-3AAC-282F9F456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58996F-BDE4-86FA-BD9D-DFCAB9143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3576406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5B1326-48D6-CCCF-9030-3AC9A67CD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04BD84-4F55-3649-4756-7A4CE760D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F111F47-438E-ECB7-5D1F-CB07E54FD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1E9545-DD0E-6A0B-2B88-934785A7E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19-10-2026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3CD897-12AF-A56D-CB14-1B41012DE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9257B85-275B-F539-96E6-BF6C3F487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3514770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45BFE8-4F8E-9F77-F45C-B4D870295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3CB21F6-368F-6F50-5C0D-6BE2DDE1E4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12122B-29C5-7F4E-7EFB-41EF277FC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17332B2-B78B-790B-184B-C7299CC48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19-10-2026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1CBB3B-17B4-113F-AA5B-E804167AD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C8A1FFA-A66B-F32D-E3CE-2337B07F5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36603574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CA4049-BEF3-0AFD-A19B-45FF1D820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4FD3394-1BB2-4A78-E0C2-B81E3B0A0C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B1E014-02B1-2EA8-C324-69C065711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19-10-2026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D9E46F-A5FD-E000-2817-06E54BC72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F151D9-94A1-87E1-B673-4D3D316B9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5804739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B72A6E5-A0E4-586A-8BAE-08F39AC9E9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8C75B9-2362-53B4-3282-7D8A22F06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97AA35-3C24-08C9-2992-BE0C70C5D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19-10-2026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103D78-DCDD-276E-7575-A1992D704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60B15A-BAF6-5EBF-7331-0AFFFFABE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3337686"/>
      </p:ext>
    </p:extLst>
  </p:cSld>
  <p:clrMapOvr>
    <a:masterClrMapping/>
  </p:clrMapOvr>
  <p:transition spd="slow">
    <p:wip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48B6D4E-E3C2-3792-E3C4-2CBC2E052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82E89E-FB21-817B-8050-7AD81F9CE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A1C48C-F8B6-B30A-3815-D7ADD14FF2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704C8-43E3-4F4F-BE90-356A640D5754}" type="datetimeFigureOut">
              <a:rPr lang="es-CL" smtClean="0"/>
              <a:t>19-10-2026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09214F-88E2-1045-9D0B-C2ECD481C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38CA17-DD6E-139F-6ED9-FAD83BB727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2AF52-67EF-4B3A-939D-BC0B060810A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5670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e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4529" y="495097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PROYECTO “APT” – PLATAFORMA DE PUBLICACIÓN ASISTIDA POR IA</a:t>
            </a:r>
          </a:p>
          <a:p>
            <a:pPr algn="ctr"/>
            <a:r>
              <a:rPr lang="es-MX" sz="2400" dirty="0"/>
              <a:t>PRESENTACIÓN FINAL CAPSTONE</a:t>
            </a:r>
            <a:endParaRPr lang="es-CL" sz="2400" dirty="0"/>
          </a:p>
        </p:txBody>
      </p:sp>
      <p:pic>
        <p:nvPicPr>
          <p:cNvPr id="2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940DD14E-9A2F-BEB9-BA28-E596FDF87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7963" y="4463247"/>
            <a:ext cx="4536009" cy="1144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1963198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PLATAFORMA DE PUBLICACIÓN ASISTIDA POR IA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INTEGRANTES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7" name="Rounded Rectangle 1026"/>
          <p:cNvSpPr/>
          <p:nvPr/>
        </p:nvSpPr>
        <p:spPr>
          <a:xfrm>
            <a:off x="4121026" y="1710819"/>
            <a:ext cx="7633494" cy="1300000"/>
          </a:xfrm>
          <a:prstGeom prst="round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8" name="Rounded Rectangle 1027"/>
          <p:cNvSpPr/>
          <p:nvPr/>
        </p:nvSpPr>
        <p:spPr>
          <a:xfrm>
            <a:off x="4260000" y="1860819"/>
            <a:ext cx="1000000" cy="1000000"/>
          </a:xfrm>
          <a:prstGeom prst="roundRect">
            <a:avLst/>
          </a:prstGeom>
          <a:solidFill>
            <a:srgbClr val="C5D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rgbClr val="1F3864"/>
                </a:solidFill>
              </a:rPr>
              <a:t>M</a:t>
            </a:r>
          </a:p>
        </p:txBody>
      </p:sp>
      <p:sp>
        <p:nvSpPr>
          <p:cNvPr id="1029" name="TextBox 1028"/>
          <p:cNvSpPr txBox="1"/>
          <p:nvPr/>
        </p:nvSpPr>
        <p:spPr>
          <a:xfrm>
            <a:off x="5400000" y="1810819"/>
            <a:ext cx="62000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sz="1800" b="1" dirty="0" err="1">
                <a:solidFill>
                  <a:srgbClr val="FFFFFF"/>
                </a:solidFill>
              </a:rPr>
              <a:t>Maicol Ávila</a:t>
            </a:r>
            <a:endParaRPr sz="1800" b="1" dirty="0">
              <a:solidFill>
                <a:srgbClr val="FFFFFF"/>
              </a:solidFill>
            </a:endParaRPr>
          </a:p>
          <a:p>
            <a:r>
              <a:rPr sz="1400" b="0" dirty="0" err="1">
                <a:solidFill>
                  <a:srgbClr val="FFFFFF"/>
                </a:solidFill>
              </a:rPr>
              <a:t>Cargo: Scrum Master, desarrollador</a:t>
            </a:r>
            <a:endParaRPr sz="1400" b="0" dirty="0">
              <a:solidFill>
                <a:srgbClr val="FFFFFF"/>
              </a:solidFill>
            </a:endParaRPr>
          </a:p>
          <a:p>
            <a:r>
              <a:rPr sz="1400" b="0" dirty="0" err="1">
                <a:solidFill>
                  <a:srgbClr val="FFFFFF"/>
                </a:solidFill>
              </a:rPr>
              <a:t>Funciones: documentación, frontend, base de datos, autenticación y despliegue</a:t>
            </a:r>
            <a:endParaRPr sz="1400" b="0" dirty="0">
              <a:solidFill>
                <a:srgbClr val="FFFFFF"/>
              </a:solidFill>
            </a:endParaRPr>
          </a:p>
        </p:txBody>
      </p:sp>
      <p:sp>
        <p:nvSpPr>
          <p:cNvPr id="1030" name="Rounded Rectangle 1029"/>
          <p:cNvSpPr/>
          <p:nvPr/>
        </p:nvSpPr>
        <p:spPr>
          <a:xfrm>
            <a:off x="4121026" y="3210819"/>
            <a:ext cx="7633494" cy="1300000"/>
          </a:xfrm>
          <a:prstGeom prst="round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1" name="Rounded Rectangle 1030"/>
          <p:cNvSpPr/>
          <p:nvPr/>
        </p:nvSpPr>
        <p:spPr>
          <a:xfrm>
            <a:off x="4260000" y="3360819"/>
            <a:ext cx="1000000" cy="1000000"/>
          </a:xfrm>
          <a:prstGeom prst="roundRect">
            <a:avLst/>
          </a:prstGeom>
          <a:solidFill>
            <a:srgbClr val="C5D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rgbClr val="1F3864"/>
                </a:solidFill>
              </a:rPr>
              <a:t>C</a:t>
            </a:r>
          </a:p>
        </p:txBody>
      </p:sp>
      <p:sp>
        <p:nvSpPr>
          <p:cNvPr id="1032" name="TextBox 1031"/>
          <p:cNvSpPr txBox="1"/>
          <p:nvPr/>
        </p:nvSpPr>
        <p:spPr>
          <a:xfrm>
            <a:off x="5400000" y="3310819"/>
            <a:ext cx="6200000" cy="8002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800" b="1" dirty="0">
                <a:solidFill>
                  <a:srgbClr val="FFFFFF"/>
                </a:solidFill>
              </a:rPr>
              <a:t>Carolina Cancino</a:t>
            </a:r>
          </a:p>
          <a:p>
            <a:r>
              <a:rPr sz="1400" b="0" dirty="0" err="1">
                <a:solidFill>
                  <a:srgbClr val="FFFFFF"/>
                </a:solidFill>
              </a:rPr>
              <a:t>Cargo: Product Owner, desarrolladora</a:t>
            </a:r>
            <a:endParaRPr sz="1400" b="0" dirty="0">
              <a:solidFill>
                <a:srgbClr val="FFFFFF"/>
              </a:solidFill>
            </a:endParaRPr>
          </a:p>
          <a:p>
            <a:r>
              <a:rPr sz="1400" b="0" dirty="0" err="1">
                <a:solidFill>
                  <a:srgbClr val="FFFFFF"/>
                </a:solidFill>
              </a:rPr>
              <a:t>Funciones: gestión del equipo y del producto, desarrollo</a:t>
            </a:r>
            <a:endParaRPr sz="1400" b="0" dirty="0">
              <a:solidFill>
                <a:srgbClr val="FFFFFF"/>
              </a:solidFill>
            </a:endParaRPr>
          </a:p>
        </p:txBody>
      </p:sp>
      <p:sp>
        <p:nvSpPr>
          <p:cNvPr id="1033" name="Rounded Rectangle 1032"/>
          <p:cNvSpPr/>
          <p:nvPr/>
        </p:nvSpPr>
        <p:spPr>
          <a:xfrm>
            <a:off x="4121026" y="4710819"/>
            <a:ext cx="7633494" cy="1300000"/>
          </a:xfrm>
          <a:prstGeom prst="round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4" name="Rounded Rectangle 1033"/>
          <p:cNvSpPr/>
          <p:nvPr/>
        </p:nvSpPr>
        <p:spPr>
          <a:xfrm>
            <a:off x="4260000" y="4860819"/>
            <a:ext cx="1000000" cy="1000000"/>
          </a:xfrm>
          <a:prstGeom prst="roundRect">
            <a:avLst/>
          </a:prstGeom>
          <a:solidFill>
            <a:srgbClr val="C5D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rgbClr val="1F3864"/>
                </a:solidFill>
              </a:rPr>
              <a:t>J</a:t>
            </a:r>
          </a:p>
        </p:txBody>
      </p:sp>
      <p:sp>
        <p:nvSpPr>
          <p:cNvPr id="1035" name="TextBox 1034"/>
          <p:cNvSpPr txBox="1"/>
          <p:nvPr/>
        </p:nvSpPr>
        <p:spPr>
          <a:xfrm>
            <a:off x="5400000" y="4810819"/>
            <a:ext cx="62000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 err="1">
                <a:solidFill>
                  <a:srgbClr val="FFFFFF"/>
                </a:solidFill>
              </a:rPr>
              <a:t>Joaquín Torres</a:t>
            </a:r>
            <a:endParaRPr sz="1800" b="1" dirty="0">
              <a:solidFill>
                <a:srgbClr val="FFFFFF"/>
              </a:solidFill>
            </a:endParaRPr>
          </a:p>
          <a:p>
            <a:r>
              <a:rPr sz="1400" b="0" dirty="0" err="1">
                <a:solidFill>
                  <a:srgbClr val="FFFFFF"/>
                </a:solidFill>
              </a:rPr>
              <a:t>Cargo: Desarrollador</a:t>
            </a:r>
            <a:endParaRPr sz="1400" b="0" dirty="0">
              <a:solidFill>
                <a:srgbClr val="FFFFFF"/>
              </a:solidFill>
            </a:endParaRPr>
          </a:p>
          <a:p>
            <a:r>
              <a:rPr sz="1400" b="0" dirty="0" err="1">
                <a:solidFill>
                  <a:srgbClr val="FFFFFF"/>
                </a:solidFill>
              </a:rPr>
              <a:t>Funciones: desarrollo backend, exploración de modelo ML (no integrado)</a:t>
            </a:r>
            <a:endParaRPr sz="1400" b="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681598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PLATAFORMA DE PUBLICACIÓN ASISTIDA POR IA</a:t>
            </a:r>
          </a:p>
          <a:p>
            <a:endParaRPr lang="es-MX" dirty="0">
              <a:solidFill>
                <a:schemeClr val="bg2">
                  <a:lumMod val="50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CONTEXTO Y PROBLEMA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CB288BD-84B1-DF16-6004-32D5F8A61FF7}"/>
              </a:ext>
            </a:extLst>
          </p:cNvPr>
          <p:cNvSpPr/>
          <p:nvPr/>
        </p:nvSpPr>
        <p:spPr>
          <a:xfrm>
            <a:off x="687200" y="2177325"/>
            <a:ext cx="4427360" cy="2699022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t" anchorCtr="0"/>
          <a:lstStyle/>
          <a:p>
            <a:pPr lvl="0" algn="ctr"/>
            <a:r>
              <a:rPr lang="es-MX" sz="2800" u="sng" dirty="0"/>
              <a:t>Problema o dolor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s-MX" sz="1600" dirty="0"/>
              <a:t>CCHIA publica artículos y boletines solo de forma interna, restringida a sus socios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s-MX" sz="1600" dirty="0"/>
              <a:t>La preparación del contenido es manual y no existe un flujo centralizado de revisión y publicación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s-MX" sz="1600" dirty="0"/>
              <a:t>El público general no tiene acceso abierto a ese contenido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DC84C5C-77A0-B2A2-F0BB-8A7713B865EA}"/>
              </a:ext>
            </a:extLst>
          </p:cNvPr>
          <p:cNvSpPr/>
          <p:nvPr/>
        </p:nvSpPr>
        <p:spPr>
          <a:xfrm>
            <a:off x="6912080" y="2177325"/>
            <a:ext cx="4258148" cy="2703372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t" anchorCtr="0"/>
          <a:lstStyle/>
          <a:p>
            <a:pPr lvl="0" algn="ctr"/>
            <a:r>
              <a:rPr lang="es-MX" sz="2800" u="sng" dirty="0"/>
              <a:t>Propuesta de solución</a:t>
            </a:r>
          </a:p>
          <a:p>
            <a:pPr marL="228600" indent="-228600" algn="just">
              <a:spcAft>
                <a:spcPts val="600"/>
              </a:spcAft>
              <a:buChar char="•"/>
            </a:pPr>
            <a:r>
              <a:rPr lang="es-ES" sz="1600" dirty="0">
                <a:solidFill>
                  <a:srgbClr val="000000"/>
                </a:solidFill>
                <a:ea typeface="Calibri"/>
                <a:cs typeface="Calibri"/>
              </a:rPr>
              <a:t>Plataforma web centralizada para publicar los artículos y boletines de CCHIA de forma abierta al público</a:t>
            </a:r>
          </a:p>
          <a:p>
            <a:pPr marL="228600" indent="-228600" algn="just">
              <a:spcAft>
                <a:spcPts val="600"/>
              </a:spcAft>
              <a:buChar char="•"/>
            </a:pPr>
            <a:r>
              <a:rPr lang="es-ES" sz="1600" dirty="0">
                <a:solidFill>
                  <a:srgbClr val="000000"/>
                </a:solidFill>
                <a:ea typeface="Calibri"/>
                <a:cs typeface="Calibri"/>
              </a:rPr>
              <a:t>Redacción asistida por IA proyectada (aún no integrada)</a:t>
            </a:r>
          </a:p>
          <a:p>
            <a:pPr marL="228600" indent="-228600" algn="just">
              <a:spcAft>
                <a:spcPts val="600"/>
              </a:spcAft>
              <a:buChar char="•"/>
            </a:pPr>
            <a:r>
              <a:rPr lang="es-ES" sz="1600" dirty="0">
                <a:solidFill>
                  <a:srgbClr val="000000"/>
                </a:solidFill>
                <a:ea typeface="Calibri"/>
                <a:cs typeface="Calibri"/>
              </a:rPr>
              <a:t>Sitio público con los contenidos publicados y panel interno con roles.</a:t>
            </a:r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E4B09E7F-FBE6-31BF-0C0F-DD32DBE05724}"/>
              </a:ext>
            </a:extLst>
          </p:cNvPr>
          <p:cNvSpPr/>
          <p:nvPr/>
        </p:nvSpPr>
        <p:spPr>
          <a:xfrm>
            <a:off x="5456903" y="3736258"/>
            <a:ext cx="1140542" cy="7570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5229435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PLATAFORMA DE PUBLICACIÓN ASISTIDA POR IA</a:t>
            </a:r>
          </a:p>
          <a:p>
            <a:endParaRPr lang="es-MX" dirty="0">
              <a:solidFill>
                <a:schemeClr val="bg2">
                  <a:lumMod val="50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 General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733B57D9-BF13-9372-D021-14655CF00C4C}"/>
              </a:ext>
            </a:extLst>
          </p:cNvPr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Objetivos Específicos</a:t>
            </a:r>
            <a:endParaRPr lang="es-CL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08D4A171-2FE3-5173-34E6-9DC3D74E7376}"/>
              </a:ext>
            </a:extLst>
          </p:cNvPr>
          <p:cNvSpPr/>
          <p:nvPr/>
        </p:nvSpPr>
        <p:spPr>
          <a:xfrm>
            <a:off x="614515" y="2242977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>
              <a:spcAft>
                <a:spcPts val="600"/>
              </a:spcAft>
            </a:pPr>
            <a:r>
              <a:rPr lang="es-MX" sz="1600" b="0" dirty="0">
                <a:solidFill>
                  <a:srgbClr val="000000"/>
                </a:solidFill>
              </a:rPr>
              <a:t>Desarrollar una plataforma web de publicación asistida por IA que permita a la empresa CCHIA recopilar, generar, gestionar y publicar contenido para el público general, con revisión y aprobación humana previa.</a:t>
            </a:r>
            <a:endParaRPr lang="es-CL" sz="1600" dirty="0">
              <a:ea typeface="Calibri"/>
              <a:cs typeface="Calibri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E63425F-86F4-531E-E0F5-7A349604A51E}"/>
              </a:ext>
            </a:extLst>
          </p:cNvPr>
          <p:cNvSpPr/>
          <p:nvPr/>
        </p:nvSpPr>
        <p:spPr>
          <a:xfrm>
            <a:off x="614515" y="4728777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marL="228600" indent="-228600">
              <a:spcAft>
                <a:spcPts val="200"/>
              </a:spcAft>
              <a:buAutoNum type="arabicPeriod"/>
            </a:pPr>
            <a:r>
              <a:rPr lang="es-ES" sz="1600" dirty="0">
                <a:solidFill>
                  <a:srgbClr val="000000"/>
                </a:solidFill>
              </a:rPr>
              <a:t>Recopilar y organizar información para generar contenido </a:t>
            </a:r>
          </a:p>
          <a:p>
            <a:pPr marL="228600" indent="-228600">
              <a:spcAft>
                <a:spcPts val="200"/>
              </a:spcAft>
              <a:buAutoNum type="arabicPeriod"/>
            </a:pPr>
            <a:r>
              <a:rPr lang="es-ES" sz="1600" dirty="0">
                <a:solidFill>
                  <a:srgbClr val="000000"/>
                </a:solidFill>
              </a:rPr>
              <a:t>Usar IA como apoyo a la redacción.</a:t>
            </a:r>
          </a:p>
          <a:p>
            <a:pPr marL="228600" indent="-228600">
              <a:spcAft>
                <a:spcPts val="200"/>
              </a:spcAft>
              <a:buAutoNum type="arabicPeriod"/>
            </a:pPr>
            <a:r>
              <a:rPr lang="es-ES" sz="1600" dirty="0">
                <a:solidFill>
                  <a:srgbClr val="000000"/>
                </a:solidFill>
              </a:rPr>
              <a:t>Implementar revisión y aprobación humana antes de publicar</a:t>
            </a:r>
          </a:p>
          <a:p>
            <a:pPr marL="228600" indent="-228600">
              <a:spcAft>
                <a:spcPts val="200"/>
              </a:spcAft>
              <a:buAutoNum type="arabicPeriod"/>
            </a:pPr>
            <a:r>
              <a:rPr lang="es-ES" sz="1600" dirty="0">
                <a:solidFill>
                  <a:srgbClr val="000000"/>
                </a:solidFill>
              </a:rPr>
              <a:t>Establecer roles para cada tipo de usuario </a:t>
            </a:r>
          </a:p>
        </p:txBody>
      </p:sp>
    </p:spTree>
    <p:extLst>
      <p:ext uri="{BB962C8B-B14F-4D97-AF65-F5344CB8AC3E}">
        <p14:creationId xmlns:p14="http://schemas.microsoft.com/office/powerpoint/2010/main" val="27176697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“APT”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-116000" y="142328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Metodología de trabajo – Pasos a seguir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7" name="Rounded Rectangle 1026"/>
          <p:cNvSpPr/>
          <p:nvPr/>
        </p:nvSpPr>
        <p:spPr>
          <a:xfrm>
            <a:off x="450000" y="2500000"/>
            <a:ext cx="2100000" cy="250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100000" rIns="150000" bIns="45720" rtlCol="0" anchor="t"/>
          <a:lstStyle/>
          <a:p>
            <a:pPr algn="l">
              <a:spcAft>
                <a:spcPts val="600"/>
              </a:spcAft>
            </a:pPr>
            <a:r>
              <a:rPr sz="1500" b="1" dirty="0">
                <a:solidFill>
                  <a:srgbClr val="000000"/>
                </a:solidFill>
              </a:rPr>
              <a:t>1. Requisitos</a:t>
            </a:r>
          </a:p>
          <a:p>
            <a:pPr>
              <a:spcAft>
                <a:spcPts val="400"/>
              </a:spcAft>
            </a:pPr>
            <a:r>
              <a:rPr lang="es-ES" sz="1400" dirty="0">
                <a:solidFill>
                  <a:srgbClr val="000000"/>
                </a:solidFill>
              </a:rPr>
              <a:t>Levantamiento desde el kickoff y la investigación del cliente; CCHIA nunca se conectó a las reuniones.</a:t>
            </a:r>
            <a:endParaRPr sz="1400" dirty="0"/>
          </a:p>
        </p:txBody>
      </p:sp>
      <p:sp>
        <p:nvSpPr>
          <p:cNvPr id="1028" name="Rounded Rectangle 1027"/>
          <p:cNvSpPr/>
          <p:nvPr/>
        </p:nvSpPr>
        <p:spPr>
          <a:xfrm>
            <a:off x="2701906" y="2500000"/>
            <a:ext cx="2100000" cy="250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100000" rIns="150000" bIns="45720" rtlCol="0" anchor="t"/>
          <a:lstStyle/>
          <a:p>
            <a:pPr algn="l">
              <a:spcAft>
                <a:spcPts val="600"/>
              </a:spcAft>
            </a:pPr>
            <a:r>
              <a:rPr sz="1500" b="1" dirty="0">
                <a:solidFill>
                  <a:srgbClr val="000000"/>
                </a:solidFill>
              </a:rPr>
              <a:t>2. Planificar</a:t>
            </a:r>
            <a:endParaRPr lang="es-ES" sz="1500" b="1" dirty="0" err="1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spcAft>
                <a:spcPts val="400"/>
              </a:spcAft>
            </a:pPr>
            <a:r>
              <a:rPr lang="es-ES" sz="1400" dirty="0">
                <a:solidFill>
                  <a:srgbClr val="000000"/>
                </a:solidFill>
              </a:rPr>
              <a:t>Backlog y sprints de 2 semanas (Scrum) con Scrum Master y Product Owner.</a:t>
            </a:r>
            <a:endParaRPr sz="1400" dirty="0"/>
          </a:p>
        </p:txBody>
      </p:sp>
      <p:sp>
        <p:nvSpPr>
          <p:cNvPr id="1029" name="Rounded Rectangle 1028"/>
          <p:cNvSpPr/>
          <p:nvPr/>
        </p:nvSpPr>
        <p:spPr>
          <a:xfrm>
            <a:off x="4930000" y="2500000"/>
            <a:ext cx="2100000" cy="250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100000" rIns="150000" bIns="45720" rtlCol="0" anchor="t"/>
          <a:lstStyle/>
          <a:p>
            <a:pPr algn="l">
              <a:spcAft>
                <a:spcPts val="600"/>
              </a:spcAft>
            </a:pPr>
            <a:r>
              <a:rPr sz="1500" b="1" dirty="0">
                <a:solidFill>
                  <a:srgbClr val="000000"/>
                </a:solidFill>
              </a:rPr>
              <a:t>3. Seguimiento</a:t>
            </a:r>
            <a:endParaRPr lang="es-ES" sz="1500" b="1" dirty="0" err="1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spcAft>
                <a:spcPts val="400"/>
              </a:spcAft>
            </a:pPr>
            <a:r>
              <a:rPr lang="es-ES" sz="1400" dirty="0">
                <a:solidFill>
                  <a:srgbClr val="000000"/>
                </a:solidFill>
              </a:rPr>
              <a:t>Tablero en Jira (Kanban): por hacer, en curso, en revisión y hecho.</a:t>
            </a:r>
            <a:endParaRPr sz="1400" dirty="0"/>
          </a:p>
        </p:txBody>
      </p:sp>
      <p:sp>
        <p:nvSpPr>
          <p:cNvPr id="1030" name="Rounded Rectangle 1029"/>
          <p:cNvSpPr/>
          <p:nvPr/>
        </p:nvSpPr>
        <p:spPr>
          <a:xfrm>
            <a:off x="7170000" y="2500000"/>
            <a:ext cx="2100000" cy="250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100000" rIns="150000" rtlCol="0" anchor="t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</a:rPr>
              <a:t>4. Desarrollar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000000"/>
                </a:solidFill>
              </a:rPr>
              <a:t>Repositorio en GitHub y despliegue en Railway (entorno QA).</a:t>
            </a:r>
          </a:p>
        </p:txBody>
      </p:sp>
      <p:sp>
        <p:nvSpPr>
          <p:cNvPr id="1031" name="Rounded Rectangle 1030"/>
          <p:cNvSpPr/>
          <p:nvPr/>
        </p:nvSpPr>
        <p:spPr>
          <a:xfrm>
            <a:off x="9410000" y="2500000"/>
            <a:ext cx="2100000" cy="250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100000" rIns="150000" rtlCol="0" anchor="t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</a:rPr>
              <a:t>5. Validar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000000"/>
                </a:solidFill>
              </a:rPr>
              <a:t>Pruebas del equipo sobre el entorno QA; la revisión con el cliente no se ha podido realizar.</a:t>
            </a:r>
          </a:p>
        </p:txBody>
      </p:sp>
      <p:sp>
        <p:nvSpPr>
          <p:cNvPr id="1032" name="TextBox 1031"/>
          <p:cNvSpPr txBox="1"/>
          <p:nvPr/>
        </p:nvSpPr>
        <p:spPr>
          <a:xfrm>
            <a:off x="450000" y="5300000"/>
            <a:ext cx="11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95959"/>
                </a:solidFill>
              </a:rPr>
              <a:t>Scrum aporta roles, sprints y revisiones; Kanban (Jira) permite visualizar el flujo de trabajo y el avance de cada tarea.</a:t>
            </a:r>
          </a:p>
        </p:txBody>
      </p:sp>
    </p:spTree>
    <p:extLst>
      <p:ext uri="{BB962C8B-B14F-4D97-AF65-F5344CB8AC3E}">
        <p14:creationId xmlns:p14="http://schemas.microsoft.com/office/powerpoint/2010/main" val="3964199749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“APT”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Seguimiento del trabajo en Jira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2152" y="207550"/>
            <a:ext cx="3141406" cy="785352"/>
          </a:xfrm>
          <a:prstGeom prst="rect">
            <a:avLst/>
          </a:prstGeom>
        </p:spPr>
      </p:pic>
      <p:pic>
        <p:nvPicPr>
          <p:cNvPr id="11" name="Picture 10" descr="Captura de pantalla 2026-10-12 18495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94560"/>
            <a:ext cx="5552376" cy="35661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66775" y="2194560"/>
            <a:ext cx="5176280" cy="1461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dirty="0"/>
              <a:t>• </a:t>
            </a:r>
            <a:r>
              <a:rPr sz="1600" dirty="0" err="1"/>
              <a:t>Tablero</a:t>
            </a:r>
            <a:r>
              <a:rPr sz="1600" dirty="0"/>
              <a:t> </a:t>
            </a:r>
            <a:r>
              <a:rPr sz="1600" dirty="0" err="1"/>
              <a:t>cchia-tablero-qa</a:t>
            </a:r>
            <a:r>
              <a:rPr sz="1600" dirty="0"/>
              <a:t> </a:t>
            </a:r>
            <a:r>
              <a:rPr sz="1600" dirty="0" err="1"/>
              <a:t>en</a:t>
            </a:r>
            <a:r>
              <a:rPr sz="1600" dirty="0"/>
              <a:t> Jira (Kanban).</a:t>
            </a:r>
          </a:p>
          <a:p>
            <a:pPr>
              <a:spcAft>
                <a:spcPts val="1000"/>
              </a:spcAft>
            </a:pPr>
            <a:r>
              <a:rPr sz="1600" dirty="0"/>
              <a:t>• </a:t>
            </a:r>
            <a:r>
              <a:rPr sz="1600" dirty="0" err="1"/>
              <a:t>Columnas</a:t>
            </a:r>
            <a:r>
              <a:rPr sz="1600" dirty="0"/>
              <a:t>: To Do, In Progress, In Review y Done.</a:t>
            </a:r>
          </a:p>
          <a:p>
            <a:pPr>
              <a:spcAft>
                <a:spcPts val="1000"/>
              </a:spcAft>
            </a:pPr>
            <a:r>
              <a:rPr sz="1600" dirty="0"/>
              <a:t>• 21 </a:t>
            </a:r>
            <a:r>
              <a:rPr sz="1600" dirty="0" err="1"/>
              <a:t>tareas</a:t>
            </a:r>
            <a:r>
              <a:rPr sz="1600" dirty="0"/>
              <a:t> del backlog, con sprints de 2 </a:t>
            </a:r>
            <a:r>
              <a:rPr sz="1600" dirty="0" err="1"/>
              <a:t>semanas</a:t>
            </a:r>
            <a:r>
              <a:rPr lang="es-CL" sz="1600" dirty="0"/>
              <a:t> o mas</a:t>
            </a:r>
            <a:r>
              <a:rPr sz="1600" dirty="0"/>
              <a:t>.</a:t>
            </a:r>
          </a:p>
          <a:p>
            <a:pPr>
              <a:spcAft>
                <a:spcPts val="1000"/>
              </a:spcAft>
            </a:pPr>
            <a:r>
              <a:rPr sz="1600" dirty="0"/>
              <a:t>• </a:t>
            </a:r>
            <a:r>
              <a:rPr sz="1600" dirty="0" err="1"/>
              <a:t>Cada</a:t>
            </a:r>
            <a:r>
              <a:rPr sz="1600" dirty="0"/>
              <a:t> </a:t>
            </a:r>
            <a:r>
              <a:rPr sz="1600" dirty="0" err="1"/>
              <a:t>tarea</a:t>
            </a:r>
            <a:r>
              <a:rPr sz="1600" dirty="0"/>
              <a:t> </a:t>
            </a:r>
            <a:r>
              <a:rPr sz="1600" dirty="0" err="1"/>
              <a:t>tiene</a:t>
            </a:r>
            <a:r>
              <a:rPr sz="1600" dirty="0"/>
              <a:t> </a:t>
            </a:r>
            <a:r>
              <a:rPr sz="1600" dirty="0" err="1"/>
              <a:t>estado</a:t>
            </a:r>
            <a:r>
              <a:rPr sz="1600" dirty="0"/>
              <a:t> visible para </a:t>
            </a:r>
            <a:r>
              <a:rPr sz="1600" dirty="0" err="1"/>
              <a:t>el</a:t>
            </a:r>
            <a:r>
              <a:rPr sz="1600" dirty="0"/>
              <a:t> </a:t>
            </a:r>
            <a:r>
              <a:rPr sz="1600" dirty="0" err="1"/>
              <a:t>equipo</a:t>
            </a:r>
            <a:r>
              <a:rPr sz="1600" dirty="0"/>
              <a:t>.</a:t>
            </a:r>
          </a:p>
        </p:txBody>
      </p:sp>
      <p:pic>
        <p:nvPicPr>
          <p:cNvPr id="13" name="Picture 12" descr="Jira_backlog_cchia-tablero-q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6775" y="3750000"/>
            <a:ext cx="5176280" cy="28696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“APT”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1" y="1155656"/>
            <a:ext cx="1219199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Cronograma para el desarrollo del proyecto</a:t>
            </a:r>
          </a:p>
          <a:p>
            <a:pPr algn="ctr"/>
            <a:r>
              <a:rPr lang="es-MX" sz="1600" dirty="0">
                <a:solidFill>
                  <a:schemeClr val="bg2">
                    <a:lumMod val="50000"/>
                  </a:schemeClr>
                </a:solidFill>
              </a:rPr>
              <a:t>Planificación de 18 semanas (10 ago – 13 dic 2026) y avance a la semana 10 (12 oct)</a:t>
            </a:r>
            <a:endParaRPr lang="es-CL" sz="10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27" name="Table 10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989579"/>
              </p:ext>
            </p:extLst>
          </p:nvPr>
        </p:nvGraphicFramePr>
        <p:xfrm>
          <a:off x="880000" y="2200000"/>
          <a:ext cx="10120000" cy="319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4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4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4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4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4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4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4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4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4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400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400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4000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165000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355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</a:rPr>
                        <a:t>Actividad</a:t>
                      </a:r>
                    </a:p>
                  </a:txBody>
                  <a:tcPr marL="50000" marR="50000" marT="15000" marB="15000" anchor="ctr">
                    <a:solidFill>
                      <a:srgbClr val="D9E2F3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</a:rPr>
                        <a:t>Fase 1</a:t>
                      </a:r>
                    </a:p>
                  </a:txBody>
                  <a:tcPr marL="50000" marR="50000" marT="15000" marB="15000" anchor="ctr">
                    <a:solidFill>
                      <a:srgbClr val="C6E0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</a:rPr>
                        <a:t>Fase 2</a:t>
                      </a:r>
                    </a:p>
                  </a:txBody>
                  <a:tcPr marL="50000" marR="50000" marT="15000" marB="15000" anchor="ctr">
                    <a:solidFill>
                      <a:srgbClr val="FFE6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</a:rPr>
                        <a:t>Fase 3</a:t>
                      </a:r>
                    </a:p>
                  </a:txBody>
                  <a:tcPr marL="50000" marR="50000" marT="15000" marB="15000" anchor="ctr">
                    <a:solidFill>
                      <a:srgbClr val="F4B18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</a:rPr>
                        <a:t>Estado a hoy (S10)</a:t>
                      </a:r>
                    </a:p>
                  </a:txBody>
                  <a:tcPr marL="50000" marR="50000" marT="15000" marB="15000" anchor="ctr"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00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</a:rPr>
                        <a:t>S1</a:t>
                      </a:r>
                    </a:p>
                  </a:txBody>
                  <a:tcPr marL="50000" marR="50000" marT="15000" marB="150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</a:rPr>
                        <a:t>S2</a:t>
                      </a:r>
                    </a:p>
                  </a:txBody>
                  <a:tcPr marL="50000" marR="50000" marT="15000" marB="150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</a:rPr>
                        <a:t>S3</a:t>
                      </a:r>
                    </a:p>
                  </a:txBody>
                  <a:tcPr marL="50000" marR="50000" marT="15000" marB="150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</a:rPr>
                        <a:t>S4</a:t>
                      </a:r>
                    </a:p>
                  </a:txBody>
                  <a:tcPr marL="50000" marR="50000" marT="15000" marB="150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</a:rPr>
                        <a:t>S5</a:t>
                      </a:r>
                    </a:p>
                  </a:txBody>
                  <a:tcPr marL="50000" marR="50000" marT="15000" marB="150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</a:rPr>
                        <a:t>S6</a:t>
                      </a:r>
                    </a:p>
                  </a:txBody>
                  <a:tcPr marL="50000" marR="50000" marT="15000" marB="150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</a:rPr>
                        <a:t>S7</a:t>
                      </a:r>
                    </a:p>
                  </a:txBody>
                  <a:tcPr marL="50000" marR="50000" marT="15000" marB="150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</a:rPr>
                        <a:t>S8</a:t>
                      </a:r>
                    </a:p>
                  </a:txBody>
                  <a:tcPr marL="50000" marR="50000" marT="15000" marB="150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</a:rPr>
                        <a:t>S9</a:t>
                      </a:r>
                    </a:p>
                  </a:txBody>
                  <a:tcPr marL="50000" marR="50000" marT="15000" marB="150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</a:rPr>
                        <a:t>S10</a:t>
                      </a:r>
                    </a:p>
                  </a:txBody>
                  <a:tcPr marL="50000" marR="50000" marT="15000" marB="15000"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</a:rPr>
                        <a:t>S11</a:t>
                      </a:r>
                    </a:p>
                  </a:txBody>
                  <a:tcPr marL="50000" marR="50000" marT="15000" marB="150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</a:rPr>
                        <a:t>S12</a:t>
                      </a:r>
                    </a:p>
                  </a:txBody>
                  <a:tcPr marL="50000" marR="50000" marT="15000" marB="150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</a:rPr>
                        <a:t>S13</a:t>
                      </a:r>
                    </a:p>
                  </a:txBody>
                  <a:tcPr marL="50000" marR="50000" marT="15000" marB="150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</a:rPr>
                        <a:t>S14</a:t>
                      </a:r>
                    </a:p>
                  </a:txBody>
                  <a:tcPr marL="50000" marR="50000" marT="15000" marB="150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</a:rPr>
                        <a:t>S15</a:t>
                      </a:r>
                    </a:p>
                  </a:txBody>
                  <a:tcPr marL="50000" marR="50000" marT="15000" marB="150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</a:rPr>
                        <a:t>S16</a:t>
                      </a:r>
                    </a:p>
                  </a:txBody>
                  <a:tcPr marL="50000" marR="50000" marT="15000" marB="150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</a:rPr>
                        <a:t>S17</a:t>
                      </a:r>
                    </a:p>
                  </a:txBody>
                  <a:tcPr marL="50000" marR="50000" marT="15000" marB="150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</a:rPr>
                        <a:t>S18</a:t>
                      </a:r>
                    </a:p>
                  </a:txBody>
                  <a:tcPr marL="50000" marR="50000" marT="15000" marB="150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Levantamiento de requisitos</a:t>
                      </a:r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Parcial (sin cliente)</a:t>
                      </a:r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Arquitectura y modelo de datos</a:t>
                      </a:r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Completado</a:t>
                      </a:r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Backend y flujo de aprobación</a:t>
                      </a:r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En curso (parcial)</a:t>
                      </a:r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Integración de IA</a:t>
                      </a:r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b="0" dirty="0">
                          <a:solidFill>
                            <a:srgbClr val="000000"/>
                          </a:solidFill>
                        </a:rPr>
                        <a:t>pendiente</a:t>
                      </a:r>
                      <a:endParaRPr sz="1000" b="0" dirty="0">
                        <a:solidFill>
                          <a:srgbClr val="000000"/>
                        </a:solidFill>
                      </a:endParaRPr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Frontend y publicación</a:t>
                      </a:r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En curso (parcial)</a:t>
                      </a:r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5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Pruebas</a:t>
                      </a:r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Por iniciar (QA)</a:t>
                      </a:r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5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Validación y entrega</a:t>
                      </a:r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15000" marB="15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Por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</a:rPr>
                        <a:t>iniciar</a:t>
                      </a:r>
                      <a:endParaRPr sz="1000" b="0" dirty="0">
                        <a:solidFill>
                          <a:srgbClr val="000000"/>
                        </a:solidFill>
                      </a:endParaRPr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28" name="TextBox 1027"/>
          <p:cNvSpPr txBox="1"/>
          <p:nvPr/>
        </p:nvSpPr>
        <p:spPr>
          <a:xfrm>
            <a:off x="880000" y="5500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72C4"/>
                </a:solidFill>
              </a:rPr>
              <a:t>■ Planificado   ·   S10 = semana actual (12 oct); estado a hoy en la columna derecha. Integración de IA queda fuera del alcance actual.</a:t>
            </a:r>
          </a:p>
        </p:txBody>
      </p:sp>
    </p:spTree>
    <p:extLst>
      <p:ext uri="{BB962C8B-B14F-4D97-AF65-F5344CB8AC3E}">
        <p14:creationId xmlns:p14="http://schemas.microsoft.com/office/powerpoint/2010/main" val="3324313383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“APT”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Arquitectura del software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7" name="Rounded Rectangle 1026"/>
          <p:cNvSpPr/>
          <p:nvPr/>
        </p:nvSpPr>
        <p:spPr>
          <a:xfrm>
            <a:off x="400000" y="2400000"/>
            <a:ext cx="1900000" cy="1000000"/>
          </a:xfrm>
          <a:prstGeom prst="roundRect">
            <a:avLst/>
          </a:prstGeom>
          <a:solidFill>
            <a:srgbClr val="1F3864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100000" rIns="150000"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Usuarios internos</a:t>
            </a:r>
          </a:p>
          <a:p>
            <a:pPr algn="ctr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Administrador, Revisor, Autor</a:t>
            </a:r>
          </a:p>
        </p:txBody>
      </p:sp>
      <p:sp>
        <p:nvSpPr>
          <p:cNvPr id="1028" name="Rounded Rectangle 1027"/>
          <p:cNvSpPr/>
          <p:nvPr/>
        </p:nvSpPr>
        <p:spPr>
          <a:xfrm>
            <a:off x="400000" y="3700000"/>
            <a:ext cx="1900000" cy="1000000"/>
          </a:xfrm>
          <a:prstGeom prst="roundRect">
            <a:avLst/>
          </a:prstGeom>
          <a:solidFill>
            <a:srgbClr val="1F3864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100000" rIns="150000"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Público general</a:t>
            </a:r>
          </a:p>
          <a:p>
            <a:pPr algn="ctr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Lee lo publicado, sin iniciar sesión</a:t>
            </a:r>
          </a:p>
        </p:txBody>
      </p:sp>
      <p:sp>
        <p:nvSpPr>
          <p:cNvPr id="1029" name="Rectangle 1028"/>
          <p:cNvSpPr/>
          <p:nvPr/>
        </p:nvSpPr>
        <p:spPr>
          <a:xfrm>
            <a:off x="2900000" y="2300000"/>
            <a:ext cx="4700000" cy="260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F7964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100000" rIns="150000" rtlCol="0" anchor="t"/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95959"/>
                </a:solidFill>
              </a:rPr>
              <a:t>Aplicación web APT (Next.js · un solo despliegue)</a:t>
            </a:r>
          </a:p>
        </p:txBody>
      </p:sp>
      <p:sp>
        <p:nvSpPr>
          <p:cNvPr id="1030" name="Rounded Rectangle 1029"/>
          <p:cNvSpPr/>
          <p:nvPr/>
        </p:nvSpPr>
        <p:spPr>
          <a:xfrm>
            <a:off x="3050000" y="3000000"/>
            <a:ext cx="1800000" cy="1200000"/>
          </a:xfrm>
          <a:prstGeom prst="roundRect">
            <a:avLst/>
          </a:prstGeom>
          <a:solidFill>
            <a:srgbClr val="4472C4"/>
          </a:solidFill>
          <a:ln w="1587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100000" rIns="150000" rtlCol="0" anchor="ctr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</a:rPr>
              <a:t>Frontend</a:t>
            </a:r>
          </a:p>
          <a:p>
            <a:pPr algn="ctr">
              <a:spcAft>
                <a:spcPts val="400"/>
              </a:spcAft>
            </a:pPr>
            <a:r>
              <a:rPr sz="1000">
                <a:solidFill>
                  <a:srgbClr val="FFFFFF"/>
                </a:solidFill>
              </a:rPr>
              <a:t>React · Server Components</a:t>
            </a:r>
          </a:p>
        </p:txBody>
      </p:sp>
      <p:sp>
        <p:nvSpPr>
          <p:cNvPr id="1031" name="Rounded Rectangle 1030"/>
          <p:cNvSpPr/>
          <p:nvPr/>
        </p:nvSpPr>
        <p:spPr>
          <a:xfrm>
            <a:off x="5350000" y="3000000"/>
            <a:ext cx="1800000" cy="1200000"/>
          </a:xfrm>
          <a:prstGeom prst="roundRect">
            <a:avLst/>
          </a:prstGeom>
          <a:solidFill>
            <a:srgbClr val="4472C4"/>
          </a:solidFill>
          <a:ln w="1587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100000" rIns="150000" rtlCol="0" anchor="ctr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</a:rPr>
              <a:t>Backend</a:t>
            </a:r>
          </a:p>
          <a:p>
            <a:pPr algn="ctr">
              <a:spcAft>
                <a:spcPts val="400"/>
              </a:spcAft>
            </a:pPr>
            <a:r>
              <a:rPr sz="1000">
                <a:solidFill>
                  <a:srgbClr val="FFFFFF"/>
                </a:solidFill>
              </a:rPr>
              <a:t>Server Actions · JWT · roles</a:t>
            </a:r>
          </a:p>
        </p:txBody>
      </p:sp>
      <p:sp>
        <p:nvSpPr>
          <p:cNvPr id="1032" name="Rounded Rectangle 1031"/>
          <p:cNvSpPr/>
          <p:nvPr/>
        </p:nvSpPr>
        <p:spPr>
          <a:xfrm>
            <a:off x="8300000" y="2400000"/>
            <a:ext cx="3400000" cy="1000000"/>
          </a:xfrm>
          <a:prstGeom prst="roundRect">
            <a:avLst/>
          </a:prstGeom>
          <a:solidFill>
            <a:srgbClr val="FFE699"/>
          </a:solidFill>
          <a:ln w="15875">
            <a:solidFill>
              <a:srgbClr val="F79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100000" rIns="150000" rtlCol="0" anchor="ctr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</a:rPr>
              <a:t>Base de datos</a:t>
            </a:r>
          </a:p>
          <a:p>
            <a:pPr algn="ctr"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</a:rPr>
              <a:t>PostgreSQL (Railway) · Drizzle ORM</a:t>
            </a:r>
          </a:p>
        </p:txBody>
      </p:sp>
      <p:sp>
        <p:nvSpPr>
          <p:cNvPr id="1033" name="Rounded Rectangle 1032"/>
          <p:cNvSpPr/>
          <p:nvPr/>
        </p:nvSpPr>
        <p:spPr>
          <a:xfrm>
            <a:off x="8300000" y="3700000"/>
            <a:ext cx="3400000" cy="100000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100000" rIns="150000" rtlCol="0" anchor="ctr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595959"/>
                </a:solidFill>
              </a:rPr>
              <a:t>Servicio de IA</a:t>
            </a:r>
          </a:p>
          <a:p>
            <a:pPr algn="ctr">
              <a:spcAft>
                <a:spcPts val="400"/>
              </a:spcAft>
            </a:pPr>
            <a:r>
              <a:rPr sz="1100">
                <a:solidFill>
                  <a:srgbClr val="595959"/>
                </a:solidFill>
              </a:rPr>
              <a:t>Proyectado · no integrado aún</a:t>
            </a:r>
          </a:p>
        </p:txBody>
      </p:sp>
      <p:sp>
        <p:nvSpPr>
          <p:cNvPr id="1034" name="Right Arrow 1033"/>
          <p:cNvSpPr/>
          <p:nvPr/>
        </p:nvSpPr>
        <p:spPr>
          <a:xfrm>
            <a:off x="2350000" y="2750000"/>
            <a:ext cx="450000" cy="300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5" name="Right Arrow 1034"/>
          <p:cNvSpPr/>
          <p:nvPr/>
        </p:nvSpPr>
        <p:spPr>
          <a:xfrm>
            <a:off x="2350000" y="4050000"/>
            <a:ext cx="450000" cy="300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6" name="Right Arrow 1035"/>
          <p:cNvSpPr/>
          <p:nvPr/>
        </p:nvSpPr>
        <p:spPr>
          <a:xfrm>
            <a:off x="4900000" y="3450000"/>
            <a:ext cx="400000" cy="300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7" name="Right Arrow 1036"/>
          <p:cNvSpPr/>
          <p:nvPr/>
        </p:nvSpPr>
        <p:spPr>
          <a:xfrm>
            <a:off x="7650000" y="2750000"/>
            <a:ext cx="450000" cy="300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8" name="Right Arrow 1037"/>
          <p:cNvSpPr/>
          <p:nvPr/>
        </p:nvSpPr>
        <p:spPr>
          <a:xfrm>
            <a:off x="7650000" y="4050000"/>
            <a:ext cx="450000" cy="300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9" name="Rounded Rectangle 1038"/>
          <p:cNvSpPr/>
          <p:nvPr/>
        </p:nvSpPr>
        <p:spPr>
          <a:xfrm>
            <a:off x="400000" y="5100000"/>
            <a:ext cx="11300000" cy="1200000"/>
          </a:xfrm>
          <a:prstGeom prst="roundRect">
            <a:avLst/>
          </a:prstGeom>
          <a:solidFill>
            <a:srgbClr val="FFF2CC"/>
          </a:solidFill>
          <a:ln w="15875">
            <a:solidFill>
              <a:srgbClr val="F79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100000" rIns="150000" rtlCol="0" anchor="t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00000"/>
                </a:solidFill>
              </a:rPr>
              <a:t>Decisión: monolito modular. El navegador nunca habla con la base de datos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</a:rPr>
              <a:t>Next.js hace de backend: valida sesión y rol y consulta PostgreSQL. Ventaja: simplicidad y menos superficie de ataque. Límite: si aparecen otros clientes o la IA, se separa una API.</a:t>
            </a:r>
          </a:p>
        </p:txBody>
      </p:sp>
    </p:spTree>
    <p:extLst>
      <p:ext uri="{BB962C8B-B14F-4D97-AF65-F5344CB8AC3E}">
        <p14:creationId xmlns:p14="http://schemas.microsoft.com/office/powerpoint/2010/main" val="1890491460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“APT”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Modelo de datos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27" name="Table 1026"/>
          <p:cNvGraphicFramePr>
            <a:graphicFrameLocks noGrp="1"/>
          </p:cNvGraphicFramePr>
          <p:nvPr/>
        </p:nvGraphicFramePr>
        <p:xfrm>
          <a:off x="400000" y="2050000"/>
          <a:ext cx="2450000" cy="7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ENUM categoria</a:t>
                      </a:r>
                    </a:p>
                  </a:txBody>
                  <a:tcPr marL="50000" marR="50000" marT="15000" marB="15000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Artículo</a:t>
                      </a:r>
                    </a:p>
                  </a:txBody>
                  <a:tcPr marL="50000" marR="50000" marT="15000" marB="15000" anchor="ctr"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1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Boletín</a:t>
                      </a:r>
                    </a:p>
                  </a:txBody>
                  <a:tcPr marL="50000" marR="50000" marT="15000" marB="15000" anchor="ctr"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2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Noticia institucional</a:t>
                      </a:r>
                    </a:p>
                  </a:txBody>
                  <a:tcPr marL="50000" marR="50000" marT="15000" marB="15000" anchor="ctr"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3"/>
                  </a:ext>
                </a:extLst>
              </a:tr>
            </a:tbl>
          </a:graphicData>
        </a:graphic>
      </p:graphicFrame>
      <p:graphicFrame>
        <p:nvGraphicFramePr>
          <p:cNvPr id="1028" name="Table 1027"/>
          <p:cNvGraphicFramePr>
            <a:graphicFrameLocks noGrp="1"/>
          </p:cNvGraphicFramePr>
          <p:nvPr/>
        </p:nvGraphicFramePr>
        <p:xfrm>
          <a:off x="3320000" y="2050000"/>
          <a:ext cx="2450000" cy="209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ARTICULO</a:t>
                      </a:r>
                    </a:p>
                  </a:txBody>
                  <a:tcPr marL="50000" marR="50000" marT="15000" marB="15000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</a:rPr>
                        <a:t>PK id_articulo</a:t>
                      </a:r>
                    </a:p>
                  </a:txBody>
                  <a:tcPr marL="50000" marR="50000" marT="15000" marB="15000" anchor="ctr"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1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slug (único)</a:t>
                      </a:r>
                    </a:p>
                  </a:txBody>
                  <a:tcPr marL="50000" marR="50000" marT="15000" marB="15000" anchor="ctr"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2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titulo</a:t>
                      </a:r>
                    </a:p>
                  </a:txBody>
                  <a:tcPr marL="50000" marR="50000" marT="15000" marB="15000" anchor="ctr"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3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categoria (enum)</a:t>
                      </a:r>
                    </a:p>
                  </a:txBody>
                  <a:tcPr marL="50000" marR="50000" marT="15000" marB="15000" anchor="ctr"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4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resumen</a:t>
                      </a:r>
                    </a:p>
                  </a:txBody>
                  <a:tcPr marL="50000" marR="50000" marT="15000" marB="15000" anchor="ctr"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5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contenido</a:t>
                      </a:r>
                    </a:p>
                  </a:txBody>
                  <a:tcPr marL="50000" marR="50000" marT="15000" marB="15000" anchor="ctr"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6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estado (enum)</a:t>
                      </a:r>
                    </a:p>
                  </a:txBody>
                  <a:tcPr marL="50000" marR="50000" marT="15000" marB="15000" anchor="ctr"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7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creado_en · actualizado_en</a:t>
                      </a:r>
                    </a:p>
                  </a:txBody>
                  <a:tcPr marL="50000" marR="50000" marT="15000" marB="15000" anchor="ctr"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8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publicado_en</a:t>
                      </a:r>
                    </a:p>
                  </a:txBody>
                  <a:tcPr marL="50000" marR="50000" marT="15000" marB="15000" anchor="ctr"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9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FK id_autor → USUARIO</a:t>
                      </a:r>
                    </a:p>
                  </a:txBody>
                  <a:tcPr marL="50000" marR="50000" marT="15000" marB="15000" anchor="ctr"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0"/>
                  </a:ext>
                </a:extLst>
              </a:tr>
            </a:tbl>
          </a:graphicData>
        </a:graphic>
      </p:graphicFrame>
      <p:graphicFrame>
        <p:nvGraphicFramePr>
          <p:cNvPr id="1029" name="Table 1028"/>
          <p:cNvGraphicFramePr>
            <a:graphicFrameLocks noGrp="1"/>
          </p:cNvGraphicFramePr>
          <p:nvPr/>
        </p:nvGraphicFramePr>
        <p:xfrm>
          <a:off x="6240000" y="2050000"/>
          <a:ext cx="2450000" cy="17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USUARIO</a:t>
                      </a:r>
                    </a:p>
                  </a:txBody>
                  <a:tcPr marL="50000" marR="50000" marT="15000" marB="15000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</a:rPr>
                        <a:t>PK id_usuario</a:t>
                      </a:r>
                    </a:p>
                  </a:txBody>
                  <a:tcPr marL="50000" marR="50000" marT="15000" marB="15000" anchor="ctr"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1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nombre</a:t>
                      </a:r>
                    </a:p>
                  </a:txBody>
                  <a:tcPr marL="50000" marR="50000" marT="15000" marB="15000" anchor="ctr"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2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correo (único)</a:t>
                      </a:r>
                    </a:p>
                  </a:txBody>
                  <a:tcPr marL="50000" marR="50000" marT="15000" marB="15000" anchor="ctr"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3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password_hash</a:t>
                      </a:r>
                    </a:p>
                  </a:txBody>
                  <a:tcPr marL="50000" marR="50000" marT="15000" marB="15000" anchor="ctr"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4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activo</a:t>
                      </a:r>
                    </a:p>
                  </a:txBody>
                  <a:tcPr marL="50000" marR="50000" marT="15000" marB="15000" anchor="ctr"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5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ultimo_acceso</a:t>
                      </a:r>
                    </a:p>
                  </a:txBody>
                  <a:tcPr marL="50000" marR="50000" marT="15000" marB="15000" anchor="ctr"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6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miembro_desde</a:t>
                      </a:r>
                    </a:p>
                  </a:txBody>
                  <a:tcPr marL="50000" marR="50000" marT="15000" marB="15000" anchor="ctr"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7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FK id_rol → ROL</a:t>
                      </a:r>
                    </a:p>
                  </a:txBody>
                  <a:tcPr marL="50000" marR="50000" marT="15000" marB="15000" anchor="ctr"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8"/>
                  </a:ext>
                </a:extLst>
              </a:tr>
            </a:tbl>
          </a:graphicData>
        </a:graphic>
      </p:graphicFrame>
      <p:graphicFrame>
        <p:nvGraphicFramePr>
          <p:cNvPr id="1030" name="Table 1029"/>
          <p:cNvGraphicFramePr>
            <a:graphicFrameLocks noGrp="1"/>
          </p:cNvGraphicFramePr>
          <p:nvPr/>
        </p:nvGraphicFramePr>
        <p:xfrm>
          <a:off x="9160000" y="2050000"/>
          <a:ext cx="2450000" cy="9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ROL</a:t>
                      </a:r>
                    </a:p>
                  </a:txBody>
                  <a:tcPr marL="50000" marR="50000" marT="15000" marB="15000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</a:rPr>
                        <a:t>PK id_rol</a:t>
                      </a:r>
                    </a:p>
                  </a:txBody>
                  <a:tcPr marL="50000" marR="50000" marT="15000" marB="15000" anchor="ctr"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1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clave (única)</a:t>
                      </a:r>
                    </a:p>
                  </a:txBody>
                  <a:tcPr marL="50000" marR="50000" marT="15000" marB="15000" anchor="ctr"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2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nombre</a:t>
                      </a:r>
                    </a:p>
                  </a:txBody>
                  <a:tcPr marL="50000" marR="50000" marT="15000" marB="15000" anchor="ctr"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3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descripcion</a:t>
                      </a:r>
                    </a:p>
                  </a:txBody>
                  <a:tcPr marL="50000" marR="50000" marT="15000" marB="15000" anchor="ctr"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4"/>
                  </a:ext>
                </a:extLst>
              </a:tr>
            </a:tbl>
          </a:graphicData>
        </a:graphic>
      </p:graphicFrame>
      <p:graphicFrame>
        <p:nvGraphicFramePr>
          <p:cNvPr id="1031" name="Table 1030"/>
          <p:cNvGraphicFramePr>
            <a:graphicFrameLocks noGrp="1"/>
          </p:cNvGraphicFramePr>
          <p:nvPr/>
        </p:nvGraphicFramePr>
        <p:xfrm>
          <a:off x="400000" y="4550000"/>
          <a:ext cx="2450000" cy="5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ARTICULO_FUENTE (proyectado)</a:t>
                      </a:r>
                    </a:p>
                  </a:txBody>
                  <a:tcPr marL="50000" marR="50000" marT="15000" marB="15000" anchor="ctr"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95959"/>
                          </a:solidFill>
                        </a:rPr>
                        <a:t>FK id_articulo</a:t>
                      </a:r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95959"/>
                          </a:solidFill>
                        </a:rPr>
                        <a:t>FK id_fuente</a:t>
                      </a:r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32" name="Table 1031"/>
          <p:cNvGraphicFramePr>
            <a:graphicFrameLocks noGrp="1"/>
          </p:cNvGraphicFramePr>
          <p:nvPr/>
        </p:nvGraphicFramePr>
        <p:xfrm>
          <a:off x="3320000" y="4550000"/>
          <a:ext cx="2450000" cy="17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GENERACION_IA (proyectado)</a:t>
                      </a:r>
                    </a:p>
                  </a:txBody>
                  <a:tcPr marL="50000" marR="50000" marT="15000" marB="15000" anchor="ctr"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595959"/>
                          </a:solidFill>
                        </a:rPr>
                        <a:t>PK id_generacion</a:t>
                      </a:r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95959"/>
                          </a:solidFill>
                        </a:rPr>
                        <a:t>tipo_tarea</a:t>
                      </a:r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95959"/>
                          </a:solidFill>
                        </a:rPr>
                        <a:t>prompt</a:t>
                      </a:r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95959"/>
                          </a:solidFill>
                        </a:rPr>
                        <a:t>resultado</a:t>
                      </a:r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95959"/>
                          </a:solidFill>
                        </a:rPr>
                        <a:t>modelo</a:t>
                      </a:r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95959"/>
                          </a:solidFill>
                        </a:rPr>
                        <a:t>fecha</a:t>
                      </a:r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95959"/>
                          </a:solidFill>
                        </a:rPr>
                        <a:t>FK id_articulo</a:t>
                      </a:r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95959"/>
                          </a:solidFill>
                        </a:rPr>
                        <a:t>FK id_usuario</a:t>
                      </a:r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033" name="Table 1032"/>
          <p:cNvGraphicFramePr>
            <a:graphicFrameLocks noGrp="1"/>
          </p:cNvGraphicFramePr>
          <p:nvPr/>
        </p:nvGraphicFramePr>
        <p:xfrm>
          <a:off x="6240000" y="4550000"/>
          <a:ext cx="2450000" cy="133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REVISION (proyectado)</a:t>
                      </a:r>
                    </a:p>
                  </a:txBody>
                  <a:tcPr marL="50000" marR="50000" marT="15000" marB="15000" anchor="ctr"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595959"/>
                          </a:solidFill>
                        </a:rPr>
                        <a:t>PK id_revision</a:t>
                      </a:r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95959"/>
                          </a:solidFill>
                        </a:rPr>
                        <a:t>decision</a:t>
                      </a:r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95959"/>
                          </a:solidFill>
                        </a:rPr>
                        <a:t>comentarios</a:t>
                      </a:r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95959"/>
                          </a:solidFill>
                        </a:rPr>
                        <a:t>fecha</a:t>
                      </a:r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95959"/>
                          </a:solidFill>
                        </a:rPr>
                        <a:t>FK id_articulo</a:t>
                      </a:r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95959"/>
                          </a:solidFill>
                        </a:rPr>
                        <a:t>FK id_revisor</a:t>
                      </a:r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034" name="Table 1033"/>
          <p:cNvGraphicFramePr>
            <a:graphicFrameLocks noGrp="1"/>
          </p:cNvGraphicFramePr>
          <p:nvPr/>
        </p:nvGraphicFramePr>
        <p:xfrm>
          <a:off x="9160000" y="4550000"/>
          <a:ext cx="2450000" cy="1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FUENTE (proyectado)</a:t>
                      </a:r>
                    </a:p>
                  </a:txBody>
                  <a:tcPr marL="50000" marR="50000" marT="15000" marB="15000" anchor="ctr"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595959"/>
                          </a:solidFill>
                        </a:rPr>
                        <a:t>PK id_fuente</a:t>
                      </a:r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95959"/>
                          </a:solidFill>
                        </a:rPr>
                        <a:t>tipo</a:t>
                      </a:r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95959"/>
                          </a:solidFill>
                        </a:rPr>
                        <a:t>url</a:t>
                      </a:r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95959"/>
                          </a:solidFill>
                        </a:rPr>
                        <a:t>titulo</a:t>
                      </a:r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95959"/>
                          </a:solidFill>
                        </a:rPr>
                        <a:t>contenido</a:t>
                      </a:r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95959"/>
                          </a:solidFill>
                        </a:rPr>
                        <a:t>fecha_recopilacion</a:t>
                      </a:r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95959"/>
                          </a:solidFill>
                        </a:rPr>
                        <a:t>FK id_usuario</a:t>
                      </a:r>
                    </a:p>
                  </a:txBody>
                  <a:tcPr marL="50000" marR="50000" marT="15000" marB="15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1035" name="Connector 1034"/>
          <p:cNvCxnSpPr/>
          <p:nvPr/>
        </p:nvCxnSpPr>
        <p:spPr>
          <a:xfrm>
            <a:off x="2850000" y="2450000"/>
            <a:ext cx="470000" cy="0"/>
          </a:xfrm>
          <a:prstGeom prst="line">
            <a:avLst/>
          </a:prstGeom>
          <a:ln w="1587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6" name="TextBox 1035"/>
          <p:cNvSpPr txBox="1"/>
          <p:nvPr/>
        </p:nvSpPr>
        <p:spPr>
          <a:xfrm>
            <a:off x="2830000" y="2180000"/>
            <a:ext cx="51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</a:rPr>
              <a:t>1:N</a:t>
            </a:r>
          </a:p>
        </p:txBody>
      </p:sp>
      <p:cxnSp>
        <p:nvCxnSpPr>
          <p:cNvPr id="1037" name="Connector 1036"/>
          <p:cNvCxnSpPr/>
          <p:nvPr/>
        </p:nvCxnSpPr>
        <p:spPr>
          <a:xfrm>
            <a:off x="5770000" y="2450000"/>
            <a:ext cx="470000" cy="0"/>
          </a:xfrm>
          <a:prstGeom prst="line">
            <a:avLst/>
          </a:prstGeom>
          <a:ln w="1587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8" name="TextBox 1037"/>
          <p:cNvSpPr txBox="1"/>
          <p:nvPr/>
        </p:nvSpPr>
        <p:spPr>
          <a:xfrm>
            <a:off x="5750000" y="2180000"/>
            <a:ext cx="51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</a:rPr>
              <a:t>1:N</a:t>
            </a:r>
          </a:p>
        </p:txBody>
      </p:sp>
      <p:cxnSp>
        <p:nvCxnSpPr>
          <p:cNvPr id="1039" name="Connector 1038"/>
          <p:cNvCxnSpPr/>
          <p:nvPr/>
        </p:nvCxnSpPr>
        <p:spPr>
          <a:xfrm>
            <a:off x="8690000" y="2450000"/>
            <a:ext cx="470000" cy="0"/>
          </a:xfrm>
          <a:prstGeom prst="line">
            <a:avLst/>
          </a:prstGeom>
          <a:ln w="1587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0" name="TextBox 1039"/>
          <p:cNvSpPr txBox="1"/>
          <p:nvPr/>
        </p:nvSpPr>
        <p:spPr>
          <a:xfrm>
            <a:off x="8670000" y="2180000"/>
            <a:ext cx="51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</a:rPr>
              <a:t>1:N</a:t>
            </a:r>
          </a:p>
        </p:txBody>
      </p:sp>
      <p:cxnSp>
        <p:nvCxnSpPr>
          <p:cNvPr id="1041" name="Connector 1040"/>
          <p:cNvCxnSpPr/>
          <p:nvPr/>
        </p:nvCxnSpPr>
        <p:spPr>
          <a:xfrm>
            <a:off x="4545000" y="4330000"/>
            <a:ext cx="0" cy="220000"/>
          </a:xfrm>
          <a:prstGeom prst="line">
            <a:avLst/>
          </a:prstGeom>
          <a:ln w="1587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2" name="TextBox 1041"/>
          <p:cNvSpPr txBox="1"/>
          <p:nvPr/>
        </p:nvSpPr>
        <p:spPr>
          <a:xfrm>
            <a:off x="4575000" y="4300000"/>
            <a:ext cx="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</a:rPr>
              <a:t>1:N</a:t>
            </a:r>
          </a:p>
        </p:txBody>
      </p:sp>
      <p:cxnSp>
        <p:nvCxnSpPr>
          <p:cNvPr id="1043" name="Connector 1042"/>
          <p:cNvCxnSpPr/>
          <p:nvPr/>
        </p:nvCxnSpPr>
        <p:spPr>
          <a:xfrm>
            <a:off x="7465000" y="3760000"/>
            <a:ext cx="0" cy="790000"/>
          </a:xfrm>
          <a:prstGeom prst="line">
            <a:avLst/>
          </a:prstGeom>
          <a:ln w="1587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4" name="TextBox 1043"/>
          <p:cNvSpPr txBox="1"/>
          <p:nvPr/>
        </p:nvSpPr>
        <p:spPr>
          <a:xfrm>
            <a:off x="7495000" y="4000000"/>
            <a:ext cx="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</a:rPr>
              <a:t>1:N</a:t>
            </a:r>
          </a:p>
        </p:txBody>
      </p:sp>
      <p:cxnSp>
        <p:nvCxnSpPr>
          <p:cNvPr id="1045" name="Connector 1044"/>
          <p:cNvCxnSpPr/>
          <p:nvPr/>
        </p:nvCxnSpPr>
        <p:spPr>
          <a:xfrm flipV="1">
            <a:off x="2850000" y="3450000"/>
            <a:ext cx="470000" cy="1300000"/>
          </a:xfrm>
          <a:prstGeom prst="line">
            <a:avLst/>
          </a:prstGeom>
          <a:ln w="1587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6" name="TextBox 1045"/>
          <p:cNvSpPr txBox="1"/>
          <p:nvPr/>
        </p:nvSpPr>
        <p:spPr>
          <a:xfrm>
            <a:off x="2790000" y="3700000"/>
            <a:ext cx="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</a:rPr>
              <a:t>N:M</a:t>
            </a:r>
          </a:p>
        </p:txBody>
      </p:sp>
      <p:cxnSp>
        <p:nvCxnSpPr>
          <p:cNvPr id="1047" name="Connector 1046"/>
          <p:cNvCxnSpPr/>
          <p:nvPr/>
        </p:nvCxnSpPr>
        <p:spPr>
          <a:xfrm flipH="1" flipV="1">
            <a:off x="8690000" y="3200000"/>
            <a:ext cx="470000" cy="1550000"/>
          </a:xfrm>
          <a:prstGeom prst="line">
            <a:avLst/>
          </a:prstGeom>
          <a:ln w="1587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" name="TextBox 1047"/>
          <p:cNvSpPr txBox="1"/>
          <p:nvPr/>
        </p:nvSpPr>
        <p:spPr>
          <a:xfrm>
            <a:off x="8950000" y="3550000"/>
            <a:ext cx="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</a:rPr>
              <a:t>1:N</a:t>
            </a:r>
          </a:p>
        </p:txBody>
      </p:sp>
      <p:sp>
        <p:nvSpPr>
          <p:cNvPr id="1049" name="TextBox 1048"/>
          <p:cNvSpPr txBox="1"/>
          <p:nvPr/>
        </p:nvSpPr>
        <p:spPr>
          <a:xfrm>
            <a:off x="400000" y="6290000"/>
            <a:ext cx="113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95959"/>
                </a:solidFill>
              </a:rPr>
              <a:t>Implementado: ARTICULO, USUARIO y ROL (PostgreSQL + Drizzle, 3 migraciones). En gris: entidades proyectadas para el flujo de revisión y la IA, aún no creadas.</a:t>
            </a:r>
          </a:p>
        </p:txBody>
      </p:sp>
    </p:spTree>
    <p:extLst>
      <p:ext uri="{BB962C8B-B14F-4D97-AF65-F5344CB8AC3E}">
        <p14:creationId xmlns:p14="http://schemas.microsoft.com/office/powerpoint/2010/main" val="2752457618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“APT”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Tecnologías utilizadas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27" name="Table 10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7918684"/>
              </p:ext>
            </p:extLst>
          </p:nvPr>
        </p:nvGraphicFramePr>
        <p:xfrm>
          <a:off x="1100000" y="2250000"/>
          <a:ext cx="9990000" cy="31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000"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rgbClr val="FFFFFF"/>
                          </a:solidFill>
                        </a:rPr>
                        <a:t>Componente</a:t>
                      </a:r>
                    </a:p>
                  </a:txBody>
                  <a:tcPr marL="50000" marR="50000" marT="15000" marB="15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Para qué</a:t>
                      </a:r>
                    </a:p>
                  </a:txBody>
                  <a:tcPr marL="50000" marR="50000" marT="15000" marB="150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Estado</a:t>
                      </a:r>
                    </a:p>
                  </a:txBody>
                  <a:tcPr marL="50000" marR="50000" marT="15000" marB="15000" anchor="ctr"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000000"/>
                          </a:solidFill>
                        </a:rPr>
                        <a:t>Frontend web</a:t>
                      </a:r>
                    </a:p>
                  </a:txBody>
                  <a:tcPr marL="50000" marR="50000" marT="15000" marB="15000" anchor="ctr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000000"/>
                          </a:solidFill>
                        </a:rPr>
                        <a:t>Next.js 16, React 19, TypeScript y Tailwind: sitio público y panel</a:t>
                      </a:r>
                      <a:endParaRPr sz="1400" b="0" dirty="0">
                        <a:solidFill>
                          <a:srgbClr val="000000"/>
                        </a:solidFill>
                      </a:endParaRPr>
                    </a:p>
                  </a:txBody>
                  <a:tcPr marL="50000" marR="50000" marT="15000" marB="15000" anchor="ctr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419" sz="1200" b="0" dirty="0">
                          <a:solidFill>
                            <a:srgbClr val="000000"/>
                          </a:solidFill>
                        </a:rPr>
                        <a:t>Operativo</a:t>
                      </a:r>
                    </a:p>
                  </a:txBody>
                  <a:tcPr marL="50000" marR="50000" marT="15000" marB="15000" anchor="ctr"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1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000000"/>
                          </a:solidFill>
                        </a:rPr>
                        <a:t>Backend / lógica</a:t>
                      </a:r>
                    </a:p>
                  </a:txBody>
                  <a:tcPr marL="50000" marR="5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000000"/>
                          </a:solidFill>
                        </a:rPr>
                        <a:t>Server Actions y Route Handlers de Next.js: roles, usuarios y reglas</a:t>
                      </a:r>
                    </a:p>
                  </a:txBody>
                  <a:tcPr marL="50000" marR="5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dirty="0">
                          <a:solidFill>
                            <a:srgbClr val="000000"/>
                          </a:solidFill>
                        </a:rPr>
                        <a:t>Operativo</a:t>
                      </a:r>
                      <a:endParaRPr sz="1400" b="0" dirty="0" err="1">
                        <a:solidFill>
                          <a:srgbClr val="000000"/>
                        </a:solidFill>
                      </a:endParaRPr>
                    </a:p>
                  </a:txBody>
                  <a:tcPr marL="50000" marR="50000" marT="15000" marB="1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2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000000"/>
                          </a:solidFill>
                        </a:rPr>
                        <a:t>Base de datos</a:t>
                      </a:r>
                    </a:p>
                  </a:txBody>
                  <a:tcPr marL="50000" marR="50000" marT="15000" marB="15000" anchor="ctr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000000"/>
                          </a:solidFill>
                        </a:rPr>
                        <a:t>PostgreSQL en Railway con Drizzle ORM y migraciones versionadas</a:t>
                      </a:r>
                      <a:endParaRPr sz="1400" b="0" dirty="0">
                        <a:solidFill>
                          <a:srgbClr val="000000"/>
                        </a:solidFill>
                      </a:endParaRPr>
                    </a:p>
                  </a:txBody>
                  <a:tcPr marL="50000" marR="50000" marT="15000" marB="15000" anchor="ctr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419" sz="1200" b="0" dirty="0">
                          <a:solidFill>
                            <a:srgbClr val="000000"/>
                          </a:solidFill>
                        </a:rPr>
                        <a:t>Operativo</a:t>
                      </a:r>
                    </a:p>
                  </a:txBody>
                  <a:tcPr marL="50000" marR="50000" marT="15000" marB="15000" anchor="ctr"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3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000000"/>
                          </a:solidFill>
                        </a:rPr>
                        <a:t>Autenticación</a:t>
                      </a:r>
                    </a:p>
                  </a:txBody>
                  <a:tcPr marL="50000" marR="5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000000"/>
                          </a:solidFill>
                        </a:rPr>
                        <a:t>JWT (jose) en cookie HttpOnly; contraseñas con scrypt; control por roles</a:t>
                      </a:r>
                    </a:p>
                  </a:txBody>
                  <a:tcPr marL="50000" marR="5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dirty="0">
                          <a:solidFill>
                            <a:srgbClr val="000000"/>
                          </a:solidFill>
                        </a:rPr>
                        <a:t>Operativo</a:t>
                      </a:r>
                      <a:endParaRPr sz="1400" b="0" dirty="0" err="1">
                        <a:solidFill>
                          <a:srgbClr val="000000"/>
                        </a:solidFill>
                      </a:endParaRPr>
                    </a:p>
                  </a:txBody>
                  <a:tcPr marL="50000" marR="50000" marT="15000" marB="1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4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000000"/>
                          </a:solidFill>
                        </a:rPr>
                        <a:t>Despliegue</a:t>
                      </a:r>
                    </a:p>
                  </a:txBody>
                  <a:tcPr marL="50000" marR="50000" marT="15000" marB="15000" anchor="ctr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000000"/>
                          </a:solidFill>
                        </a:rPr>
                        <a:t>Railway, entorno QA: nodoia-cchia.up.railway.app (sin producción aún)</a:t>
                      </a:r>
                      <a:endParaRPr sz="1400" b="0" dirty="0">
                        <a:solidFill>
                          <a:srgbClr val="000000"/>
                        </a:solidFill>
                      </a:endParaRPr>
                    </a:p>
                  </a:txBody>
                  <a:tcPr marL="50000" marR="50000" marT="15000" marB="15000" anchor="ctr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419" sz="1200" b="0" dirty="0">
                          <a:solidFill>
                            <a:srgbClr val="000000"/>
                          </a:solidFill>
                        </a:rPr>
                        <a:t>QA</a:t>
                      </a:r>
                    </a:p>
                  </a:txBody>
                  <a:tcPr marL="50000" marR="50000" marT="15000" marB="15000" anchor="ctr"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5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000000"/>
                          </a:solidFill>
                        </a:rPr>
                        <a:t>Gestión y código</a:t>
                      </a:r>
                    </a:p>
                  </a:txBody>
                  <a:tcPr marL="50000" marR="5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000000"/>
                          </a:solidFill>
                        </a:rPr>
                        <a:t>GitHub (repositorio) y Jira (tablero Kanban)</a:t>
                      </a:r>
                    </a:p>
                  </a:txBody>
                  <a:tcPr marL="50000" marR="5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dirty="0">
                          <a:solidFill>
                            <a:srgbClr val="000000"/>
                          </a:solidFill>
                        </a:rPr>
                        <a:t>En uso</a:t>
                      </a:r>
                      <a:endParaRPr sz="1400" b="0" dirty="0" err="1">
                        <a:solidFill>
                          <a:srgbClr val="000000"/>
                        </a:solidFill>
                      </a:endParaRPr>
                    </a:p>
                  </a:txBody>
                  <a:tcPr marL="50000" marR="50000" marT="15000" marB="1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6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000000"/>
                          </a:solidFill>
                        </a:rPr>
                        <a:t>Servicio de IA</a:t>
                      </a:r>
                    </a:p>
                  </a:txBody>
                  <a:tcPr marL="50000" marR="50000" marT="15000" marB="15000" anchor="ctr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000000"/>
                          </a:solidFill>
                        </a:rPr>
                        <a:t>Redacción, resumen y corrección asistida por IA</a:t>
                      </a:r>
                      <a:endParaRPr sz="1400" b="0" dirty="0">
                        <a:solidFill>
                          <a:srgbClr val="000000"/>
                        </a:solidFill>
                      </a:endParaRPr>
                    </a:p>
                  </a:txBody>
                  <a:tcPr marL="50000" marR="50000" marT="15000" marB="15000" anchor="ctr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419" sz="1200" b="0" dirty="0">
                          <a:solidFill>
                            <a:srgbClr val="000000"/>
                          </a:solidFill>
                        </a:rPr>
                        <a:t>Proyectado</a:t>
                      </a:r>
                    </a:p>
                  </a:txBody>
                  <a:tcPr marL="50000" marR="50000" marT="15000" marB="15000" anchor="ctr"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7"/>
                  </a:ext>
                </a:extLst>
              </a:tr>
            </a:tbl>
          </a:graphicData>
        </a:graphic>
      </p:graphicFrame>
      <p:sp>
        <p:nvSpPr>
          <p:cNvPr id="1028" name="TextBox 1027"/>
          <p:cNvSpPr txBox="1"/>
          <p:nvPr/>
        </p:nvSpPr>
        <p:spPr>
          <a:xfrm>
            <a:off x="1100000" y="5650000"/>
            <a:ext cx="999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95959"/>
                </a:solidFill>
              </a:rPr>
              <a:t>Backend y frontend comparten una sola aplicación: no hay API REST separada porque existe un único cliente.</a:t>
            </a:r>
          </a:p>
        </p:txBody>
      </p:sp>
    </p:spTree>
    <p:extLst>
      <p:ext uri="{BB962C8B-B14F-4D97-AF65-F5344CB8AC3E}">
        <p14:creationId xmlns:p14="http://schemas.microsoft.com/office/powerpoint/2010/main" val="3405368746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“APT”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Seguridad: medidas y límites declarados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7" name="Rounded Rectangle 1026"/>
          <p:cNvSpPr/>
          <p:nvPr/>
        </p:nvSpPr>
        <p:spPr>
          <a:xfrm>
            <a:off x="714909" y="2250000"/>
            <a:ext cx="4900000" cy="390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100000" rIns="150000" bIns="45720" rtlCol="0" anchor="t"/>
          <a:lstStyle/>
          <a:p>
            <a:pPr algn="l">
              <a:spcAft>
                <a:spcPts val="600"/>
              </a:spcAft>
            </a:pPr>
            <a:r>
              <a:rPr sz="1800" b="1" dirty="0">
                <a:solidFill>
                  <a:srgbClr val="000000"/>
                </a:solidFill>
              </a:rPr>
              <a:t>Medidas implementadas</a:t>
            </a:r>
          </a:p>
          <a:p>
            <a:pPr marL="228600" indent="-228600" algn="just">
              <a:spcAft>
                <a:spcPts val="400"/>
              </a:spcAft>
              <a:buChar char="•"/>
            </a:pPr>
            <a:r>
              <a:rPr lang="es-CL" sz="1400" dirty="0">
                <a:solidFill>
                  <a:srgbClr val="000000"/>
                </a:solidFill>
                <a:ea typeface="Calibri"/>
                <a:cs typeface="Calibri"/>
              </a:rPr>
              <a:t>Contraseñas con Hash Script y SAL por usuario.</a:t>
            </a:r>
          </a:p>
          <a:p>
            <a:pPr marL="228600" indent="-228600" algn="just">
              <a:spcAft>
                <a:spcPts val="400"/>
              </a:spcAft>
              <a:buChar char="•"/>
            </a:pPr>
            <a:r>
              <a:rPr lang="es-CL" sz="1400" dirty="0">
                <a:solidFill>
                  <a:srgbClr val="000000"/>
                </a:solidFill>
                <a:ea typeface="Calibri"/>
                <a:cs typeface="Calibri"/>
              </a:rPr>
              <a:t>Sesión con JWT en cookie HttpOnly, Secure y SameSite.</a:t>
            </a:r>
          </a:p>
          <a:p>
            <a:pPr marL="228600" indent="-228600" algn="just">
              <a:spcAft>
                <a:spcPts val="400"/>
              </a:spcAft>
              <a:buChar char="•"/>
            </a:pPr>
            <a:r>
              <a:rPr lang="es-CL" sz="1400" dirty="0">
                <a:solidFill>
                  <a:srgbClr val="000000"/>
                </a:solidFill>
                <a:ea typeface="Calibri"/>
                <a:cs typeface="Calibri"/>
              </a:rPr>
              <a:t>Control por roles en 4 capas: proxy, layout, página y acción.</a:t>
            </a:r>
          </a:p>
          <a:p>
            <a:pPr marL="228600" indent="-228600" algn="just">
              <a:spcAft>
                <a:spcPts val="400"/>
              </a:spcAft>
              <a:buChar char="•"/>
            </a:pPr>
            <a:r>
              <a:rPr lang="es-CL" sz="1400" dirty="0">
                <a:solidFill>
                  <a:srgbClr val="000000"/>
                </a:solidFill>
                <a:ea typeface="Calibri"/>
                <a:cs typeface="Calibri"/>
              </a:rPr>
              <a:t>El usuario se revalida en BD en cada petición.</a:t>
            </a:r>
          </a:p>
          <a:p>
            <a:pPr marL="228600" indent="-228600" algn="just">
              <a:spcAft>
                <a:spcPts val="400"/>
              </a:spcAft>
              <a:buChar char="•"/>
            </a:pPr>
            <a:r>
              <a:rPr lang="es-CL" sz="1400" dirty="0">
                <a:solidFill>
                  <a:srgbClr val="000000"/>
                </a:solidFill>
                <a:ea typeface="Calibri"/>
                <a:cs typeface="Calibri"/>
              </a:rPr>
              <a:t>Consultas parametrizadas (ORM), sin SQL concatenado.</a:t>
            </a:r>
          </a:p>
          <a:p>
            <a:pPr marL="228600" indent="-228600" algn="just">
              <a:spcAft>
                <a:spcPts val="400"/>
              </a:spcAft>
              <a:buChar char="•"/>
            </a:pPr>
            <a:r>
              <a:rPr lang="es-CL" sz="1400" dirty="0">
                <a:solidFill>
                  <a:srgbClr val="000000"/>
                </a:solidFill>
                <a:ea typeface="Calibri"/>
                <a:cs typeface="Calibri"/>
              </a:rPr>
              <a:t>Error genérico en el login y bloqueo tras 5 intentos.</a:t>
            </a:r>
          </a:p>
          <a:p>
            <a:pPr marL="228600" indent="-228600" algn="just">
              <a:spcAft>
                <a:spcPts val="400"/>
              </a:spcAft>
              <a:buChar char="•"/>
            </a:pPr>
            <a:r>
              <a:rPr lang="es-CL" sz="1400" dirty="0">
                <a:solidFill>
                  <a:srgbClr val="000000"/>
                </a:solidFill>
                <a:ea typeface="Calibri"/>
                <a:cs typeface="Calibri"/>
              </a:rPr>
              <a:t>Cabeceras de seguridad y panel excluido de buscadores.</a:t>
            </a:r>
          </a:p>
        </p:txBody>
      </p:sp>
      <p:sp>
        <p:nvSpPr>
          <p:cNvPr id="1028" name="Rounded Rectangle 1027"/>
          <p:cNvSpPr/>
          <p:nvPr/>
        </p:nvSpPr>
        <p:spPr>
          <a:xfrm>
            <a:off x="6577091" y="2250000"/>
            <a:ext cx="4900000" cy="390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100000" rIns="150000" bIns="45720" rtlCol="0" anchor="t"/>
          <a:lstStyle/>
          <a:p>
            <a:pPr algn="l">
              <a:spcAft>
                <a:spcPts val="600"/>
              </a:spcAft>
            </a:pPr>
            <a:r>
              <a:rPr lang="es-CL" sz="1800" b="1" dirty="0">
                <a:solidFill>
                  <a:srgbClr val="000000"/>
                </a:solidFill>
              </a:rPr>
              <a:t>Oportunidades de mejora</a:t>
            </a:r>
            <a:endParaRPr sz="1800" b="1" dirty="0">
              <a:solidFill>
                <a:srgbClr val="000000"/>
              </a:solidFill>
            </a:endParaRPr>
          </a:p>
          <a:p>
            <a:pPr marL="228600" indent="-228600" algn="just">
              <a:spcAft>
                <a:spcPts val="400"/>
              </a:spcAft>
              <a:buFont typeface="Arial"/>
              <a:buChar char="•"/>
            </a:pPr>
            <a:r>
              <a:rPr lang="es-ES" sz="1600" dirty="0">
                <a:solidFill>
                  <a:srgbClr val="000000"/>
                </a:solidFill>
                <a:ea typeface="Calibri"/>
                <a:cs typeface="Calibri"/>
              </a:rPr>
              <a:t>El token vale hasta 8 h; no hay revocación inmediata.</a:t>
            </a:r>
          </a:p>
          <a:p>
            <a:pPr marL="228600" indent="-228600" algn="just">
              <a:spcAft>
                <a:spcPts val="400"/>
              </a:spcAft>
              <a:buFont typeface="Arial"/>
              <a:buChar char="•"/>
            </a:pPr>
            <a:r>
              <a:rPr lang="es-ES" sz="1600" dirty="0">
                <a:solidFill>
                  <a:srgbClr val="000000"/>
                </a:solidFill>
                <a:ea typeface="Calibri"/>
                <a:cs typeface="Calibri"/>
              </a:rPr>
              <a:t>El límite de intentos vive en memoria y se reinicia al desplegar.</a:t>
            </a:r>
          </a:p>
          <a:p>
            <a:pPr marL="228600" indent="-228600" algn="just">
              <a:spcAft>
                <a:spcPts val="400"/>
              </a:spcAft>
              <a:buFont typeface="Arial"/>
              <a:buChar char="•"/>
            </a:pPr>
            <a:r>
              <a:rPr lang="es-ES" sz="1600" dirty="0">
                <a:solidFill>
                  <a:srgbClr val="000000"/>
                </a:solidFill>
                <a:ea typeface="Calibri"/>
                <a:cs typeface="Calibri"/>
              </a:rPr>
              <a:t>Sin doble factor ni recuperación de contraseña.</a:t>
            </a:r>
          </a:p>
          <a:p>
            <a:pPr marL="228600" indent="-228600" algn="just">
              <a:spcAft>
                <a:spcPts val="400"/>
              </a:spcAft>
              <a:buFont typeface="Arial"/>
              <a:buChar char="•"/>
            </a:pPr>
            <a:r>
              <a:rPr lang="es-ES" sz="1600" b="1" dirty="0">
                <a:solidFill>
                  <a:srgbClr val="000000"/>
                </a:solidFill>
                <a:ea typeface="Calibri"/>
                <a:cs typeface="Calibri"/>
              </a:rPr>
              <a:t>QA y desarrollo comparten la misma base de datos.</a:t>
            </a:r>
          </a:p>
          <a:p>
            <a:pPr marL="228600" indent="-228600" algn="just">
              <a:spcAft>
                <a:spcPts val="400"/>
              </a:spcAft>
              <a:buFont typeface="Arial"/>
              <a:buChar char="•"/>
            </a:pPr>
            <a:r>
              <a:rPr lang="es-ES" sz="1600" dirty="0">
                <a:solidFill>
                  <a:srgbClr val="000000"/>
                </a:solidFill>
                <a:ea typeface="Calibri"/>
                <a:cs typeface="Calibri"/>
              </a:rPr>
              <a:t>Sin pruebas de seguridad automatizadas.</a:t>
            </a:r>
          </a:p>
        </p:txBody>
      </p:sp>
    </p:spTree>
    <p:extLst>
      <p:ext uri="{BB962C8B-B14F-4D97-AF65-F5344CB8AC3E}">
        <p14:creationId xmlns:p14="http://schemas.microsoft.com/office/powerpoint/2010/main" val="3299956469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“APT”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Valor, usuarios y sostenibilidad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7" name="Rounded Rectangle 1026"/>
          <p:cNvSpPr/>
          <p:nvPr/>
        </p:nvSpPr>
        <p:spPr>
          <a:xfrm>
            <a:off x="955054" y="2250000"/>
            <a:ext cx="4900000" cy="390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100000" rIns="150000" bIns="45720" rtlCol="0" anchor="t"/>
          <a:lstStyle/>
          <a:p>
            <a:pPr algn="l">
              <a:spcAft>
                <a:spcPts val="600"/>
              </a:spcAft>
            </a:pPr>
            <a:r>
              <a:rPr sz="1800" b="1" dirty="0">
                <a:solidFill>
                  <a:srgbClr val="000000"/>
                </a:solidFill>
              </a:rPr>
              <a:t>Valor y usuarios</a:t>
            </a:r>
          </a:p>
          <a:p>
            <a:pPr marL="228600" indent="-228600" algn="just">
              <a:spcAft>
                <a:spcPts val="400"/>
              </a:spcAft>
              <a:buChar char="•"/>
            </a:pPr>
            <a:r>
              <a:rPr lang="es-CL" sz="1600" dirty="0">
                <a:solidFill>
                  <a:srgbClr val="000000"/>
                </a:solidFill>
                <a:ea typeface="Calibri"/>
                <a:cs typeface="Calibri"/>
              </a:rPr>
              <a:t>Centraliza el ciclo editorial de CCHIA en una sola plataforma.</a:t>
            </a:r>
          </a:p>
          <a:p>
            <a:pPr marL="228600" indent="-228600" algn="just">
              <a:spcAft>
                <a:spcPts val="400"/>
              </a:spcAft>
              <a:buChar char="•"/>
            </a:pPr>
            <a:r>
              <a:rPr lang="es-CL" sz="1600" dirty="0">
                <a:solidFill>
                  <a:srgbClr val="000000"/>
                </a:solidFill>
                <a:ea typeface="Calibri"/>
                <a:cs typeface="Calibri"/>
              </a:rPr>
              <a:t>Reduce la preparación manual y deja trazabilidad de quién crea, revisa y publica.</a:t>
            </a:r>
          </a:p>
          <a:p>
            <a:pPr marL="228600" indent="-228600" algn="just">
              <a:spcAft>
                <a:spcPts val="400"/>
              </a:spcAft>
              <a:buChar char="•"/>
            </a:pPr>
            <a:r>
              <a:rPr lang="es-CL" sz="1600" dirty="0">
                <a:solidFill>
                  <a:srgbClr val="000000"/>
                </a:solidFill>
                <a:ea typeface="Calibri"/>
                <a:cs typeface="Calibri"/>
              </a:rPr>
              <a:t>Administrador (gestión), revisor (autor y editor), lector y  desarrollador** </a:t>
            </a:r>
          </a:p>
        </p:txBody>
      </p:sp>
      <p:sp>
        <p:nvSpPr>
          <p:cNvPr id="1028" name="Rounded Rectangle 1027"/>
          <p:cNvSpPr/>
          <p:nvPr/>
        </p:nvSpPr>
        <p:spPr>
          <a:xfrm>
            <a:off x="6577091" y="2250000"/>
            <a:ext cx="4900000" cy="390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100000" rIns="150000" bIns="45720" rtlCol="0" anchor="t"/>
          <a:lstStyle/>
          <a:p>
            <a:pPr algn="l">
              <a:spcAft>
                <a:spcPts val="600"/>
              </a:spcAft>
            </a:pPr>
            <a:r>
              <a:rPr sz="1800" b="1" dirty="0">
                <a:solidFill>
                  <a:srgbClr val="000000"/>
                </a:solidFill>
              </a:rPr>
              <a:t>Implementación y sostenibilidad</a:t>
            </a:r>
          </a:p>
          <a:p>
            <a:pPr marL="228600" indent="-228600" algn="just">
              <a:spcAft>
                <a:spcPts val="400"/>
              </a:spcAft>
              <a:buFont typeface="Arial"/>
              <a:buChar char="•"/>
            </a:pPr>
            <a:r>
              <a:rPr lang="es-ES" sz="1600" dirty="0">
                <a:solidFill>
                  <a:srgbClr val="000000"/>
                </a:solidFill>
                <a:ea typeface="Calibri"/>
                <a:cs typeface="Calibri"/>
              </a:rPr>
              <a:t>Uso institucional: sin comercialización directa.</a:t>
            </a:r>
          </a:p>
          <a:p>
            <a:pPr marL="228600" indent="-228600" algn="just">
              <a:spcAft>
                <a:spcPts val="400"/>
              </a:spcAft>
              <a:buFont typeface="Arial"/>
              <a:buChar char="•"/>
            </a:pPr>
            <a:r>
              <a:rPr lang="es-ES" sz="1600" dirty="0">
                <a:solidFill>
                  <a:srgbClr val="000000"/>
                </a:solidFill>
                <a:ea typeface="Calibri"/>
                <a:cs typeface="Calibri"/>
              </a:rPr>
              <a:t>Costo operativo: hosting y base de datos en la nube.</a:t>
            </a:r>
          </a:p>
          <a:p>
            <a:pPr marL="228600" indent="-228600" algn="just">
              <a:spcAft>
                <a:spcPts val="400"/>
              </a:spcAft>
              <a:buFont typeface="Arial"/>
              <a:buChar char="•"/>
            </a:pPr>
            <a:r>
              <a:rPr lang="es-ES" sz="1600" dirty="0">
                <a:solidFill>
                  <a:srgbClr val="000000"/>
                </a:solidFill>
                <a:ea typeface="Calibri"/>
                <a:cs typeface="Calibri"/>
              </a:rPr>
              <a:t>Mantención por la cámara o un proveedor; código en GitHub.</a:t>
            </a:r>
          </a:p>
          <a:p>
            <a:pPr marL="228600" indent="-228600" algn="just">
              <a:spcAft>
                <a:spcPts val="400"/>
              </a:spcAft>
              <a:buFont typeface="Arial"/>
              <a:buChar char="•"/>
            </a:pPr>
            <a:r>
              <a:rPr lang="es-ES" sz="1600" dirty="0">
                <a:solidFill>
                  <a:srgbClr val="000000"/>
                </a:solidFill>
                <a:ea typeface="Calibri"/>
                <a:cs typeface="Calibri"/>
              </a:rPr>
              <a:t>Escalable por capas: BD gestionada y la IA como servicio aparte.</a:t>
            </a:r>
          </a:p>
          <a:p>
            <a:pPr marL="228600" indent="-228600" algn="just">
              <a:spcAft>
                <a:spcPts val="400"/>
              </a:spcAft>
              <a:buFont typeface="Arial"/>
              <a:buChar char="•"/>
            </a:pPr>
            <a:r>
              <a:rPr lang="es-ES" sz="1600" dirty="0">
                <a:solidFill>
                  <a:srgbClr val="000000"/>
                </a:solidFill>
                <a:ea typeface="Calibri"/>
                <a:cs typeface="Calibri"/>
              </a:rPr>
              <a:t>Medir el tiempo de preparación antes y después para validar el beneficio.</a:t>
            </a:r>
          </a:p>
        </p:txBody>
      </p:sp>
    </p:spTree>
    <p:extLst>
      <p:ext uri="{BB962C8B-B14F-4D97-AF65-F5344CB8AC3E}">
        <p14:creationId xmlns:p14="http://schemas.microsoft.com/office/powerpoint/2010/main" val="3299956469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Nivel de madurez del proyecto</a:t>
            </a:r>
          </a:p>
        </p:txBody>
      </p:sp>
      <p:sp>
        <p:nvSpPr>
          <p:cNvPr id="1027" name="Rounded Rectangle 1026"/>
          <p:cNvSpPr/>
          <p:nvPr/>
        </p:nvSpPr>
        <p:spPr>
          <a:xfrm>
            <a:off x="714909" y="2500000"/>
            <a:ext cx="4900000" cy="370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100000" rIns="150000" rtlCol="0" anchor="t"/>
          <a:lstStyle/>
          <a:p>
            <a:pPr algn="l">
              <a:spcAft>
                <a:spcPts val="600"/>
              </a:spcAft>
            </a:pPr>
            <a:r>
              <a:rPr sz="1800" b="1" dirty="0" err="1">
                <a:solidFill>
                  <a:srgbClr val="000000"/>
                </a:solidFill>
              </a:rPr>
              <a:t>Operativo</a:t>
            </a:r>
            <a:endParaRPr sz="1800" b="1" dirty="0">
              <a:solidFill>
                <a:srgbClr val="000000"/>
              </a:solidFill>
            </a:endParaRPr>
          </a:p>
          <a:p>
            <a:pPr marL="228600" indent="-228600" algn="just">
              <a:spcAft>
                <a:spcPts val="400"/>
              </a:spcAft>
              <a:buChar char="•"/>
            </a:pPr>
            <a:r>
              <a:rPr sz="1600" dirty="0">
                <a:solidFill>
                  <a:srgbClr val="000000"/>
                </a:solidFill>
              </a:rPr>
              <a:t>Sitio </a:t>
            </a:r>
            <a:r>
              <a:rPr sz="1600" dirty="0" err="1">
                <a:solidFill>
                  <a:srgbClr val="000000"/>
                </a:solidFill>
              </a:rPr>
              <a:t>público</a:t>
            </a:r>
            <a:r>
              <a:rPr sz="1600" dirty="0">
                <a:solidFill>
                  <a:srgbClr val="000000"/>
                </a:solidFill>
              </a:rPr>
              <a:t>: </a:t>
            </a:r>
            <a:r>
              <a:rPr sz="1600" dirty="0" err="1">
                <a:solidFill>
                  <a:srgbClr val="000000"/>
                </a:solidFill>
              </a:rPr>
              <a:t>inicio</a:t>
            </a:r>
            <a:r>
              <a:rPr sz="1600" dirty="0">
                <a:solidFill>
                  <a:srgbClr val="000000"/>
                </a:solidFill>
              </a:rPr>
              <a:t>, </a:t>
            </a:r>
            <a:r>
              <a:rPr sz="1600" dirty="0" err="1">
                <a:solidFill>
                  <a:srgbClr val="000000"/>
                </a:solidFill>
              </a:rPr>
              <a:t>listado</a:t>
            </a:r>
            <a:r>
              <a:rPr sz="1600" dirty="0">
                <a:solidFill>
                  <a:srgbClr val="000000"/>
                </a:solidFill>
              </a:rPr>
              <a:t> con </a:t>
            </a:r>
            <a:r>
              <a:rPr sz="1600" dirty="0" err="1">
                <a:solidFill>
                  <a:srgbClr val="000000"/>
                </a:solidFill>
              </a:rPr>
              <a:t>filtro</a:t>
            </a:r>
            <a:r>
              <a:rPr sz="1600" dirty="0">
                <a:solidFill>
                  <a:srgbClr val="000000"/>
                </a:solidFill>
              </a:rPr>
              <a:t> y </a:t>
            </a:r>
            <a:r>
              <a:rPr sz="1600" dirty="0" err="1">
                <a:solidFill>
                  <a:srgbClr val="000000"/>
                </a:solidFill>
              </a:rPr>
              <a:t>detalle</a:t>
            </a:r>
            <a:r>
              <a:rPr sz="1600" dirty="0">
                <a:solidFill>
                  <a:srgbClr val="000000"/>
                </a:solidFill>
              </a:rPr>
              <a:t> de </a:t>
            </a:r>
            <a:r>
              <a:rPr sz="1600" dirty="0" err="1">
                <a:solidFill>
                  <a:srgbClr val="000000"/>
                </a:solidFill>
              </a:rPr>
              <a:t>artículos</a:t>
            </a:r>
            <a:r>
              <a:rPr sz="1600" dirty="0">
                <a:solidFill>
                  <a:srgbClr val="000000"/>
                </a:solidFill>
              </a:rPr>
              <a:t>.</a:t>
            </a:r>
          </a:p>
          <a:p>
            <a:pPr marL="228600" indent="-228600" algn="just">
              <a:spcAft>
                <a:spcPts val="400"/>
              </a:spcAft>
              <a:buChar char="•"/>
            </a:pPr>
            <a:r>
              <a:rPr sz="1600" dirty="0">
                <a:solidFill>
                  <a:srgbClr val="000000"/>
                </a:solidFill>
              </a:rPr>
              <a:t>Login con JWT, roles y </a:t>
            </a:r>
            <a:r>
              <a:rPr sz="1600" dirty="0" err="1">
                <a:solidFill>
                  <a:srgbClr val="000000"/>
                </a:solidFill>
              </a:rPr>
              <a:t>protección</a:t>
            </a:r>
            <a:r>
              <a:rPr sz="1600" dirty="0">
                <a:solidFill>
                  <a:srgbClr val="000000"/>
                </a:solidFill>
              </a:rPr>
              <a:t> de </a:t>
            </a:r>
            <a:r>
              <a:rPr sz="1600" dirty="0" err="1">
                <a:solidFill>
                  <a:srgbClr val="000000"/>
                </a:solidFill>
              </a:rPr>
              <a:t>rutas</a:t>
            </a:r>
            <a:r>
              <a:rPr sz="1600" dirty="0">
                <a:solidFill>
                  <a:srgbClr val="000000"/>
                </a:solidFill>
              </a:rPr>
              <a:t>.</a:t>
            </a:r>
          </a:p>
          <a:p>
            <a:pPr marL="228600" indent="-228600" algn="just">
              <a:spcAft>
                <a:spcPts val="400"/>
              </a:spcAft>
              <a:buChar char="•"/>
            </a:pPr>
            <a:r>
              <a:rPr sz="1600" dirty="0">
                <a:solidFill>
                  <a:srgbClr val="000000"/>
                </a:solidFill>
              </a:rPr>
              <a:t>CRUD de </a:t>
            </a:r>
            <a:r>
              <a:rPr sz="1600" dirty="0" err="1">
                <a:solidFill>
                  <a:srgbClr val="000000"/>
                </a:solidFill>
              </a:rPr>
              <a:t>usuarios</a:t>
            </a:r>
            <a:r>
              <a:rPr sz="1600" dirty="0">
                <a:solidFill>
                  <a:srgbClr val="000000"/>
                </a:solidFill>
              </a:rPr>
              <a:t> </a:t>
            </a:r>
            <a:r>
              <a:rPr sz="1600" dirty="0" err="1">
                <a:solidFill>
                  <a:srgbClr val="000000"/>
                </a:solidFill>
              </a:rPr>
              <a:t>en</a:t>
            </a:r>
            <a:r>
              <a:rPr sz="1600" dirty="0">
                <a:solidFill>
                  <a:srgbClr val="000000"/>
                </a:solidFill>
              </a:rPr>
              <a:t> el panel de </a:t>
            </a:r>
            <a:r>
              <a:rPr sz="1600" dirty="0" err="1">
                <a:solidFill>
                  <a:srgbClr val="000000"/>
                </a:solidFill>
              </a:rPr>
              <a:t>administración</a:t>
            </a:r>
            <a:r>
              <a:rPr sz="1600" dirty="0">
                <a:solidFill>
                  <a:srgbClr val="000000"/>
                </a:solidFill>
              </a:rPr>
              <a:t>.</a:t>
            </a:r>
          </a:p>
          <a:p>
            <a:pPr marL="228600" indent="-228600" algn="just">
              <a:spcAft>
                <a:spcPts val="400"/>
              </a:spcAft>
              <a:buChar char="•"/>
            </a:pPr>
            <a:r>
              <a:rPr sz="1600" dirty="0">
                <a:solidFill>
                  <a:srgbClr val="000000"/>
                </a:solidFill>
              </a:rPr>
              <a:t>PostgreSQL con </a:t>
            </a:r>
            <a:r>
              <a:rPr sz="1600" dirty="0" err="1">
                <a:solidFill>
                  <a:srgbClr val="000000"/>
                </a:solidFill>
              </a:rPr>
              <a:t>migraciones</a:t>
            </a:r>
            <a:r>
              <a:rPr sz="1600" dirty="0">
                <a:solidFill>
                  <a:srgbClr val="000000"/>
                </a:solidFill>
              </a:rPr>
              <a:t> y </a:t>
            </a:r>
            <a:r>
              <a:rPr sz="1600" dirty="0" err="1">
                <a:solidFill>
                  <a:srgbClr val="000000"/>
                </a:solidFill>
              </a:rPr>
              <a:t>datos</a:t>
            </a:r>
            <a:r>
              <a:rPr sz="1600" dirty="0">
                <a:solidFill>
                  <a:srgbClr val="000000"/>
                </a:solidFill>
              </a:rPr>
              <a:t> de </a:t>
            </a:r>
            <a:r>
              <a:rPr sz="1600" dirty="0" err="1">
                <a:solidFill>
                  <a:srgbClr val="000000"/>
                </a:solidFill>
              </a:rPr>
              <a:t>prueba</a:t>
            </a:r>
            <a:r>
              <a:rPr sz="1600" dirty="0">
                <a:solidFill>
                  <a:srgbClr val="000000"/>
                </a:solidFill>
              </a:rPr>
              <a:t>.</a:t>
            </a:r>
          </a:p>
          <a:p>
            <a:pPr marL="228600" indent="-228600" algn="just">
              <a:spcAft>
                <a:spcPts val="400"/>
              </a:spcAft>
              <a:buChar char="•"/>
            </a:pPr>
            <a:r>
              <a:rPr sz="1600" dirty="0">
                <a:solidFill>
                  <a:srgbClr val="000000"/>
                </a:solidFill>
              </a:rPr>
              <a:t>SEO </a:t>
            </a:r>
            <a:r>
              <a:rPr sz="1600" dirty="0" err="1">
                <a:solidFill>
                  <a:srgbClr val="000000"/>
                </a:solidFill>
              </a:rPr>
              <a:t>técnico</a:t>
            </a:r>
            <a:r>
              <a:rPr sz="1600" dirty="0">
                <a:solidFill>
                  <a:srgbClr val="000000"/>
                </a:solidFill>
              </a:rPr>
              <a:t> y </a:t>
            </a:r>
            <a:r>
              <a:rPr sz="1600" dirty="0" err="1">
                <a:solidFill>
                  <a:srgbClr val="000000"/>
                </a:solidFill>
              </a:rPr>
              <a:t>diseño</a:t>
            </a:r>
            <a:r>
              <a:rPr sz="1600" dirty="0">
                <a:solidFill>
                  <a:srgbClr val="000000"/>
                </a:solidFill>
              </a:rPr>
              <a:t> </a:t>
            </a:r>
            <a:r>
              <a:rPr sz="1600" dirty="0" err="1">
                <a:solidFill>
                  <a:srgbClr val="000000"/>
                </a:solidFill>
              </a:rPr>
              <a:t>responsivo</a:t>
            </a:r>
            <a:r>
              <a:rPr sz="1600" dirty="0">
                <a:solidFill>
                  <a:srgbClr val="000000"/>
                </a:solidFill>
              </a:rPr>
              <a:t>.</a:t>
            </a:r>
          </a:p>
          <a:p>
            <a:pPr marL="228600" indent="-228600" algn="just">
              <a:spcAft>
                <a:spcPts val="400"/>
              </a:spcAft>
              <a:buChar char="•"/>
            </a:pPr>
            <a:r>
              <a:rPr sz="1600" dirty="0" err="1">
                <a:solidFill>
                  <a:srgbClr val="000000"/>
                </a:solidFill>
              </a:rPr>
              <a:t>Despliegue</a:t>
            </a:r>
            <a:r>
              <a:rPr sz="1600" dirty="0">
                <a:solidFill>
                  <a:srgbClr val="000000"/>
                </a:solidFill>
              </a:rPr>
              <a:t> </a:t>
            </a:r>
            <a:r>
              <a:rPr sz="1600" dirty="0" err="1">
                <a:solidFill>
                  <a:srgbClr val="000000"/>
                </a:solidFill>
              </a:rPr>
              <a:t>en</a:t>
            </a:r>
            <a:r>
              <a:rPr sz="1600" dirty="0">
                <a:solidFill>
                  <a:srgbClr val="000000"/>
                </a:solidFill>
              </a:rPr>
              <a:t> Railway (</a:t>
            </a:r>
            <a:r>
              <a:rPr sz="1600" dirty="0" err="1">
                <a:solidFill>
                  <a:srgbClr val="000000"/>
                </a:solidFill>
              </a:rPr>
              <a:t>entorno</a:t>
            </a:r>
            <a:r>
              <a:rPr sz="1600" dirty="0">
                <a:solidFill>
                  <a:srgbClr val="000000"/>
                </a:solidFill>
              </a:rPr>
              <a:t> QA).</a:t>
            </a:r>
          </a:p>
        </p:txBody>
      </p:sp>
      <p:sp>
        <p:nvSpPr>
          <p:cNvPr id="1028" name="Rounded Rectangle 1027"/>
          <p:cNvSpPr/>
          <p:nvPr/>
        </p:nvSpPr>
        <p:spPr>
          <a:xfrm>
            <a:off x="6577091" y="2500000"/>
            <a:ext cx="4900000" cy="370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100000" rIns="150000" rtlCol="0" anchor="t"/>
          <a:lstStyle/>
          <a:p>
            <a:pPr algn="l">
              <a:spcAft>
                <a:spcPts val="600"/>
              </a:spcAft>
            </a:pPr>
            <a:r>
              <a:rPr sz="1800" b="1" dirty="0" err="1">
                <a:solidFill>
                  <a:srgbClr val="000000"/>
                </a:solidFill>
              </a:rPr>
              <a:t>Parcial y pendiente</a:t>
            </a:r>
            <a:endParaRPr sz="1800" b="1" dirty="0">
              <a:solidFill>
                <a:srgbClr val="000000"/>
              </a:solidFill>
            </a:endParaRPr>
          </a:p>
          <a:p>
            <a:pPr marL="228600" indent="-228600" algn="just">
              <a:spcAft>
                <a:spcPts val="400"/>
              </a:spcAft>
              <a:buChar char="•"/>
            </a:pPr>
            <a:r>
              <a:rPr sz="1400" dirty="0" err="1">
                <a:solidFill>
                  <a:srgbClr val="000000"/>
                </a:solidFill>
              </a:rPr>
              <a:t>Parcial: vistas de contenido y revisión (solo lectura).</a:t>
            </a:r>
          </a:p>
          <a:p>
            <a:pPr marL="228600" indent="-228600" algn="just">
              <a:spcAft>
                <a:spcPts val="400"/>
              </a:spcAft>
              <a:buChar char="•"/>
            </a:pPr>
            <a:r>
              <a:rPr sz="1400" dirty="0" err="1">
                <a:solidFill>
                  <a:srgbClr val="000000"/>
                </a:solidFill>
              </a:rPr>
              <a:t>Parcial: flujo de aprobación definido, sin acciones conectadas.</a:t>
            </a:r>
          </a:p>
          <a:p>
            <a:pPr marL="228600" indent="-228600" algn="just">
              <a:spcAft>
                <a:spcPts val="400"/>
              </a:spcAft>
              <a:buChar char="•"/>
            </a:pPr>
            <a:r>
              <a:rPr sz="1400" dirty="0" err="1">
                <a:solidFill>
                  <a:srgbClr val="000000"/>
                </a:solidFill>
              </a:rPr>
              <a:t>Pendiente: crear y editar artículos desde el panel.</a:t>
            </a:r>
          </a:p>
          <a:p>
            <a:pPr marL="228600" indent="-228600" algn="just">
              <a:spcAft>
                <a:spcPts val="400"/>
              </a:spcAft>
              <a:buChar char="•"/>
            </a:pPr>
            <a:r>
              <a:rPr sz="1400" dirty="0" err="1">
                <a:solidFill>
                  <a:srgbClr val="000000"/>
                </a:solidFill>
              </a:rPr>
              <a:t>Pendiente</a:t>
            </a:r>
            <a:r>
              <a:rPr sz="1400" dirty="0">
                <a:solidFill>
                  <a:srgbClr val="000000"/>
                </a:solidFill>
              </a:rPr>
              <a:t>: </a:t>
            </a:r>
            <a:r>
              <a:rPr sz="1400" dirty="0" err="1">
                <a:solidFill>
                  <a:srgbClr val="000000"/>
                </a:solidFill>
              </a:rPr>
              <a:t>integración</a:t>
            </a:r>
            <a:r>
              <a:rPr sz="1400" dirty="0">
                <a:solidFill>
                  <a:srgbClr val="000000"/>
                </a:solidFill>
              </a:rPr>
              <a:t> de </a:t>
            </a:r>
            <a:r>
              <a:rPr lang="es-CL" sz="1400" dirty="0">
                <a:solidFill>
                  <a:srgbClr val="000000"/>
                </a:solidFill>
              </a:rPr>
              <a:t>modelo de ML</a:t>
            </a:r>
            <a:r>
              <a:rPr sz="1400" dirty="0">
                <a:solidFill>
                  <a:srgbClr val="000000"/>
                </a:solidFill>
              </a:rPr>
              <a:t> (fuera del </a:t>
            </a:r>
            <a:r>
              <a:rPr sz="1400" dirty="0" err="1">
                <a:solidFill>
                  <a:srgbClr val="000000"/>
                </a:solidFill>
              </a:rPr>
              <a:t>alcance</a:t>
            </a:r>
            <a:r>
              <a:rPr sz="1400" dirty="0">
                <a:solidFill>
                  <a:srgbClr val="000000"/>
                </a:solidFill>
              </a:rPr>
              <a:t> actual).</a:t>
            </a:r>
          </a:p>
          <a:p>
            <a:pPr marL="228600" indent="-228600" algn="just">
              <a:spcAft>
                <a:spcPts val="400"/>
              </a:spcAft>
              <a:buChar char="•"/>
            </a:pPr>
            <a:r>
              <a:rPr sz="1400" dirty="0" err="1">
                <a:solidFill>
                  <a:srgbClr val="000000"/>
                </a:solidFill>
              </a:rPr>
              <a:t>Pendiente: entorno de producción y dominio propio.</a:t>
            </a:r>
          </a:p>
          <a:p>
            <a:pPr marL="228600" indent="-228600" algn="just">
              <a:spcAft>
                <a:spcPts val="400"/>
              </a:spcAft>
              <a:buChar char="•"/>
            </a:pPr>
            <a:r>
              <a:rPr sz="1400" dirty="0" err="1">
                <a:solidFill>
                  <a:srgbClr val="000000"/>
                </a:solidFill>
              </a:rPr>
              <a:t>Pendiente</a:t>
            </a:r>
            <a:r>
              <a:rPr sz="1400" dirty="0">
                <a:solidFill>
                  <a:srgbClr val="000000"/>
                </a:solidFill>
              </a:rPr>
              <a:t>: </a:t>
            </a:r>
            <a:r>
              <a:rPr sz="1400" dirty="0" err="1">
                <a:solidFill>
                  <a:srgbClr val="000000"/>
                </a:solidFill>
              </a:rPr>
              <a:t>pruebas</a:t>
            </a:r>
            <a:r>
              <a:rPr sz="1400" dirty="0">
                <a:solidFill>
                  <a:srgbClr val="000000"/>
                </a:solidFill>
              </a:rPr>
              <a:t> </a:t>
            </a:r>
            <a:r>
              <a:rPr sz="1400" dirty="0" err="1">
                <a:solidFill>
                  <a:srgbClr val="000000"/>
                </a:solidFill>
              </a:rPr>
              <a:t>automatizadas</a:t>
            </a:r>
            <a:r>
              <a:rPr sz="1400" dirty="0">
                <a:solidFill>
                  <a:srgbClr val="000000"/>
                </a:solidFill>
              </a:rPr>
              <a:t> y </a:t>
            </a:r>
            <a:r>
              <a:rPr sz="1400" dirty="0" err="1">
                <a:solidFill>
                  <a:srgbClr val="000000"/>
                </a:solidFill>
              </a:rPr>
              <a:t>recuperación</a:t>
            </a:r>
            <a:r>
              <a:rPr sz="1400" dirty="0">
                <a:solidFill>
                  <a:srgbClr val="000000"/>
                </a:solidFill>
              </a:rPr>
              <a:t> de </a:t>
            </a:r>
            <a:r>
              <a:rPr sz="1400" dirty="0" err="1">
                <a:solidFill>
                  <a:srgbClr val="000000"/>
                </a:solidFill>
              </a:rPr>
              <a:t>contraseña</a:t>
            </a:r>
            <a:r>
              <a:rPr sz="1400" dirty="0">
                <a:solidFill>
                  <a:srgbClr val="000000"/>
                </a:solidFill>
              </a:rPr>
              <a:t>.</a:t>
            </a:r>
            <a:endParaRPr lang="es-CL" sz="1400" dirty="0">
              <a:solidFill>
                <a:srgbClr val="000000"/>
              </a:solidFill>
            </a:endParaRPr>
          </a:p>
          <a:p>
            <a:pPr marL="228600" indent="-228600" algn="just">
              <a:spcAft>
                <a:spcPts val="400"/>
              </a:spcAft>
              <a:buChar char="•"/>
            </a:pPr>
            <a:r>
              <a:rPr lang="es-CL" sz="1400" dirty="0">
                <a:solidFill>
                  <a:srgbClr val="000000"/>
                </a:solidFill>
              </a:rPr>
              <a:t>Pendiente: integración del rol de desarrollador.</a:t>
            </a:r>
            <a:endParaRPr sz="1400" dirty="0" err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4893737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Dificultades y aprendizajes</a:t>
            </a:r>
          </a:p>
        </p:txBody>
      </p:sp>
      <p:sp>
        <p:nvSpPr>
          <p:cNvPr id="1027" name="Rounded Rectangle 1026"/>
          <p:cNvSpPr/>
          <p:nvPr/>
        </p:nvSpPr>
        <p:spPr>
          <a:xfrm>
            <a:off x="600000" y="2250000"/>
            <a:ext cx="5300000" cy="200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100000" rIns="150000" rtlCol="0" anchor="t"/>
          <a:lstStyle/>
          <a:p>
            <a:pPr algn="l">
              <a:spcAft>
                <a:spcPts val="600"/>
              </a:spcAft>
            </a:pPr>
            <a:r>
              <a:rPr sz="1600" b="1" dirty="0">
                <a:solidFill>
                  <a:srgbClr val="000000"/>
                </a:solidFill>
              </a:rPr>
              <a:t>1. </a:t>
            </a:r>
            <a:r>
              <a:rPr sz="1600" b="1" dirty="0" err="1">
                <a:solidFill>
                  <a:srgbClr val="000000"/>
                </a:solidFill>
              </a:rPr>
              <a:t>Autenticación</a:t>
            </a:r>
            <a:endParaRPr sz="1600" b="1" dirty="0">
              <a:solidFill>
                <a:srgbClr val="000000"/>
              </a:solidFill>
            </a:endParaRPr>
          </a:p>
          <a:p>
            <a:pPr marL="228600" indent="-228600" algn="just">
              <a:spcAft>
                <a:spcPts val="400"/>
              </a:spcAft>
              <a:buChar char="•"/>
            </a:pPr>
            <a:r>
              <a:rPr sz="1600" dirty="0">
                <a:solidFill>
                  <a:srgbClr val="000000"/>
                </a:solidFill>
              </a:rPr>
              <a:t>Se </a:t>
            </a:r>
            <a:r>
              <a:rPr sz="1600" dirty="0" err="1">
                <a:solidFill>
                  <a:srgbClr val="000000"/>
                </a:solidFill>
              </a:rPr>
              <a:t>reemplazó</a:t>
            </a:r>
            <a:r>
              <a:rPr sz="1600" dirty="0">
                <a:solidFill>
                  <a:srgbClr val="000000"/>
                </a:solidFill>
              </a:rPr>
              <a:t> el </a:t>
            </a:r>
            <a:r>
              <a:rPr sz="1600" dirty="0" err="1">
                <a:solidFill>
                  <a:srgbClr val="000000"/>
                </a:solidFill>
              </a:rPr>
              <a:t>proveedor</a:t>
            </a:r>
            <a:r>
              <a:rPr sz="1600" dirty="0">
                <a:solidFill>
                  <a:srgbClr val="000000"/>
                </a:solidFill>
              </a:rPr>
              <a:t> </a:t>
            </a:r>
            <a:r>
              <a:rPr sz="1600" dirty="0" err="1">
                <a:solidFill>
                  <a:srgbClr val="000000"/>
                </a:solidFill>
              </a:rPr>
              <a:t>externo</a:t>
            </a:r>
            <a:r>
              <a:rPr sz="1600" dirty="0">
                <a:solidFill>
                  <a:srgbClr val="000000"/>
                </a:solidFill>
              </a:rPr>
              <a:t> </a:t>
            </a:r>
            <a:r>
              <a:rPr sz="1600" dirty="0" err="1">
                <a:solidFill>
                  <a:srgbClr val="000000"/>
                </a:solidFill>
              </a:rPr>
              <a:t>por</a:t>
            </a:r>
            <a:r>
              <a:rPr sz="1600" dirty="0">
                <a:solidFill>
                  <a:srgbClr val="000000"/>
                </a:solidFill>
              </a:rPr>
              <a:t> un login </a:t>
            </a:r>
            <a:r>
              <a:rPr sz="1600" dirty="0" err="1">
                <a:solidFill>
                  <a:srgbClr val="000000"/>
                </a:solidFill>
              </a:rPr>
              <a:t>propio</a:t>
            </a:r>
            <a:r>
              <a:rPr sz="1600" dirty="0">
                <a:solidFill>
                  <a:srgbClr val="000000"/>
                </a:solidFill>
              </a:rPr>
              <a:t> con JWT y roles.</a:t>
            </a:r>
          </a:p>
          <a:p>
            <a:pPr marL="228600" indent="-228600" algn="just">
              <a:spcAft>
                <a:spcPts val="400"/>
              </a:spcAft>
              <a:buChar char="•"/>
            </a:pPr>
            <a:r>
              <a:rPr sz="1600" dirty="0">
                <a:solidFill>
                  <a:srgbClr val="000000"/>
                </a:solidFill>
              </a:rPr>
              <a:t>Se </a:t>
            </a:r>
            <a:r>
              <a:rPr sz="1600" dirty="0" err="1">
                <a:solidFill>
                  <a:srgbClr val="000000"/>
                </a:solidFill>
              </a:rPr>
              <a:t>verificó</a:t>
            </a:r>
            <a:r>
              <a:rPr sz="1600" dirty="0">
                <a:solidFill>
                  <a:srgbClr val="000000"/>
                </a:solidFill>
              </a:rPr>
              <a:t> el </a:t>
            </a:r>
            <a:r>
              <a:rPr sz="1600" dirty="0" err="1">
                <a:solidFill>
                  <a:srgbClr val="000000"/>
                </a:solidFill>
              </a:rPr>
              <a:t>flujo</a:t>
            </a:r>
            <a:r>
              <a:rPr sz="1600" dirty="0">
                <a:solidFill>
                  <a:srgbClr val="000000"/>
                </a:solidFill>
              </a:rPr>
              <a:t> </a:t>
            </a:r>
            <a:r>
              <a:rPr sz="1600" dirty="0" err="1">
                <a:solidFill>
                  <a:srgbClr val="000000"/>
                </a:solidFill>
              </a:rPr>
              <a:t>completo</a:t>
            </a:r>
            <a:r>
              <a:rPr sz="1600" dirty="0">
                <a:solidFill>
                  <a:srgbClr val="000000"/>
                </a:solidFill>
              </a:rPr>
              <a:t>: login, </a:t>
            </a:r>
            <a:r>
              <a:rPr sz="1600" dirty="0" err="1">
                <a:solidFill>
                  <a:srgbClr val="000000"/>
                </a:solidFill>
              </a:rPr>
              <a:t>rutas</a:t>
            </a:r>
            <a:r>
              <a:rPr sz="1600" dirty="0">
                <a:solidFill>
                  <a:srgbClr val="000000"/>
                </a:solidFill>
              </a:rPr>
              <a:t> </a:t>
            </a:r>
            <a:r>
              <a:rPr sz="1600" dirty="0" err="1">
                <a:solidFill>
                  <a:srgbClr val="000000"/>
                </a:solidFill>
              </a:rPr>
              <a:t>protegidas</a:t>
            </a:r>
            <a:r>
              <a:rPr sz="1600" dirty="0">
                <a:solidFill>
                  <a:srgbClr val="000000"/>
                </a:solidFill>
              </a:rPr>
              <a:t> y CRUD.</a:t>
            </a:r>
          </a:p>
        </p:txBody>
      </p:sp>
      <p:sp>
        <p:nvSpPr>
          <p:cNvPr id="1029" name="Rounded Rectangle 1028"/>
          <p:cNvSpPr/>
          <p:nvPr/>
        </p:nvSpPr>
        <p:spPr>
          <a:xfrm>
            <a:off x="6303094" y="2247344"/>
            <a:ext cx="5300000" cy="200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100000" rIns="150000" bIns="45720" rtlCol="0" anchor="t"/>
          <a:lstStyle/>
          <a:p>
            <a:pPr algn="l">
              <a:spcAft>
                <a:spcPts val="600"/>
              </a:spcAft>
            </a:pPr>
            <a:r>
              <a:rPr lang="es-ES" sz="1600" b="1" dirty="0">
                <a:solidFill>
                  <a:srgbClr val="000000"/>
                </a:solidFill>
              </a:rPr>
              <a:t>2. Despliegue y datos</a:t>
            </a:r>
            <a:endParaRPr lang="es-ES" sz="1600" b="1" dirty="0">
              <a:solidFill>
                <a:srgbClr val="000000"/>
              </a:solidFill>
              <a:ea typeface="Calibri"/>
              <a:cs typeface="Calibri"/>
            </a:endParaRPr>
          </a:p>
          <a:p>
            <a:pPr marL="228600" indent="-228600" algn="just">
              <a:spcAft>
                <a:spcPts val="400"/>
              </a:spcAft>
              <a:buChar char="•"/>
            </a:pPr>
            <a:r>
              <a:rPr sz="1600" dirty="0" err="1">
                <a:solidFill>
                  <a:srgbClr val="000000"/>
                </a:solidFill>
              </a:rPr>
              <a:t>Variables de entorno y red de Railway distintas entre build y ejecución.</a:t>
            </a:r>
            <a:endParaRPr sz="1600" dirty="0">
              <a:solidFill>
                <a:srgbClr val="000000"/>
              </a:solidFill>
              <a:ea typeface="Calibri"/>
              <a:cs typeface="Calibri"/>
            </a:endParaRPr>
          </a:p>
          <a:p>
            <a:pPr marL="228600" indent="-228600" algn="just">
              <a:spcAft>
                <a:spcPts val="400"/>
              </a:spcAft>
              <a:buChar char="•"/>
            </a:pPr>
            <a:r>
              <a:rPr sz="1600" dirty="0" err="1">
                <a:solidFill>
                  <a:srgbClr val="000000"/>
                </a:solidFill>
              </a:rPr>
              <a:t>Migración de datos existentes a la tabla de roles sin perder usuarios.</a:t>
            </a:r>
            <a:endParaRPr sz="1600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1030" name="Rounded Rectangle 1029"/>
          <p:cNvSpPr/>
          <p:nvPr/>
        </p:nvSpPr>
        <p:spPr>
          <a:xfrm>
            <a:off x="3656813" y="4450000"/>
            <a:ext cx="5300000" cy="200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100000" rIns="150000" bIns="45720" rtlCol="0" anchor="t"/>
          <a:lstStyle/>
          <a:p>
            <a:pPr algn="l">
              <a:spcAft>
                <a:spcPts val="600"/>
              </a:spcAft>
            </a:pPr>
            <a:r>
              <a:rPr lang="es-ES" sz="1600" b="1" dirty="0">
                <a:solidFill>
                  <a:srgbClr val="000000"/>
                </a:solidFill>
              </a:rPr>
              <a:t>3. Alcance y aprendizajes</a:t>
            </a:r>
            <a:endParaRPr lang="es-ES" sz="1600" b="1" dirty="0">
              <a:solidFill>
                <a:srgbClr val="000000"/>
              </a:solidFill>
              <a:ea typeface="Calibri"/>
              <a:cs typeface="Calibri"/>
            </a:endParaRPr>
          </a:p>
          <a:p>
            <a:pPr marL="228600" indent="-228600" algn="l">
              <a:spcAft>
                <a:spcPts val="400"/>
              </a:spcAft>
              <a:buChar char="•"/>
            </a:pPr>
            <a:r>
              <a:rPr sz="1600" dirty="0">
                <a:solidFill>
                  <a:srgbClr val="000000"/>
                </a:solidFill>
              </a:rPr>
              <a:t>La IA no se integró: se priorizó plataforma, seguridad y datos.</a:t>
            </a:r>
            <a:endParaRPr sz="1600" dirty="0">
              <a:solidFill>
                <a:srgbClr val="000000"/>
              </a:solidFill>
              <a:ea typeface="Calibri"/>
              <a:cs typeface="Calibri"/>
            </a:endParaRPr>
          </a:p>
          <a:p>
            <a:pPr marL="228600" indent="-228600" algn="l">
              <a:spcAft>
                <a:spcPts val="400"/>
              </a:spcAft>
              <a:buChar char="•"/>
            </a:pPr>
            <a:r>
              <a:rPr sz="1600" dirty="0">
                <a:solidFill>
                  <a:srgbClr val="000000"/>
                </a:solidFill>
              </a:rPr>
              <a:t>Aprendimos a fijar arquitectura y seguridad antes de sumar funciones.</a:t>
            </a:r>
            <a:endParaRPr sz="1600" dirty="0">
              <a:solidFill>
                <a:srgbClr val="00000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66268508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DEMOSTRACIÓN DEL RESULTADO DEL PROYECTO</a:t>
            </a:r>
          </a:p>
          <a:p>
            <a:pPr algn="ctr"/>
            <a:r>
              <a:rPr lang="es-MX" sz="2400" dirty="0">
                <a:solidFill>
                  <a:schemeClr val="bg2">
                    <a:lumMod val="50000"/>
                  </a:schemeClr>
                </a:solidFill>
              </a:rPr>
              <a:t>Entorno QA: nodoia-cchia.up.railway.app</a:t>
            </a:r>
            <a:endParaRPr lang="es-CL" sz="2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9174681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PREGUNTAS DE LA COMISIÓN</a:t>
            </a:r>
          </a:p>
        </p:txBody>
      </p:sp>
    </p:spTree>
    <p:extLst>
      <p:ext uri="{BB962C8B-B14F-4D97-AF65-F5344CB8AC3E}">
        <p14:creationId xmlns:p14="http://schemas.microsoft.com/office/powerpoint/2010/main" val="4158079731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1932</Words>
  <Application>Microsoft Office PowerPoint</Application>
  <PresentationFormat>Widescreen</PresentationFormat>
  <Paragraphs>276</Paragraphs>
  <Slides>16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Gerardo Galan Cruz</dc:creator>
  <cp:lastModifiedBy>joaquin torres</cp:lastModifiedBy>
  <cp:revision>184</cp:revision>
  <dcterms:created xsi:type="dcterms:W3CDTF">2023-10-28T21:12:11Z</dcterms:created>
  <dcterms:modified xsi:type="dcterms:W3CDTF">2026-10-19T22:27:05Z</dcterms:modified>
</cp:coreProperties>
</file>