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3"/>
  </p:notesMasterIdLst>
  <p:sldIdLst>
    <p:sldId id="256" r:id="rId2"/>
    <p:sldId id="257" r:id="rId3"/>
    <p:sldId id="258" r:id="rId4"/>
    <p:sldId id="259" r:id="rId5"/>
    <p:sldId id="261" r:id="rId6"/>
    <p:sldId id="262" r:id="rId7"/>
    <p:sldId id="263" r:id="rId8"/>
    <p:sldId id="264" r:id="rId9"/>
    <p:sldId id="265" r:id="rId10"/>
    <p:sldId id="266" r:id="rId11"/>
    <p:sldId id="260" r:id="rId12"/>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90311602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s-ES"/>
              <a:t>Hola, somos el Equipo 8 de la asignatura Capstone. Hoy presentamos nuestra propuesta de Proyecto APT: una plataforma de publicación asistida por IA para la Cámara Chilena de Inteligencia Artificial (CCHIA). Vamos a contarles el problema, los objetivos, la metodología y el plan de trabajo. Al final quedamos disponibles para preguntas. (~1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s-ES"/>
              <a:t>El problema central: la CCHIA no cuenta con una plataforma que permita transformar su información en contenido público de forma ágil y centralizada. Hoy la preparación de artículos, boletines y la revista institucional es principalmente manual; no existe un flujo integrado de recopilación, generación, revisión y publicación; las publicaciones internas tienen circulación restringida y no hay un mecanismo ágil para publicar contenido abierto. (~3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s-ES"/>
              <a:t>Nuestro objetivo general es desarrollar una plataforma web que permita a la CCHIA publicar contenido de forma pública, con redacción asistida por IA y revisión humana previa a la publicación. El flujo de la solución es: recopilación, generación con IA, revisión humana, aprobación y publicación. La IA es una herramienta de apoyo: la decisión final siempre queda bajo control humano. (~2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s-ES"/>
              <a:t>Para alcanzar ese objetivo definimos cinco metas concretas: recopilar y organizar la información, incorporar la IA como apoyo en la creación, establecer el flujo de revisión y aprobación humana, gestionar los contenidos dentro de la plataforma y publicarlos de forma organizada y accesible al público. (~2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171450" y="1143000"/>
            <a:ext cx="5486400" cy="3086100"/>
          </a:xfrm>
          <a:prstGeom prst="rect">
            <a:avLst/>
          </a:prstGeom>
          <a:noFill/>
          <a:ln w="12700">
            <a:solidFill>
              <a:prstClr val="black"/>
            </a:solidFill>
          </a:ln>
        </p:spPr>
      </p:sp>
      <p:sp>
        <p:nvSpPr>
          <p:cNvPr id="3" name="Marcador de notas 2"/>
          <p:cNvSpPr>
            <a:spLocks noGrp="1"/>
          </p:cNvSpPr>
          <p:nvPr>
            <p:ph type="body" idx="1"/>
          </p:nvPr>
        </p:nvSpPr>
        <p:spPr>
          <a:xfrm>
            <a:off x="514350" y="4400550"/>
            <a:ext cx="4114800" cy="3600450"/>
          </a:xfrm>
          <a:prstGeom prst="rect">
            <a:avLst/>
          </a:prstGeom>
        </p:spPr>
        <p:txBody>
          <a:bodyPr/>
          <a:lstStyle/>
          <a:p>
            <a:r>
              <a:rPr lang="es-ES"/>
              <a:t>En concreto, el proyecto es una revista digital abierta al público donde la CCHIA podrá publicar sus artículos y boletines. La IA apoya la redacción de contenidos, pero hay una instancia obligatoria de revisión y validación humana antes de publicar. El cliente es real: la Cámara Chilena de Inteligencia Artificial, una organización gremial sin fines de lucro. (~3 min)</a:t>
            </a:r>
            <a:endParaRPr lang="es-CL"/>
          </a:p>
        </p:txBody>
      </p:sp>
    </p:spTree>
    <p:extLst>
      <p:ext uri="{BB962C8B-B14F-4D97-AF65-F5344CB8AC3E}">
        <p14:creationId xmlns:p14="http://schemas.microsoft.com/office/powerpoint/2010/main" val="166875146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171450" y="1143000"/>
            <a:ext cx="5486400" cy="3086100"/>
          </a:xfrm>
          <a:prstGeom prst="rect">
            <a:avLst/>
          </a:prstGeom>
          <a:noFill/>
          <a:ln w="12700">
            <a:solidFill>
              <a:prstClr val="black"/>
            </a:solidFill>
          </a:ln>
        </p:spPr>
      </p:sp>
      <p:sp>
        <p:nvSpPr>
          <p:cNvPr id="3" name="Marcador de notas 2"/>
          <p:cNvSpPr>
            <a:spLocks noGrp="1"/>
          </p:cNvSpPr>
          <p:nvPr>
            <p:ph type="body" idx="1"/>
          </p:nvPr>
        </p:nvSpPr>
        <p:spPr>
          <a:xfrm>
            <a:off x="514350" y="4400550"/>
            <a:ext cx="4114800" cy="3600450"/>
          </a:xfrm>
          <a:prstGeom prst="rect">
            <a:avLst/>
          </a:prstGeom>
        </p:spPr>
        <p:txBody>
          <a:bodyPr/>
          <a:lstStyle/>
          <a:p>
            <a:r>
              <a:rPr lang="es-ES"/>
              <a:t>El proyecto moviliza las competencias del perfil de egreso de Ingeniería en Informática: desarrollo de software, gestión de proyectos informáticos, modelos de datos, pruebas de certificación y el trabajo con un cliente real, levantando requerimientos y asegurando la calidad del producto final. (~3 min)</a:t>
            </a:r>
            <a:endParaRPr lang="es-CL"/>
          </a:p>
        </p:txBody>
      </p:sp>
    </p:spTree>
    <p:extLst>
      <p:ext uri="{BB962C8B-B14F-4D97-AF65-F5344CB8AC3E}">
        <p14:creationId xmlns:p14="http://schemas.microsoft.com/office/powerpoint/2010/main" val="396248835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171450" y="1143000"/>
            <a:ext cx="5486400" cy="3086100"/>
          </a:xfrm>
          <a:prstGeom prst="rect">
            <a:avLst/>
          </a:prstGeom>
          <a:noFill/>
          <a:ln w="12700">
            <a:solidFill>
              <a:prstClr val="black"/>
            </a:solidFill>
          </a:ln>
        </p:spPr>
      </p:sp>
      <p:sp>
        <p:nvSpPr>
          <p:cNvPr id="3" name="Marcador de notas 2"/>
          <p:cNvSpPr>
            <a:spLocks noGrp="1"/>
          </p:cNvSpPr>
          <p:nvPr>
            <p:ph type="body" idx="1"/>
          </p:nvPr>
        </p:nvSpPr>
        <p:spPr>
          <a:xfrm>
            <a:off x="514350" y="4400550"/>
            <a:ext cx="4114800" cy="3600450"/>
          </a:xfrm>
          <a:prstGeom prst="rect">
            <a:avLst/>
          </a:prstGeom>
        </p:spPr>
        <p:txBody>
          <a:bodyPr/>
          <a:lstStyle/>
          <a:p>
            <a:r>
              <a:rPr lang="es-ES"/>
              <a:t>Como equipo nos interesa la ingeniería de software aplicada a la innovación y la digitalización de organizaciones, la IA aplicada a flujos de trabajo reales y supervisados, y enfrentar un caso de estudio real de principio a fin. También la transformación digital y el trabajo en equipo con roles complementarios. (~2 min)</a:t>
            </a:r>
            <a:endParaRPr lang="es-CL"/>
          </a:p>
        </p:txBody>
      </p:sp>
    </p:spTree>
    <p:extLst>
      <p:ext uri="{BB962C8B-B14F-4D97-AF65-F5344CB8AC3E}">
        <p14:creationId xmlns:p14="http://schemas.microsoft.com/office/powerpoint/2010/main" val="295540916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171450" y="1143000"/>
            <a:ext cx="5486400" cy="3086100"/>
          </a:xfrm>
          <a:prstGeom prst="rect">
            <a:avLst/>
          </a:prstGeom>
          <a:noFill/>
          <a:ln w="12700">
            <a:solidFill>
              <a:prstClr val="black"/>
            </a:solidFill>
          </a:ln>
        </p:spPr>
      </p:sp>
      <p:sp>
        <p:nvSpPr>
          <p:cNvPr id="3" name="Marcador de notas 2"/>
          <p:cNvSpPr>
            <a:spLocks noGrp="1"/>
          </p:cNvSpPr>
          <p:nvPr>
            <p:ph type="body" idx="1"/>
          </p:nvPr>
        </p:nvSpPr>
        <p:spPr>
          <a:xfrm>
            <a:off x="514350" y="4400550"/>
            <a:ext cx="4114800" cy="3600450"/>
          </a:xfrm>
          <a:prstGeom prst="rect">
            <a:avLst/>
          </a:prstGeom>
        </p:spPr>
        <p:txBody>
          <a:bodyPr/>
          <a:lstStyle/>
          <a:p>
            <a:r>
              <a:rPr lang="es-ES"/>
              <a:t>¿Por qué es factible? Tenemos 18 semanas de semestre, los materiales necesarios (computador, IDE, frameworks web y APIs de IA), un cliente disponible para el levantamiento de requisitos y horas de taller y trabajo autónomo. El principal riesgo, cambios en los requerimientos, lo mitigamos con hitos de revisión y entregas iterativas. (~2 min)</a:t>
            </a:r>
            <a:endParaRPr lang="es-CL"/>
          </a:p>
        </p:txBody>
      </p:sp>
    </p:spTree>
    <p:extLst>
      <p:ext uri="{BB962C8B-B14F-4D97-AF65-F5344CB8AC3E}">
        <p14:creationId xmlns:p14="http://schemas.microsoft.com/office/powerpoint/2010/main" val="323202324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171450" y="1143000"/>
            <a:ext cx="5486400" cy="3086100"/>
          </a:xfrm>
          <a:prstGeom prst="rect">
            <a:avLst/>
          </a:prstGeom>
          <a:noFill/>
          <a:ln w="12700">
            <a:solidFill>
              <a:prstClr val="black"/>
            </a:solidFill>
          </a:ln>
        </p:spPr>
      </p:sp>
      <p:sp>
        <p:nvSpPr>
          <p:cNvPr id="3" name="Marcador de notas 2"/>
          <p:cNvSpPr>
            <a:spLocks noGrp="1"/>
          </p:cNvSpPr>
          <p:nvPr>
            <p:ph type="body" idx="1"/>
          </p:nvPr>
        </p:nvSpPr>
        <p:spPr>
          <a:xfrm>
            <a:off x="514350" y="4400550"/>
            <a:ext cx="4114800" cy="3600450"/>
          </a:xfrm>
          <a:prstGeom prst="rect">
            <a:avLst/>
          </a:prstGeom>
        </p:spPr>
        <p:txBody>
          <a:bodyPr/>
          <a:lstStyle/>
          <a:p>
            <a:r>
              <a:rPr lang="es-ES"/>
              <a:t>Usamos una metodología ágil iterativa e incremental en tres fases: kickoff y levantamiento de requisitos, diseño e implementación con integración de IA, y pruebas con entrega final. Los roles del equipo: Joaquín lidera backend e IA, Carolina frontend y experiencia de usuario, y Maicol documentación, requisitos y coordinación. (~3 min)</a:t>
            </a:r>
            <a:endParaRPr lang="es-CL"/>
          </a:p>
        </p:txBody>
      </p:sp>
    </p:spTree>
    <p:extLst>
      <p:ext uri="{BB962C8B-B14F-4D97-AF65-F5344CB8AC3E}">
        <p14:creationId xmlns:p14="http://schemas.microsoft.com/office/powerpoint/2010/main" val="203363281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171450" y="1143000"/>
            <a:ext cx="5486400" cy="3086100"/>
          </a:xfrm>
          <a:prstGeom prst="rect">
            <a:avLst/>
          </a:prstGeom>
          <a:noFill/>
          <a:ln w="12700">
            <a:solidFill>
              <a:prstClr val="black"/>
            </a:solidFill>
          </a:ln>
        </p:spPr>
      </p:sp>
      <p:sp>
        <p:nvSpPr>
          <p:cNvPr id="3" name="Marcador de notas 2"/>
          <p:cNvSpPr>
            <a:spLocks noGrp="1"/>
          </p:cNvSpPr>
          <p:nvPr>
            <p:ph type="body" idx="1"/>
          </p:nvPr>
        </p:nvSpPr>
        <p:spPr>
          <a:xfrm>
            <a:off x="514350" y="4400550"/>
            <a:ext cx="4114800" cy="3600450"/>
          </a:xfrm>
          <a:prstGeom prst="rect">
            <a:avLst/>
          </a:prstGeom>
        </p:spPr>
        <p:txBody>
          <a:bodyPr/>
          <a:lstStyle/>
          <a:p>
            <a:r>
              <a:rPr lang="es-ES"/>
              <a:t>El plan contempla 16 semanas efectivas: levantamiento en semanas 1-2, diseño y prototipo en 3-5, implementación en 6-13 y pruebas con despliegue en 14-16. Tenemos cuatro hitos: H1 requisitos aprobados (semana 2), H2 prototipo validado (semana 5), H3 módulo de IA integrado (semana 13) y H4 plataforma desplegada y aceptada (semana 16). Las semanas 17-18 quedan de margen para la entrega final. (~3 min)</a:t>
            </a:r>
            <a:endParaRPr lang="es-CL"/>
          </a:p>
        </p:txBody>
      </p:sp>
    </p:spTree>
    <p:extLst>
      <p:ext uri="{BB962C8B-B14F-4D97-AF65-F5344CB8AC3E}">
        <p14:creationId xmlns:p14="http://schemas.microsoft.com/office/powerpoint/2010/main" val="316237631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s-ES"/>
              <a:t>Eso es todo por nuestra parte. Agradecemos el tiempo y, como próximo paso, coordinaremos las reuniones de levantamiento de requisitos con el equipo de la CCHIA. Estamos disponibles para responder sus preguntas. (~1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2452"/>
        </a:solidFill>
        <a:effectLst/>
      </p:bgPr>
    </p:bg>
    <p:spTree>
      <p:nvGrpSpPr>
        <p:cNvPr id="1" name=""/>
        <p:cNvGrpSpPr/>
        <p:nvPr/>
      </p:nvGrpSpPr>
      <p:grpSpPr>
        <a:xfrm>
          <a:off x="0" y="0"/>
          <a:ext cx="0" cy="0"/>
          <a:chOff x="0" y="0"/>
          <a:chExt cx="0" cy="0"/>
        </a:xfrm>
      </p:grpSpPr>
      <p:sp>
        <p:nvSpPr>
          <p:cNvPr id="2" name="Text 0"/>
          <p:cNvSpPr txBox="1"/>
          <p:nvPr/>
        </p:nvSpPr>
        <p:spPr>
          <a:xfrm>
            <a:off x="457200" y="411480"/>
            <a:ext cx="5486400" cy="274320"/>
          </a:xfrm>
          <a:prstGeom prst="rect">
            <a:avLst/>
          </a:prstGeom>
          <a:noFill/>
          <a:ln/>
        </p:spPr>
        <p:txBody>
          <a:bodyPr wrap="square" lIns="0" tIns="0" rIns="0" bIns="0" rtlCol="0" anchor="t"/>
          <a:lstStyle/>
          <a:p>
            <a:pPr marL="0" indent="0">
              <a:buNone/>
            </a:pPr>
            <a:r>
              <a:rPr lang="en-US" sz="1100" b="1" kern="0" spc="300" dirty="0">
                <a:solidFill>
                  <a:srgbClr val="CADCFC"/>
                </a:solidFill>
                <a:latin typeface="Calibri" pitchFamily="34" charset="0"/>
                <a:ea typeface="Calibri" pitchFamily="34" charset="-122"/>
                <a:cs typeface="Calibri" pitchFamily="34" charset="-120"/>
              </a:rPr>
              <a:t>PTY4614-302D · EQUIPO 8</a:t>
            </a:r>
            <a:endParaRPr lang="en-US" sz="1100" dirty="0"/>
          </a:p>
        </p:txBody>
      </p:sp>
      <p:sp>
        <p:nvSpPr>
          <p:cNvPr id="3" name="Shape 1"/>
          <p:cNvSpPr txBox="1"/>
          <p:nvPr/>
        </p:nvSpPr>
        <p:spPr>
          <a:xfrm>
            <a:off x="8092440" y="438912"/>
            <a:ext cx="109728" cy="109728"/>
          </a:xfrm>
          <a:prstGeom prst="ellipse">
            <a:avLst/>
          </a:prstGeom>
          <a:solidFill>
            <a:srgbClr val="8FA8FF"/>
          </a:solidFill>
          <a:ln/>
        </p:spPr>
      </p:sp>
      <p:sp>
        <p:nvSpPr>
          <p:cNvPr id="4" name="Shape 2"/>
          <p:cNvSpPr txBox="1"/>
          <p:nvPr/>
        </p:nvSpPr>
        <p:spPr>
          <a:xfrm>
            <a:off x="8339328" y="566928"/>
            <a:ext cx="82296" cy="82296"/>
          </a:xfrm>
          <a:prstGeom prst="ellipse">
            <a:avLst/>
          </a:prstGeom>
          <a:solidFill>
            <a:srgbClr val="8FA8FF"/>
          </a:solidFill>
          <a:ln/>
        </p:spPr>
      </p:sp>
      <p:sp>
        <p:nvSpPr>
          <p:cNvPr id="5" name="Shape 3"/>
          <p:cNvSpPr txBox="1"/>
          <p:nvPr/>
        </p:nvSpPr>
        <p:spPr>
          <a:xfrm>
            <a:off x="8540496" y="384048"/>
            <a:ext cx="64008" cy="64008"/>
          </a:xfrm>
          <a:prstGeom prst="ellipse">
            <a:avLst/>
          </a:prstGeom>
          <a:solidFill>
            <a:srgbClr val="8FA8FF"/>
          </a:solidFill>
          <a:ln/>
        </p:spPr>
      </p:sp>
      <p:sp>
        <p:nvSpPr>
          <p:cNvPr id="6" name="Text 4"/>
          <p:cNvSpPr txBox="1"/>
          <p:nvPr/>
        </p:nvSpPr>
        <p:spPr>
          <a:xfrm>
            <a:off x="457200" y="1417320"/>
            <a:ext cx="8229600" cy="868680"/>
          </a:xfrm>
          <a:prstGeom prst="rect">
            <a:avLst/>
          </a:prstGeom>
          <a:noFill/>
          <a:ln/>
        </p:spPr>
        <p:txBody>
          <a:bodyPr wrap="square" lIns="0" tIns="0" rIns="0" bIns="0" rtlCol="0" anchor="t"/>
          <a:lstStyle/>
          <a:p>
            <a:pPr marL="0" indent="0">
              <a:buNone/>
            </a:pPr>
            <a:r>
              <a:rPr lang="en-US" sz="4800" b="1" dirty="0">
                <a:solidFill>
                  <a:srgbClr val="FFFFFF"/>
                </a:solidFill>
                <a:latin typeface="Calibri" pitchFamily="34" charset="0"/>
                <a:ea typeface="Calibri" pitchFamily="34" charset="-122"/>
                <a:cs typeface="Calibri" pitchFamily="34" charset="-120"/>
              </a:rPr>
              <a:t>Proyecto APT</a:t>
            </a:r>
            <a:endParaRPr lang="en-US" sz="4800" dirty="0"/>
          </a:p>
        </p:txBody>
      </p:sp>
      <p:sp>
        <p:nvSpPr>
          <p:cNvPr id="7" name="Text 5"/>
          <p:cNvSpPr txBox="1"/>
          <p:nvPr/>
        </p:nvSpPr>
        <p:spPr>
          <a:xfrm>
            <a:off x="457200" y="2331720"/>
            <a:ext cx="8229600" cy="457200"/>
          </a:xfrm>
          <a:prstGeom prst="rect">
            <a:avLst/>
          </a:prstGeom>
          <a:noFill/>
          <a:ln/>
        </p:spPr>
        <p:txBody>
          <a:bodyPr wrap="square" lIns="0" tIns="0" rIns="0" bIns="0" rtlCol="0" anchor="t"/>
          <a:lstStyle/>
          <a:p>
            <a:pPr marL="0" indent="0">
              <a:buNone/>
            </a:pPr>
            <a:r>
              <a:rPr lang="en-US" sz="2000" dirty="0">
                <a:solidFill>
                  <a:srgbClr val="CADCFC"/>
                </a:solidFill>
                <a:latin typeface="Calibri" pitchFamily="34" charset="0"/>
                <a:ea typeface="Calibri" pitchFamily="34" charset="-122"/>
                <a:cs typeface="Calibri" pitchFamily="34" charset="-120"/>
              </a:rPr>
              <a:t>Plataforma de Publicación Asistida por IA</a:t>
            </a:r>
            <a:endParaRPr lang="en-US" sz="2000" dirty="0"/>
          </a:p>
        </p:txBody>
      </p:sp>
      <p:sp>
        <p:nvSpPr>
          <p:cNvPr id="8" name="Text 6"/>
          <p:cNvSpPr txBox="1"/>
          <p:nvPr/>
        </p:nvSpPr>
        <p:spPr>
          <a:xfrm>
            <a:off x="457200" y="2926080"/>
            <a:ext cx="8229600" cy="365760"/>
          </a:xfrm>
          <a:prstGeom prst="rect">
            <a:avLst/>
          </a:prstGeom>
          <a:noFill/>
          <a:ln/>
        </p:spPr>
        <p:txBody>
          <a:bodyPr wrap="square" lIns="0" tIns="0" rIns="0" bIns="0" rtlCol="0" anchor="t"/>
          <a:lstStyle/>
          <a:p>
            <a:pPr marL="0" indent="0">
              <a:buNone/>
            </a:pPr>
            <a:r>
              <a:rPr lang="en-US" sz="1300" kern="0" spc="100" dirty="0">
                <a:solidFill>
                  <a:srgbClr val="8FA8FF"/>
                </a:solidFill>
                <a:latin typeface="Calibri" pitchFamily="34" charset="0"/>
                <a:ea typeface="Calibri" pitchFamily="34" charset="-122"/>
                <a:cs typeface="Calibri" pitchFamily="34" charset="-120"/>
              </a:rPr>
              <a:t>Problema · Objetivos · Descripción · Competencias · Intereses · Factibilidad · Metodología · Plan e hitos</a:t>
            </a:r>
            <a:endParaRPr lang="en-US" sz="1300" dirty="0"/>
          </a:p>
        </p:txBody>
      </p:sp>
      <p:sp>
        <p:nvSpPr>
          <p:cNvPr id="9" name="Shape 7"/>
          <p:cNvSpPr/>
          <p:nvPr/>
        </p:nvSpPr>
        <p:spPr>
          <a:xfrm>
            <a:off x="457200" y="3520440"/>
            <a:ext cx="8229600" cy="868680"/>
          </a:xfrm>
          <a:prstGeom prst="roundRect">
            <a:avLst>
              <a:gd name="adj" fmla="val 8421"/>
            </a:avLst>
          </a:prstGeom>
          <a:solidFill>
            <a:srgbClr val="27316B"/>
          </a:solidFill>
          <a:ln/>
        </p:spPr>
      </p:sp>
      <p:sp>
        <p:nvSpPr>
          <p:cNvPr id="10" name="Text 8"/>
          <p:cNvSpPr txBox="1"/>
          <p:nvPr/>
        </p:nvSpPr>
        <p:spPr>
          <a:xfrm>
            <a:off x="713232" y="3703320"/>
            <a:ext cx="7772400" cy="548640"/>
          </a:xfrm>
          <a:prstGeom prst="rect">
            <a:avLst/>
          </a:prstGeom>
          <a:noFill/>
          <a:ln/>
        </p:spPr>
        <p:txBody>
          <a:bodyPr wrap="square" lIns="0" tIns="0" rIns="0" bIns="0" rtlCol="0" anchor="ctr"/>
          <a:lstStyle/>
          <a:p>
            <a:pPr marL="0" indent="0">
              <a:spcAft>
                <a:spcPts val="400"/>
              </a:spcAft>
              <a:buNone/>
            </a:pPr>
            <a:r>
              <a:rPr lang="en-US" sz="1500" b="1" dirty="0">
                <a:solidFill>
                  <a:srgbClr val="FFFFFF"/>
                </a:solidFill>
                <a:latin typeface="Calibri" pitchFamily="34" charset="0"/>
                <a:ea typeface="Calibri" pitchFamily="34" charset="-122"/>
                <a:cs typeface="Calibri" pitchFamily="34" charset="-120"/>
              </a:rPr>
              <a:t>Cliente: Cámara Chilena de Inteligencia Artificial (CCHIA)</a:t>
            </a:r>
            <a:endParaRPr lang="en-US" sz="1500" dirty="0"/>
          </a:p>
          <a:p>
            <a:pPr marL="0" indent="0">
              <a:buNone/>
            </a:pPr>
            <a:r>
              <a:rPr lang="en-US" sz="1150" dirty="0">
                <a:solidFill>
                  <a:srgbClr val="CADCFC"/>
                </a:solidFill>
                <a:latin typeface="Calibri" pitchFamily="34" charset="0"/>
                <a:ea typeface="Calibri" pitchFamily="34" charset="-122"/>
                <a:cs typeface="Calibri" pitchFamily="34" charset="-120"/>
              </a:rPr>
              <a:t>Levantamiento de Requisitos Inicial · Fase 1</a:t>
            </a:r>
            <a:endParaRPr lang="en-US" sz="1500" dirty="0"/>
          </a:p>
        </p:txBody>
      </p:sp>
      <p:sp>
        <p:nvSpPr>
          <p:cNvPr id="11" name="Text 9"/>
          <p:cNvSpPr txBox="1"/>
          <p:nvPr/>
        </p:nvSpPr>
        <p:spPr>
          <a:xfrm>
            <a:off x="7315200" y="4864608"/>
            <a:ext cx="1371600" cy="228600"/>
          </a:xfrm>
          <a:prstGeom prst="rect">
            <a:avLst/>
          </a:prstGeom>
          <a:noFill/>
          <a:ln/>
        </p:spPr>
        <p:txBody>
          <a:bodyPr wrap="square" lIns="0" tIns="0" rIns="0" bIns="0" rtlCol="0" anchor="t"/>
          <a:lstStyle/>
          <a:p>
            <a:pPr marL="0" indent="0" algn="r">
              <a:buNone/>
            </a:pPr>
            <a:r>
              <a:rPr lang="en-US" sz="1050" dirty="0">
                <a:solidFill>
                  <a:srgbClr val="93A4DC"/>
                </a:solidFill>
                <a:latin typeface="Calibri" pitchFamily="34" charset="0"/>
                <a:ea typeface="Calibri" pitchFamily="34" charset="-122"/>
                <a:cs typeface="Calibri" pitchFamily="34" charset="-120"/>
              </a:rPr>
              <a:t>www.cchia.cl</a:t>
            </a:r>
            <a:endParaRPr lang="en-US" sz="10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B2452"/>
        </a:solidFill>
        <a:effectLst/>
      </p:bgPr>
    </p:bg>
    <p:spTree>
      <p:nvGrpSpPr>
        <p:cNvPr id="1" name=""/>
        <p:cNvGrpSpPr/>
        <p:nvPr/>
      </p:nvGrpSpPr>
      <p:grpSpPr>
        <a:xfrm>
          <a:off x="0" y="0"/>
          <a:ext cx="0" cy="0"/>
          <a:chOff x="0" y="0"/>
          <a:chExt cx="0" cy="0"/>
        </a:xfrm>
      </p:grpSpPr>
      <p:sp>
        <p:nvSpPr>
          <p:cNvPr id="2" name="Shape 0"/>
          <p:cNvSpPr txBox="1"/>
          <p:nvPr/>
        </p:nvSpPr>
        <p:spPr>
          <a:xfrm>
            <a:off x="457200" y="457200"/>
            <a:ext cx="411480" cy="411480"/>
          </a:xfrm>
          <a:prstGeom prst="ellipse">
            <a:avLst/>
          </a:prstGeom>
          <a:solidFill>
            <a:srgbClr val="8FA8FF"/>
          </a:solidFill>
          <a:ln/>
        </p:spPr>
      </p:sp>
      <p:sp>
        <p:nvSpPr>
          <p:cNvPr id="3" name="Text 1"/>
          <p:cNvSpPr txBox="1"/>
          <p:nvPr/>
        </p:nvSpPr>
        <p:spPr>
          <a:xfrm>
            <a:off x="457200" y="457200"/>
            <a:ext cx="411480" cy="411480"/>
          </a:xfrm>
          <a:prstGeom prst="rect">
            <a:avLst/>
          </a:prstGeom>
          <a:noFill/>
          <a:ln/>
        </p:spPr>
        <p:txBody>
          <a:bodyPr wrap="square" lIns="0" tIns="0" rIns="0" bIns="0" rtlCol="0" anchor="t"/>
          <a:lstStyle/>
          <a:p>
            <a:pPr marL="0" indent="0" algn="ctr">
              <a:buNone/>
            </a:pPr>
            <a:r>
              <a:rPr lang="en-US" sz="1300" b="1" dirty="0">
                <a:solidFill>
                  <a:srgbClr val="0F1633"/>
                </a:solidFill>
                <a:latin typeface="Calibri" pitchFamily="34" charset="0"/>
                <a:ea typeface="Calibri" pitchFamily="34" charset="-122"/>
                <a:cs typeface="Calibri" pitchFamily="34" charset="-120"/>
              </a:rPr>
              <a:t>1</a:t>
            </a:r>
            <a:endParaRPr lang="en-US" sz="1300" dirty="0"/>
          </a:p>
        </p:txBody>
      </p:sp>
      <p:sp>
        <p:nvSpPr>
          <p:cNvPr id="4" name="Text 2"/>
          <p:cNvSpPr txBox="1"/>
          <p:nvPr/>
        </p:nvSpPr>
        <p:spPr>
          <a:xfrm>
            <a:off x="1005840" y="384048"/>
            <a:ext cx="7498080" cy="566928"/>
          </a:xfrm>
          <a:prstGeom prst="rect">
            <a:avLst/>
          </a:prstGeom>
          <a:noFill/>
          <a:ln/>
        </p:spPr>
        <p:txBody>
          <a:bodyPr wrap="square" lIns="0" tIns="0" rIns="0" bIns="0" rtlCol="0" anchor="t"/>
          <a:lstStyle/>
          <a:p>
            <a:pPr marL="0" indent="0">
              <a:buNone/>
            </a:pPr>
            <a:r>
              <a:rPr lang="en-US" sz="3000" b="1" dirty="0">
                <a:solidFill>
                  <a:srgbClr val="FFFFFF"/>
                </a:solidFill>
                <a:latin typeface="Calibri" pitchFamily="34" charset="0"/>
                <a:ea typeface="Calibri" pitchFamily="34" charset="-122"/>
                <a:cs typeface="Calibri" pitchFamily="34" charset="-120"/>
              </a:rPr>
              <a:t>Planteamiento del Problema</a:t>
            </a:r>
            <a:endParaRPr lang="en-US" sz="3000" dirty="0"/>
          </a:p>
        </p:txBody>
      </p:sp>
      <p:sp>
        <p:nvSpPr>
          <p:cNvPr id="5" name="Text 3"/>
          <p:cNvSpPr txBox="1"/>
          <p:nvPr/>
        </p:nvSpPr>
        <p:spPr>
          <a:xfrm>
            <a:off x="1005840" y="960120"/>
            <a:ext cx="7680960" cy="292608"/>
          </a:xfrm>
          <a:prstGeom prst="rect">
            <a:avLst/>
          </a:prstGeom>
          <a:noFill/>
          <a:ln/>
        </p:spPr>
        <p:txBody>
          <a:bodyPr wrap="square" lIns="0" tIns="0" rIns="0" bIns="0" rtlCol="0" anchor="t"/>
          <a:lstStyle/>
          <a:p>
            <a:pPr marL="0" indent="0">
              <a:buNone/>
            </a:pPr>
            <a:r>
              <a:rPr lang="en-US" sz="1300" dirty="0">
                <a:solidFill>
                  <a:srgbClr val="CADCFC"/>
                </a:solidFill>
                <a:latin typeface="Calibri" pitchFamily="34" charset="0"/>
                <a:ea typeface="Calibri" pitchFamily="34" charset="-122"/>
                <a:cs typeface="Calibri" pitchFamily="34" charset="-120"/>
              </a:rPr>
              <a:t>Desafíos actuales que motivan el desarrollo de la plataforma.</a:t>
            </a:r>
            <a:endParaRPr lang="en-US" sz="1300" dirty="0"/>
          </a:p>
        </p:txBody>
      </p:sp>
      <p:sp>
        <p:nvSpPr>
          <p:cNvPr id="6" name="Shape 4"/>
          <p:cNvSpPr/>
          <p:nvPr/>
        </p:nvSpPr>
        <p:spPr>
          <a:xfrm>
            <a:off x="457200" y="1371600"/>
            <a:ext cx="8229600" cy="914400"/>
          </a:xfrm>
          <a:prstGeom prst="roundRect">
            <a:avLst>
              <a:gd name="adj" fmla="val 8000"/>
            </a:avLst>
          </a:prstGeom>
          <a:solidFill>
            <a:srgbClr val="27316B"/>
          </a:solidFill>
          <a:ln/>
        </p:spPr>
      </p:sp>
      <p:sp>
        <p:nvSpPr>
          <p:cNvPr id="7" name="Text 5"/>
          <p:cNvSpPr txBox="1"/>
          <p:nvPr/>
        </p:nvSpPr>
        <p:spPr>
          <a:xfrm>
            <a:off x="731520" y="1490472"/>
            <a:ext cx="7680960" cy="685800"/>
          </a:xfrm>
          <a:prstGeom prst="rect">
            <a:avLst/>
          </a:prstGeom>
          <a:noFill/>
          <a:ln/>
        </p:spPr>
        <p:txBody>
          <a:bodyPr wrap="square" lIns="0" tIns="0" rIns="0" bIns="0" rtlCol="0" anchor="t"/>
          <a:lstStyle/>
          <a:p>
            <a:pPr marL="0" indent="0">
              <a:spcAft>
                <a:spcPts val="500"/>
              </a:spcAft>
              <a:buNone/>
            </a:pPr>
            <a:r>
              <a:rPr lang="en-US" sz="1100" b="1" kern="0" spc="200" dirty="0">
                <a:solidFill>
                  <a:srgbClr val="8FA8FF"/>
                </a:solidFill>
                <a:latin typeface="Calibri" pitchFamily="34" charset="0"/>
                <a:ea typeface="Calibri" pitchFamily="34" charset="-122"/>
                <a:cs typeface="Calibri" pitchFamily="34" charset="-120"/>
              </a:rPr>
              <a:t>PROBLEMA CENTRAL</a:t>
            </a:r>
            <a:endParaRPr lang="en-US" sz="1100" dirty="0"/>
          </a:p>
          <a:p>
            <a:pPr marL="0" indent="0">
              <a:buNone/>
            </a:pPr>
            <a:r>
              <a:rPr lang="en-US" sz="1350" dirty="0">
                <a:solidFill>
                  <a:srgbClr val="FFFFFF"/>
                </a:solidFill>
                <a:latin typeface="Calibri" pitchFamily="34" charset="0"/>
                <a:ea typeface="Calibri" pitchFamily="34" charset="-122"/>
                <a:cs typeface="Calibri" pitchFamily="34" charset="-120"/>
              </a:rPr>
              <a:t>La Cámara Chilena de Inteligencia Artificial no cuenta con una plataforma que permita transformar información en contenido público de manera ágil, centralizada y asistida por inteligencia artificial.</a:t>
            </a:r>
            <a:endParaRPr lang="en-US" sz="1100" dirty="0"/>
          </a:p>
        </p:txBody>
      </p:sp>
      <p:sp>
        <p:nvSpPr>
          <p:cNvPr id="8" name="Shape 6"/>
          <p:cNvSpPr/>
          <p:nvPr/>
        </p:nvSpPr>
        <p:spPr>
          <a:xfrm>
            <a:off x="457200" y="2468880"/>
            <a:ext cx="3977640" cy="1097280"/>
          </a:xfrm>
          <a:prstGeom prst="roundRect">
            <a:avLst>
              <a:gd name="adj" fmla="val 5833"/>
            </a:avLst>
          </a:prstGeom>
          <a:solidFill>
            <a:srgbClr val="27316B"/>
          </a:solidFill>
          <a:ln/>
        </p:spPr>
      </p:sp>
      <p:sp>
        <p:nvSpPr>
          <p:cNvPr id="9" name="Shape 7"/>
          <p:cNvSpPr txBox="1"/>
          <p:nvPr/>
        </p:nvSpPr>
        <p:spPr>
          <a:xfrm>
            <a:off x="640080" y="2633472"/>
            <a:ext cx="365760" cy="365760"/>
          </a:xfrm>
          <a:prstGeom prst="ellipse">
            <a:avLst/>
          </a:prstGeom>
          <a:solidFill>
            <a:srgbClr val="8FA8FF"/>
          </a:solidFill>
          <a:ln/>
        </p:spPr>
      </p:sp>
      <p:sp>
        <p:nvSpPr>
          <p:cNvPr id="10" name="Text 8"/>
          <p:cNvSpPr txBox="1"/>
          <p:nvPr/>
        </p:nvSpPr>
        <p:spPr>
          <a:xfrm>
            <a:off x="640080" y="2633472"/>
            <a:ext cx="365760" cy="365760"/>
          </a:xfrm>
          <a:prstGeom prst="rect">
            <a:avLst/>
          </a:prstGeom>
          <a:noFill/>
          <a:ln/>
        </p:spPr>
        <p:txBody>
          <a:bodyPr wrap="square" lIns="0" tIns="0" rIns="0" bIns="0" rtlCol="0" anchor="t"/>
          <a:lstStyle/>
          <a:p>
            <a:pPr marL="0" indent="0" algn="ctr">
              <a:buNone/>
            </a:pPr>
            <a:r>
              <a:rPr lang="en-US" sz="1300" b="1" dirty="0">
                <a:solidFill>
                  <a:srgbClr val="0F1633"/>
                </a:solidFill>
                <a:latin typeface="Calibri" pitchFamily="34" charset="0"/>
                <a:ea typeface="Calibri" pitchFamily="34" charset="-122"/>
                <a:cs typeface="Calibri" pitchFamily="34" charset="-120"/>
              </a:rPr>
              <a:t>1</a:t>
            </a:r>
            <a:endParaRPr lang="en-US" sz="1300" dirty="0"/>
          </a:p>
        </p:txBody>
      </p:sp>
      <p:sp>
        <p:nvSpPr>
          <p:cNvPr id="11" name="Text 9"/>
          <p:cNvSpPr txBox="1"/>
          <p:nvPr/>
        </p:nvSpPr>
        <p:spPr>
          <a:xfrm>
            <a:off x="1143000" y="2651760"/>
            <a:ext cx="3108960" cy="310896"/>
          </a:xfrm>
          <a:prstGeom prst="rect">
            <a:avLst/>
          </a:prstGeom>
          <a:noFill/>
          <a:ln/>
        </p:spPr>
        <p:txBody>
          <a:bodyPr wrap="square" lIns="0" tIns="0" rIns="0" bIns="0" rtlCol="0" anchor="t"/>
          <a:lstStyle/>
          <a:p>
            <a:pPr marL="0" indent="0">
              <a:buNone/>
            </a:pPr>
            <a:r>
              <a:rPr lang="en-US" sz="1350" b="1" dirty="0">
                <a:solidFill>
                  <a:srgbClr val="FFFFFF"/>
                </a:solidFill>
                <a:latin typeface="Calibri" pitchFamily="34" charset="0"/>
                <a:ea typeface="Calibri" pitchFamily="34" charset="-122"/>
                <a:cs typeface="Calibri" pitchFamily="34" charset="-120"/>
              </a:rPr>
              <a:t>Procesos manuales</a:t>
            </a:r>
            <a:endParaRPr lang="en-US" sz="1350" dirty="0"/>
          </a:p>
        </p:txBody>
      </p:sp>
      <p:sp>
        <p:nvSpPr>
          <p:cNvPr id="12" name="Text 10"/>
          <p:cNvSpPr txBox="1"/>
          <p:nvPr/>
        </p:nvSpPr>
        <p:spPr>
          <a:xfrm>
            <a:off x="1143000" y="2990088"/>
            <a:ext cx="3108960" cy="502920"/>
          </a:xfrm>
          <a:prstGeom prst="rect">
            <a:avLst/>
          </a:prstGeom>
          <a:noFill/>
          <a:ln/>
        </p:spPr>
        <p:txBody>
          <a:bodyPr wrap="square" lIns="0" tIns="0" rIns="0" bIns="0" rtlCol="0" anchor="t"/>
          <a:lstStyle/>
          <a:p>
            <a:pPr marL="0" indent="0">
              <a:buNone/>
            </a:pPr>
            <a:r>
              <a:rPr lang="en-US" sz="1100" dirty="0">
                <a:solidFill>
                  <a:srgbClr val="CADCFC"/>
                </a:solidFill>
                <a:latin typeface="Calibri" pitchFamily="34" charset="0"/>
                <a:ea typeface="Calibri" pitchFamily="34" charset="-122"/>
                <a:cs typeface="Calibri" pitchFamily="34" charset="-120"/>
              </a:rPr>
              <a:t>La preparación de artículos, boletines y revista institucional es principalmente manual.</a:t>
            </a:r>
            <a:endParaRPr lang="en-US" sz="1100" dirty="0"/>
          </a:p>
        </p:txBody>
      </p:sp>
      <p:sp>
        <p:nvSpPr>
          <p:cNvPr id="13" name="Shape 11"/>
          <p:cNvSpPr/>
          <p:nvPr/>
        </p:nvSpPr>
        <p:spPr>
          <a:xfrm>
            <a:off x="4709160" y="2468880"/>
            <a:ext cx="3977640" cy="1097280"/>
          </a:xfrm>
          <a:prstGeom prst="roundRect">
            <a:avLst>
              <a:gd name="adj" fmla="val 5833"/>
            </a:avLst>
          </a:prstGeom>
          <a:solidFill>
            <a:srgbClr val="27316B"/>
          </a:solidFill>
          <a:ln/>
        </p:spPr>
      </p:sp>
      <p:sp>
        <p:nvSpPr>
          <p:cNvPr id="14" name="Shape 12"/>
          <p:cNvSpPr txBox="1"/>
          <p:nvPr/>
        </p:nvSpPr>
        <p:spPr>
          <a:xfrm>
            <a:off x="4892040" y="2633472"/>
            <a:ext cx="365760" cy="365760"/>
          </a:xfrm>
          <a:prstGeom prst="ellipse">
            <a:avLst/>
          </a:prstGeom>
          <a:solidFill>
            <a:srgbClr val="8FA8FF"/>
          </a:solidFill>
          <a:ln/>
        </p:spPr>
      </p:sp>
      <p:sp>
        <p:nvSpPr>
          <p:cNvPr id="15" name="Text 13"/>
          <p:cNvSpPr txBox="1"/>
          <p:nvPr/>
        </p:nvSpPr>
        <p:spPr>
          <a:xfrm>
            <a:off x="4892040" y="2633472"/>
            <a:ext cx="365760" cy="365760"/>
          </a:xfrm>
          <a:prstGeom prst="rect">
            <a:avLst/>
          </a:prstGeom>
          <a:noFill/>
          <a:ln/>
        </p:spPr>
        <p:txBody>
          <a:bodyPr wrap="square" lIns="0" tIns="0" rIns="0" bIns="0" rtlCol="0" anchor="t"/>
          <a:lstStyle/>
          <a:p>
            <a:pPr marL="0" indent="0" algn="ctr">
              <a:buNone/>
            </a:pPr>
            <a:r>
              <a:rPr lang="en-US" sz="1300" b="1" dirty="0">
                <a:solidFill>
                  <a:srgbClr val="0F1633"/>
                </a:solidFill>
                <a:latin typeface="Calibri" pitchFamily="34" charset="0"/>
                <a:ea typeface="Calibri" pitchFamily="34" charset="-122"/>
                <a:cs typeface="Calibri" pitchFamily="34" charset="-120"/>
              </a:rPr>
              <a:t>2</a:t>
            </a:r>
            <a:endParaRPr lang="en-US" sz="1300" dirty="0"/>
          </a:p>
        </p:txBody>
      </p:sp>
      <p:sp>
        <p:nvSpPr>
          <p:cNvPr id="16" name="Text 14"/>
          <p:cNvSpPr txBox="1"/>
          <p:nvPr/>
        </p:nvSpPr>
        <p:spPr>
          <a:xfrm>
            <a:off x="5394960" y="2651760"/>
            <a:ext cx="3108960" cy="310896"/>
          </a:xfrm>
          <a:prstGeom prst="rect">
            <a:avLst/>
          </a:prstGeom>
          <a:noFill/>
          <a:ln/>
        </p:spPr>
        <p:txBody>
          <a:bodyPr wrap="square" lIns="0" tIns="0" rIns="0" bIns="0" rtlCol="0" anchor="t"/>
          <a:lstStyle/>
          <a:p>
            <a:pPr marL="0" indent="0">
              <a:buNone/>
            </a:pPr>
            <a:r>
              <a:rPr lang="en-US" sz="1350" b="1" dirty="0">
                <a:solidFill>
                  <a:srgbClr val="FFFFFF"/>
                </a:solidFill>
                <a:latin typeface="Calibri" pitchFamily="34" charset="0"/>
                <a:ea typeface="Calibri" pitchFamily="34" charset="-122"/>
                <a:cs typeface="Calibri" pitchFamily="34" charset="-120"/>
              </a:rPr>
              <a:t>Sin flujo integrado</a:t>
            </a:r>
            <a:endParaRPr lang="en-US" sz="1350" dirty="0"/>
          </a:p>
        </p:txBody>
      </p:sp>
      <p:sp>
        <p:nvSpPr>
          <p:cNvPr id="17" name="Text 15"/>
          <p:cNvSpPr txBox="1"/>
          <p:nvPr/>
        </p:nvSpPr>
        <p:spPr>
          <a:xfrm>
            <a:off x="5394960" y="2990088"/>
            <a:ext cx="3108960" cy="502920"/>
          </a:xfrm>
          <a:prstGeom prst="rect">
            <a:avLst/>
          </a:prstGeom>
          <a:noFill/>
          <a:ln/>
        </p:spPr>
        <p:txBody>
          <a:bodyPr wrap="square" lIns="0" tIns="0" rIns="0" bIns="0" rtlCol="0" anchor="t"/>
          <a:lstStyle/>
          <a:p>
            <a:pPr marL="0" indent="0">
              <a:buNone/>
            </a:pPr>
            <a:r>
              <a:rPr lang="en-US" sz="1100" dirty="0">
                <a:solidFill>
                  <a:srgbClr val="CADCFC"/>
                </a:solidFill>
                <a:latin typeface="Calibri" pitchFamily="34" charset="0"/>
                <a:ea typeface="Calibri" pitchFamily="34" charset="-122"/>
                <a:cs typeface="Calibri" pitchFamily="34" charset="-120"/>
              </a:rPr>
              <a:t>No existe un flujo integrado de recopilación, generación, revisión, aprobación y publicación.</a:t>
            </a:r>
            <a:endParaRPr lang="en-US" sz="1100" dirty="0"/>
          </a:p>
        </p:txBody>
      </p:sp>
      <p:sp>
        <p:nvSpPr>
          <p:cNvPr id="18" name="Shape 16"/>
          <p:cNvSpPr/>
          <p:nvPr/>
        </p:nvSpPr>
        <p:spPr>
          <a:xfrm>
            <a:off x="457200" y="3703320"/>
            <a:ext cx="3977640" cy="1097280"/>
          </a:xfrm>
          <a:prstGeom prst="roundRect">
            <a:avLst>
              <a:gd name="adj" fmla="val 5833"/>
            </a:avLst>
          </a:prstGeom>
          <a:solidFill>
            <a:srgbClr val="27316B"/>
          </a:solidFill>
          <a:ln/>
        </p:spPr>
      </p:sp>
      <p:sp>
        <p:nvSpPr>
          <p:cNvPr id="19" name="Shape 17"/>
          <p:cNvSpPr txBox="1"/>
          <p:nvPr/>
        </p:nvSpPr>
        <p:spPr>
          <a:xfrm>
            <a:off x="640080" y="3867912"/>
            <a:ext cx="365760" cy="365760"/>
          </a:xfrm>
          <a:prstGeom prst="ellipse">
            <a:avLst/>
          </a:prstGeom>
          <a:solidFill>
            <a:srgbClr val="8FA8FF"/>
          </a:solidFill>
          <a:ln/>
        </p:spPr>
      </p:sp>
      <p:sp>
        <p:nvSpPr>
          <p:cNvPr id="20" name="Text 18"/>
          <p:cNvSpPr txBox="1"/>
          <p:nvPr/>
        </p:nvSpPr>
        <p:spPr>
          <a:xfrm>
            <a:off x="640080" y="3867912"/>
            <a:ext cx="365760" cy="365760"/>
          </a:xfrm>
          <a:prstGeom prst="rect">
            <a:avLst/>
          </a:prstGeom>
          <a:noFill/>
          <a:ln/>
        </p:spPr>
        <p:txBody>
          <a:bodyPr wrap="square" lIns="0" tIns="0" rIns="0" bIns="0" rtlCol="0" anchor="t"/>
          <a:lstStyle/>
          <a:p>
            <a:pPr marL="0" indent="0" algn="ctr">
              <a:buNone/>
            </a:pPr>
            <a:r>
              <a:rPr lang="en-US" sz="1300" b="1" dirty="0">
                <a:solidFill>
                  <a:srgbClr val="0F1633"/>
                </a:solidFill>
                <a:latin typeface="Calibri" pitchFamily="34" charset="0"/>
                <a:ea typeface="Calibri" pitchFamily="34" charset="-122"/>
                <a:cs typeface="Calibri" pitchFamily="34" charset="-120"/>
              </a:rPr>
              <a:t>3</a:t>
            </a:r>
            <a:endParaRPr lang="en-US" sz="1300" dirty="0"/>
          </a:p>
        </p:txBody>
      </p:sp>
      <p:sp>
        <p:nvSpPr>
          <p:cNvPr id="21" name="Text 19"/>
          <p:cNvSpPr txBox="1"/>
          <p:nvPr/>
        </p:nvSpPr>
        <p:spPr>
          <a:xfrm>
            <a:off x="1143000" y="3886200"/>
            <a:ext cx="3108960" cy="310896"/>
          </a:xfrm>
          <a:prstGeom prst="rect">
            <a:avLst/>
          </a:prstGeom>
          <a:noFill/>
          <a:ln/>
        </p:spPr>
        <p:txBody>
          <a:bodyPr wrap="square" lIns="0" tIns="0" rIns="0" bIns="0" rtlCol="0" anchor="t"/>
          <a:lstStyle/>
          <a:p>
            <a:pPr marL="0" indent="0">
              <a:buNone/>
            </a:pPr>
            <a:r>
              <a:rPr lang="en-US" sz="1350" b="1" dirty="0">
                <a:solidFill>
                  <a:srgbClr val="FFFFFF"/>
                </a:solidFill>
                <a:latin typeface="Calibri" pitchFamily="34" charset="0"/>
                <a:ea typeface="Calibri" pitchFamily="34" charset="-122"/>
                <a:cs typeface="Calibri" pitchFamily="34" charset="-120"/>
              </a:rPr>
              <a:t>Alcance limitado</a:t>
            </a:r>
            <a:endParaRPr lang="en-US" sz="1350" dirty="0"/>
          </a:p>
        </p:txBody>
      </p:sp>
      <p:sp>
        <p:nvSpPr>
          <p:cNvPr id="22" name="Text 20"/>
          <p:cNvSpPr txBox="1"/>
          <p:nvPr/>
        </p:nvSpPr>
        <p:spPr>
          <a:xfrm>
            <a:off x="1143000" y="4224528"/>
            <a:ext cx="3108960" cy="502920"/>
          </a:xfrm>
          <a:prstGeom prst="rect">
            <a:avLst/>
          </a:prstGeom>
          <a:noFill/>
          <a:ln/>
        </p:spPr>
        <p:txBody>
          <a:bodyPr wrap="square" lIns="0" tIns="0" rIns="0" bIns="0" rtlCol="0" anchor="t"/>
          <a:lstStyle/>
          <a:p>
            <a:pPr marL="0" indent="0">
              <a:buNone/>
            </a:pPr>
            <a:r>
              <a:rPr lang="en-US" sz="1100" dirty="0">
                <a:solidFill>
                  <a:srgbClr val="CADCFC"/>
                </a:solidFill>
                <a:latin typeface="Calibri" pitchFamily="34" charset="0"/>
                <a:ea typeface="Calibri" pitchFamily="34" charset="-122"/>
                <a:cs typeface="Calibri" pitchFamily="34" charset="-120"/>
              </a:rPr>
              <a:t>Las publicaciones internas tienen circulación restringida, limitando su visibilidad pública.</a:t>
            </a:r>
            <a:endParaRPr lang="en-US" sz="1100" dirty="0"/>
          </a:p>
        </p:txBody>
      </p:sp>
      <p:sp>
        <p:nvSpPr>
          <p:cNvPr id="23" name="Shape 21"/>
          <p:cNvSpPr/>
          <p:nvPr/>
        </p:nvSpPr>
        <p:spPr>
          <a:xfrm>
            <a:off x="4709160" y="3703320"/>
            <a:ext cx="3977640" cy="1097280"/>
          </a:xfrm>
          <a:prstGeom prst="roundRect">
            <a:avLst>
              <a:gd name="adj" fmla="val 5833"/>
            </a:avLst>
          </a:prstGeom>
          <a:solidFill>
            <a:srgbClr val="27316B"/>
          </a:solidFill>
          <a:ln/>
        </p:spPr>
      </p:sp>
      <p:sp>
        <p:nvSpPr>
          <p:cNvPr id="24" name="Shape 22"/>
          <p:cNvSpPr txBox="1"/>
          <p:nvPr/>
        </p:nvSpPr>
        <p:spPr>
          <a:xfrm>
            <a:off x="4892040" y="3867912"/>
            <a:ext cx="365760" cy="365760"/>
          </a:xfrm>
          <a:prstGeom prst="ellipse">
            <a:avLst/>
          </a:prstGeom>
          <a:solidFill>
            <a:srgbClr val="8FA8FF"/>
          </a:solidFill>
          <a:ln/>
        </p:spPr>
      </p:sp>
      <p:sp>
        <p:nvSpPr>
          <p:cNvPr id="25" name="Text 23"/>
          <p:cNvSpPr txBox="1"/>
          <p:nvPr/>
        </p:nvSpPr>
        <p:spPr>
          <a:xfrm>
            <a:off x="4892040" y="3867912"/>
            <a:ext cx="365760" cy="365760"/>
          </a:xfrm>
          <a:prstGeom prst="rect">
            <a:avLst/>
          </a:prstGeom>
          <a:noFill/>
          <a:ln/>
        </p:spPr>
        <p:txBody>
          <a:bodyPr wrap="square" lIns="0" tIns="0" rIns="0" bIns="0" rtlCol="0" anchor="t"/>
          <a:lstStyle/>
          <a:p>
            <a:pPr marL="0" indent="0" algn="ctr">
              <a:buNone/>
            </a:pPr>
            <a:r>
              <a:rPr lang="en-US" sz="1300" b="1" dirty="0">
                <a:solidFill>
                  <a:srgbClr val="0F1633"/>
                </a:solidFill>
                <a:latin typeface="Calibri" pitchFamily="34" charset="0"/>
                <a:ea typeface="Calibri" pitchFamily="34" charset="-122"/>
                <a:cs typeface="Calibri" pitchFamily="34" charset="-120"/>
              </a:rPr>
              <a:t>4</a:t>
            </a:r>
            <a:endParaRPr lang="en-US" sz="1300" dirty="0"/>
          </a:p>
        </p:txBody>
      </p:sp>
      <p:sp>
        <p:nvSpPr>
          <p:cNvPr id="26" name="Text 24"/>
          <p:cNvSpPr txBox="1"/>
          <p:nvPr/>
        </p:nvSpPr>
        <p:spPr>
          <a:xfrm>
            <a:off x="5394960" y="3886200"/>
            <a:ext cx="3108960" cy="310896"/>
          </a:xfrm>
          <a:prstGeom prst="rect">
            <a:avLst/>
          </a:prstGeom>
          <a:noFill/>
          <a:ln/>
        </p:spPr>
        <p:txBody>
          <a:bodyPr wrap="square" lIns="0" tIns="0" rIns="0" bIns="0" rtlCol="0" anchor="t"/>
          <a:lstStyle/>
          <a:p>
            <a:pPr marL="0" indent="0">
              <a:buNone/>
            </a:pPr>
            <a:r>
              <a:rPr lang="en-US" sz="1350" b="1" dirty="0">
                <a:solidFill>
                  <a:srgbClr val="FFFFFF"/>
                </a:solidFill>
                <a:latin typeface="Calibri" pitchFamily="34" charset="0"/>
                <a:ea typeface="Calibri" pitchFamily="34" charset="-122"/>
                <a:cs typeface="Calibri" pitchFamily="34" charset="-120"/>
              </a:rPr>
              <a:t>Sin mecanismo ágil</a:t>
            </a:r>
            <a:endParaRPr lang="en-US" sz="1350" dirty="0"/>
          </a:p>
        </p:txBody>
      </p:sp>
      <p:sp>
        <p:nvSpPr>
          <p:cNvPr id="27" name="Text 25"/>
          <p:cNvSpPr txBox="1"/>
          <p:nvPr/>
        </p:nvSpPr>
        <p:spPr>
          <a:xfrm>
            <a:off x="5394960" y="4224528"/>
            <a:ext cx="3108960" cy="502920"/>
          </a:xfrm>
          <a:prstGeom prst="rect">
            <a:avLst/>
          </a:prstGeom>
          <a:noFill/>
          <a:ln/>
        </p:spPr>
        <p:txBody>
          <a:bodyPr wrap="square" lIns="0" tIns="0" rIns="0" bIns="0" rtlCol="0" anchor="t"/>
          <a:lstStyle/>
          <a:p>
            <a:pPr marL="0" indent="0">
              <a:buNone/>
            </a:pPr>
            <a:r>
              <a:rPr lang="en-US" sz="1100" dirty="0">
                <a:solidFill>
                  <a:srgbClr val="CADCFC"/>
                </a:solidFill>
                <a:latin typeface="Calibri" pitchFamily="34" charset="0"/>
                <a:ea typeface="Calibri" pitchFamily="34" charset="-122"/>
                <a:cs typeface="Calibri" pitchFamily="34" charset="-120"/>
              </a:rPr>
              <a:t>No hay un mecanismo ágil para recopilar, redactar y publicar contenido abierto.</a:t>
            </a:r>
            <a:endParaRPr lang="en-US" sz="1100" dirty="0"/>
          </a:p>
        </p:txBody>
      </p:sp>
      <p:sp>
        <p:nvSpPr>
          <p:cNvPr id="28" name="Text 26"/>
          <p:cNvSpPr txBox="1"/>
          <p:nvPr/>
        </p:nvSpPr>
        <p:spPr>
          <a:xfrm>
            <a:off x="457200" y="4864608"/>
            <a:ext cx="2743200" cy="228600"/>
          </a:xfrm>
          <a:prstGeom prst="rect">
            <a:avLst/>
          </a:prstGeom>
          <a:noFill/>
          <a:ln/>
        </p:spPr>
        <p:txBody>
          <a:bodyPr wrap="square" lIns="0" tIns="0" rIns="0" bIns="0" rtlCol="0" anchor="t"/>
          <a:lstStyle/>
          <a:p>
            <a:pPr marL="0" indent="0">
              <a:buNone/>
            </a:pPr>
            <a:r>
              <a:rPr lang="en-US" sz="900" kern="0" spc="100" dirty="0">
                <a:solidFill>
                  <a:srgbClr val="93A4DC"/>
                </a:solidFill>
                <a:latin typeface="Calibri" pitchFamily="34" charset="0"/>
                <a:ea typeface="Calibri" pitchFamily="34" charset="-122"/>
                <a:cs typeface="Calibri" pitchFamily="34" charset="-120"/>
              </a:rPr>
              <a:t>Proyecto APT · CCHIA</a:t>
            </a:r>
            <a:endParaRPr lang="en-US" sz="900" dirty="0"/>
          </a:p>
        </p:txBody>
      </p:sp>
      <p:sp>
        <p:nvSpPr>
          <p:cNvPr id="29" name="Text 27"/>
          <p:cNvSpPr txBox="1"/>
          <p:nvPr/>
        </p:nvSpPr>
        <p:spPr>
          <a:xfrm>
            <a:off x="6400800" y="4864608"/>
            <a:ext cx="2286000" cy="228600"/>
          </a:xfrm>
          <a:prstGeom prst="rect">
            <a:avLst/>
          </a:prstGeom>
          <a:noFill/>
          <a:ln/>
        </p:spPr>
        <p:txBody>
          <a:bodyPr wrap="square" lIns="0" tIns="0" rIns="0" bIns="0" rtlCol="0" anchor="t"/>
          <a:lstStyle/>
          <a:p>
            <a:pPr marL="0" indent="0" algn="r">
              <a:buNone/>
            </a:pPr>
            <a:r>
              <a:rPr lang="en-US" sz="900" kern="0" spc="100" dirty="0">
                <a:solidFill>
                  <a:srgbClr val="93A4DC"/>
                </a:solidFill>
                <a:latin typeface="Calibri" pitchFamily="34" charset="0"/>
                <a:ea typeface="Calibri" pitchFamily="34" charset="-122"/>
                <a:cs typeface="Calibri" pitchFamily="34" charset="-120"/>
              </a:rPr>
              <a:t>2 / 11</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B2452"/>
        </a:solidFill>
        <a:effectLst/>
      </p:bgPr>
    </p:bg>
    <p:spTree>
      <p:nvGrpSpPr>
        <p:cNvPr id="1" name=""/>
        <p:cNvGrpSpPr/>
        <p:nvPr/>
      </p:nvGrpSpPr>
      <p:grpSpPr>
        <a:xfrm>
          <a:off x="0" y="0"/>
          <a:ext cx="0" cy="0"/>
          <a:chOff x="0" y="0"/>
          <a:chExt cx="0" cy="0"/>
        </a:xfrm>
      </p:grpSpPr>
      <p:sp>
        <p:nvSpPr>
          <p:cNvPr id="2" name="Shape 0"/>
          <p:cNvSpPr txBox="1"/>
          <p:nvPr/>
        </p:nvSpPr>
        <p:spPr>
          <a:xfrm>
            <a:off x="457200" y="457200"/>
            <a:ext cx="411480" cy="411480"/>
          </a:xfrm>
          <a:prstGeom prst="ellipse">
            <a:avLst/>
          </a:prstGeom>
          <a:solidFill>
            <a:srgbClr val="8FA8FF"/>
          </a:solidFill>
          <a:ln/>
        </p:spPr>
      </p:sp>
      <p:sp>
        <p:nvSpPr>
          <p:cNvPr id="3" name="Text 1"/>
          <p:cNvSpPr txBox="1"/>
          <p:nvPr/>
        </p:nvSpPr>
        <p:spPr>
          <a:xfrm>
            <a:off x="457200" y="457200"/>
            <a:ext cx="411480" cy="411480"/>
          </a:xfrm>
          <a:prstGeom prst="rect">
            <a:avLst/>
          </a:prstGeom>
          <a:noFill/>
          <a:ln/>
        </p:spPr>
        <p:txBody>
          <a:bodyPr wrap="square" lIns="0" tIns="0" rIns="0" bIns="0" rtlCol="0" anchor="t"/>
          <a:lstStyle/>
          <a:p>
            <a:pPr marL="0" indent="0" algn="ctr">
              <a:buNone/>
            </a:pPr>
            <a:r>
              <a:rPr lang="en-US" sz="1300" b="1" dirty="0">
                <a:solidFill>
                  <a:srgbClr val="0F1633"/>
                </a:solidFill>
                <a:latin typeface="Calibri" pitchFamily="34" charset="0"/>
                <a:ea typeface="Calibri" pitchFamily="34" charset="-122"/>
                <a:cs typeface="Calibri" pitchFamily="34" charset="-120"/>
              </a:rPr>
              <a:t>2</a:t>
            </a:r>
            <a:endParaRPr lang="en-US" sz="1300" dirty="0"/>
          </a:p>
        </p:txBody>
      </p:sp>
      <p:sp>
        <p:nvSpPr>
          <p:cNvPr id="4" name="Text 2"/>
          <p:cNvSpPr txBox="1"/>
          <p:nvPr/>
        </p:nvSpPr>
        <p:spPr>
          <a:xfrm>
            <a:off x="1005840" y="384048"/>
            <a:ext cx="7498080" cy="566928"/>
          </a:xfrm>
          <a:prstGeom prst="rect">
            <a:avLst/>
          </a:prstGeom>
          <a:noFill/>
          <a:ln/>
        </p:spPr>
        <p:txBody>
          <a:bodyPr wrap="square" lIns="0" tIns="0" rIns="0" bIns="0" rtlCol="0" anchor="t"/>
          <a:lstStyle/>
          <a:p>
            <a:pPr marL="0" indent="0">
              <a:buNone/>
            </a:pPr>
            <a:r>
              <a:rPr lang="en-US" sz="3000" b="1" dirty="0">
                <a:solidFill>
                  <a:srgbClr val="FFFFFF"/>
                </a:solidFill>
                <a:latin typeface="Calibri" pitchFamily="34" charset="0"/>
                <a:ea typeface="Calibri" pitchFamily="34" charset="-122"/>
                <a:cs typeface="Calibri" pitchFamily="34" charset="-120"/>
              </a:rPr>
              <a:t>Objetivo General</a:t>
            </a:r>
            <a:endParaRPr lang="en-US" sz="3000" dirty="0"/>
          </a:p>
        </p:txBody>
      </p:sp>
      <p:sp>
        <p:nvSpPr>
          <p:cNvPr id="5" name="Text 3"/>
          <p:cNvSpPr txBox="1"/>
          <p:nvPr/>
        </p:nvSpPr>
        <p:spPr>
          <a:xfrm>
            <a:off x="1005840" y="960120"/>
            <a:ext cx="7680960" cy="292608"/>
          </a:xfrm>
          <a:prstGeom prst="rect">
            <a:avLst/>
          </a:prstGeom>
          <a:noFill/>
          <a:ln/>
        </p:spPr>
        <p:txBody>
          <a:bodyPr wrap="square" lIns="0" tIns="0" rIns="0" bIns="0" rtlCol="0" anchor="t"/>
          <a:lstStyle/>
          <a:p>
            <a:pPr marL="0" indent="0">
              <a:buNone/>
            </a:pPr>
            <a:r>
              <a:rPr lang="en-US" sz="1300" dirty="0">
                <a:solidFill>
                  <a:srgbClr val="CADCFC"/>
                </a:solidFill>
                <a:latin typeface="Calibri" pitchFamily="34" charset="0"/>
                <a:ea typeface="Calibri" pitchFamily="34" charset="-122"/>
                <a:cs typeface="Calibri" pitchFamily="34" charset="-120"/>
              </a:rPr>
              <a:t>Propósito principal del desarrollo de la plataforma digital.</a:t>
            </a:r>
            <a:endParaRPr lang="en-US" sz="1300" dirty="0"/>
          </a:p>
        </p:txBody>
      </p:sp>
      <p:sp>
        <p:nvSpPr>
          <p:cNvPr id="6" name="Shape 4"/>
          <p:cNvSpPr/>
          <p:nvPr/>
        </p:nvSpPr>
        <p:spPr>
          <a:xfrm>
            <a:off x="457200" y="1371600"/>
            <a:ext cx="8229600" cy="1691640"/>
          </a:xfrm>
          <a:prstGeom prst="roundRect">
            <a:avLst>
              <a:gd name="adj" fmla="val 4324"/>
            </a:avLst>
          </a:prstGeom>
          <a:solidFill>
            <a:srgbClr val="27316B"/>
          </a:solidFill>
          <a:ln/>
        </p:spPr>
      </p:sp>
      <p:sp>
        <p:nvSpPr>
          <p:cNvPr id="7" name="Text 5"/>
          <p:cNvSpPr txBox="1"/>
          <p:nvPr/>
        </p:nvSpPr>
        <p:spPr>
          <a:xfrm>
            <a:off x="731520" y="1517904"/>
            <a:ext cx="7680960" cy="1417320"/>
          </a:xfrm>
          <a:prstGeom prst="rect">
            <a:avLst/>
          </a:prstGeom>
          <a:noFill/>
          <a:ln/>
        </p:spPr>
        <p:txBody>
          <a:bodyPr wrap="square" lIns="0" tIns="0" rIns="0" bIns="0" rtlCol="0" anchor="t"/>
          <a:lstStyle/>
          <a:p>
            <a:pPr marL="0" indent="0">
              <a:spcAft>
                <a:spcPts val="600"/>
              </a:spcAft>
              <a:buNone/>
            </a:pPr>
            <a:r>
              <a:rPr lang="en-US" sz="1100" b="1" kern="0" spc="200" dirty="0">
                <a:solidFill>
                  <a:srgbClr val="8FA8FF"/>
                </a:solidFill>
                <a:latin typeface="Calibri" pitchFamily="34" charset="0"/>
                <a:ea typeface="Calibri" pitchFamily="34" charset="-122"/>
                <a:cs typeface="Calibri" pitchFamily="34" charset="-120"/>
              </a:rPr>
              <a:t>OBJETIVO GENERAL</a:t>
            </a:r>
            <a:endParaRPr lang="en-US" sz="1100" dirty="0"/>
          </a:p>
          <a:p>
            <a:pPr marL="0" indent="0">
              <a:buNone/>
            </a:pPr>
            <a:r>
              <a:rPr lang="en-US" sz="1650" dirty="0">
                <a:solidFill>
                  <a:srgbClr val="FFFFFF"/>
                </a:solidFill>
                <a:latin typeface="Calibri" pitchFamily="34" charset="0"/>
                <a:ea typeface="Calibri" pitchFamily="34" charset="-122"/>
                <a:cs typeface="Calibri" pitchFamily="34" charset="-120"/>
              </a:rPr>
              <a:t>Desarrollar una plataforma web que permita a la CCHIA publicar contenido de forma pública, con redacción asistida por IA y revisión humana previa a la publicación.</a:t>
            </a:r>
            <a:endParaRPr lang="en-US" sz="1100" dirty="0"/>
          </a:p>
        </p:txBody>
      </p:sp>
      <p:sp>
        <p:nvSpPr>
          <p:cNvPr id="8" name="Text 6"/>
          <p:cNvSpPr txBox="1"/>
          <p:nvPr/>
        </p:nvSpPr>
        <p:spPr>
          <a:xfrm>
            <a:off x="457200" y="3383280"/>
            <a:ext cx="8229600" cy="274320"/>
          </a:xfrm>
          <a:prstGeom prst="rect">
            <a:avLst/>
          </a:prstGeom>
          <a:noFill/>
          <a:ln/>
        </p:spPr>
        <p:txBody>
          <a:bodyPr wrap="square" lIns="0" tIns="0" rIns="0" bIns="0" rtlCol="0" anchor="t"/>
          <a:lstStyle/>
          <a:p>
            <a:pPr marL="0" indent="0">
              <a:buNone/>
            </a:pPr>
            <a:r>
              <a:rPr lang="en-US" sz="1050" b="1" kern="0" spc="200" dirty="0">
                <a:solidFill>
                  <a:srgbClr val="8FA8FF"/>
                </a:solidFill>
                <a:latin typeface="Calibri" pitchFamily="34" charset="0"/>
                <a:ea typeface="Calibri" pitchFamily="34" charset="-122"/>
                <a:cs typeface="Calibri" pitchFamily="34" charset="-120"/>
              </a:rPr>
              <a:t>FLUJO DE LA SOLUCIÓN</a:t>
            </a:r>
            <a:endParaRPr lang="en-US" sz="1050" dirty="0"/>
          </a:p>
        </p:txBody>
      </p:sp>
      <p:sp>
        <p:nvSpPr>
          <p:cNvPr id="9" name="Shape 7"/>
          <p:cNvSpPr/>
          <p:nvPr/>
        </p:nvSpPr>
        <p:spPr>
          <a:xfrm>
            <a:off x="457200" y="3703320"/>
            <a:ext cx="1417320" cy="502920"/>
          </a:xfrm>
          <a:prstGeom prst="roundRect">
            <a:avLst>
              <a:gd name="adj" fmla="val 18182"/>
            </a:avLst>
          </a:prstGeom>
          <a:solidFill>
            <a:srgbClr val="121A44"/>
          </a:solidFill>
          <a:ln/>
        </p:spPr>
      </p:sp>
      <p:sp>
        <p:nvSpPr>
          <p:cNvPr id="10" name="Text 8"/>
          <p:cNvSpPr txBox="1"/>
          <p:nvPr/>
        </p:nvSpPr>
        <p:spPr>
          <a:xfrm>
            <a:off x="457200" y="3703320"/>
            <a:ext cx="1417320" cy="502920"/>
          </a:xfrm>
          <a:prstGeom prst="rect">
            <a:avLst/>
          </a:prstGeom>
          <a:noFill/>
          <a:ln/>
        </p:spPr>
        <p:txBody>
          <a:bodyPr wrap="square" lIns="0" tIns="0" rIns="0" bIns="0" rtlCol="0" anchor="t"/>
          <a:lstStyle/>
          <a:p>
            <a:pPr marL="0" indent="0" algn="ctr">
              <a:buNone/>
            </a:pPr>
            <a:r>
              <a:rPr lang="en-US" sz="1100" b="1" dirty="0">
                <a:solidFill>
                  <a:srgbClr val="FFFFFF"/>
                </a:solidFill>
                <a:latin typeface="Calibri" pitchFamily="34" charset="0"/>
                <a:ea typeface="Calibri" pitchFamily="34" charset="-122"/>
                <a:cs typeface="Calibri" pitchFamily="34" charset="-120"/>
              </a:rPr>
              <a:t>Recopilación</a:t>
            </a:r>
            <a:endParaRPr lang="en-US" sz="1100" dirty="0"/>
          </a:p>
        </p:txBody>
      </p:sp>
      <p:sp>
        <p:nvSpPr>
          <p:cNvPr id="11" name="Text 9"/>
          <p:cNvSpPr txBox="1"/>
          <p:nvPr/>
        </p:nvSpPr>
        <p:spPr>
          <a:xfrm>
            <a:off x="1874520" y="3703320"/>
            <a:ext cx="256032" cy="502920"/>
          </a:xfrm>
          <a:prstGeom prst="rect">
            <a:avLst/>
          </a:prstGeom>
          <a:noFill/>
          <a:ln/>
        </p:spPr>
        <p:txBody>
          <a:bodyPr wrap="square" lIns="0" tIns="0" rIns="0" bIns="0" rtlCol="0" anchor="t"/>
          <a:lstStyle/>
          <a:p>
            <a:pPr marL="0" indent="0" algn="ctr">
              <a:buNone/>
            </a:pPr>
            <a:r>
              <a:rPr lang="en-US" sz="1400" b="1" dirty="0">
                <a:solidFill>
                  <a:srgbClr val="8FA8FF"/>
                </a:solidFill>
                <a:latin typeface="Calibri" pitchFamily="34" charset="0"/>
                <a:ea typeface="Calibri" pitchFamily="34" charset="-122"/>
                <a:cs typeface="Calibri" pitchFamily="34" charset="-120"/>
              </a:rPr>
              <a:t>→</a:t>
            </a:r>
            <a:endParaRPr lang="en-US" sz="1400" dirty="0"/>
          </a:p>
        </p:txBody>
      </p:sp>
      <p:sp>
        <p:nvSpPr>
          <p:cNvPr id="12" name="Shape 10"/>
          <p:cNvSpPr/>
          <p:nvPr/>
        </p:nvSpPr>
        <p:spPr>
          <a:xfrm>
            <a:off x="2130552" y="3703320"/>
            <a:ext cx="1417320" cy="502920"/>
          </a:xfrm>
          <a:prstGeom prst="roundRect">
            <a:avLst>
              <a:gd name="adj" fmla="val 18182"/>
            </a:avLst>
          </a:prstGeom>
          <a:solidFill>
            <a:srgbClr val="121A44"/>
          </a:solidFill>
          <a:ln/>
        </p:spPr>
      </p:sp>
      <p:sp>
        <p:nvSpPr>
          <p:cNvPr id="13" name="Text 11"/>
          <p:cNvSpPr txBox="1"/>
          <p:nvPr/>
        </p:nvSpPr>
        <p:spPr>
          <a:xfrm>
            <a:off x="2130552" y="3703320"/>
            <a:ext cx="1417320" cy="502920"/>
          </a:xfrm>
          <a:prstGeom prst="rect">
            <a:avLst/>
          </a:prstGeom>
          <a:noFill/>
          <a:ln/>
        </p:spPr>
        <p:txBody>
          <a:bodyPr wrap="square" lIns="0" tIns="0" rIns="0" bIns="0" rtlCol="0" anchor="t"/>
          <a:lstStyle/>
          <a:p>
            <a:pPr marL="0" indent="0" algn="ctr">
              <a:buNone/>
            </a:pPr>
            <a:r>
              <a:rPr lang="en-US" sz="1100" b="1" dirty="0">
                <a:solidFill>
                  <a:srgbClr val="FFFFFF"/>
                </a:solidFill>
                <a:latin typeface="Calibri" pitchFamily="34" charset="0"/>
                <a:ea typeface="Calibri" pitchFamily="34" charset="-122"/>
                <a:cs typeface="Calibri" pitchFamily="34" charset="-120"/>
              </a:rPr>
              <a:t>Generación con IA</a:t>
            </a:r>
            <a:endParaRPr lang="en-US" sz="1100" dirty="0"/>
          </a:p>
        </p:txBody>
      </p:sp>
      <p:sp>
        <p:nvSpPr>
          <p:cNvPr id="14" name="Text 12"/>
          <p:cNvSpPr txBox="1"/>
          <p:nvPr/>
        </p:nvSpPr>
        <p:spPr>
          <a:xfrm>
            <a:off x="3547872" y="3703320"/>
            <a:ext cx="256032" cy="502920"/>
          </a:xfrm>
          <a:prstGeom prst="rect">
            <a:avLst/>
          </a:prstGeom>
          <a:noFill/>
          <a:ln/>
        </p:spPr>
        <p:txBody>
          <a:bodyPr wrap="square" lIns="0" tIns="0" rIns="0" bIns="0" rtlCol="0" anchor="t"/>
          <a:lstStyle/>
          <a:p>
            <a:pPr marL="0" indent="0" algn="ctr">
              <a:buNone/>
            </a:pPr>
            <a:r>
              <a:rPr lang="en-US" sz="1400" b="1" dirty="0">
                <a:solidFill>
                  <a:srgbClr val="8FA8FF"/>
                </a:solidFill>
                <a:latin typeface="Calibri" pitchFamily="34" charset="0"/>
                <a:ea typeface="Calibri" pitchFamily="34" charset="-122"/>
                <a:cs typeface="Calibri" pitchFamily="34" charset="-120"/>
              </a:rPr>
              <a:t>→</a:t>
            </a:r>
            <a:endParaRPr lang="en-US" sz="1400" dirty="0"/>
          </a:p>
        </p:txBody>
      </p:sp>
      <p:sp>
        <p:nvSpPr>
          <p:cNvPr id="15" name="Shape 13"/>
          <p:cNvSpPr/>
          <p:nvPr/>
        </p:nvSpPr>
        <p:spPr>
          <a:xfrm>
            <a:off x="3803904" y="3703320"/>
            <a:ext cx="1417320" cy="502920"/>
          </a:xfrm>
          <a:prstGeom prst="roundRect">
            <a:avLst>
              <a:gd name="adj" fmla="val 18182"/>
            </a:avLst>
          </a:prstGeom>
          <a:solidFill>
            <a:srgbClr val="121A44"/>
          </a:solidFill>
          <a:ln/>
        </p:spPr>
      </p:sp>
      <p:sp>
        <p:nvSpPr>
          <p:cNvPr id="16" name="Text 14"/>
          <p:cNvSpPr txBox="1"/>
          <p:nvPr/>
        </p:nvSpPr>
        <p:spPr>
          <a:xfrm>
            <a:off x="3803904" y="3703320"/>
            <a:ext cx="1417320" cy="502920"/>
          </a:xfrm>
          <a:prstGeom prst="rect">
            <a:avLst/>
          </a:prstGeom>
          <a:noFill/>
          <a:ln/>
        </p:spPr>
        <p:txBody>
          <a:bodyPr wrap="square" lIns="0" tIns="0" rIns="0" bIns="0" rtlCol="0" anchor="t"/>
          <a:lstStyle/>
          <a:p>
            <a:pPr marL="0" indent="0" algn="ctr">
              <a:buNone/>
            </a:pPr>
            <a:r>
              <a:rPr lang="en-US" sz="1100" b="1" dirty="0">
                <a:solidFill>
                  <a:srgbClr val="FFFFFF"/>
                </a:solidFill>
                <a:latin typeface="Calibri" pitchFamily="34" charset="0"/>
                <a:ea typeface="Calibri" pitchFamily="34" charset="-122"/>
                <a:cs typeface="Calibri" pitchFamily="34" charset="-120"/>
              </a:rPr>
              <a:t>Revisión humana</a:t>
            </a:r>
            <a:endParaRPr lang="en-US" sz="1100" dirty="0"/>
          </a:p>
        </p:txBody>
      </p:sp>
      <p:sp>
        <p:nvSpPr>
          <p:cNvPr id="17" name="Text 15"/>
          <p:cNvSpPr txBox="1"/>
          <p:nvPr/>
        </p:nvSpPr>
        <p:spPr>
          <a:xfrm>
            <a:off x="5221224" y="3703320"/>
            <a:ext cx="256032" cy="502920"/>
          </a:xfrm>
          <a:prstGeom prst="rect">
            <a:avLst/>
          </a:prstGeom>
          <a:noFill/>
          <a:ln/>
        </p:spPr>
        <p:txBody>
          <a:bodyPr wrap="square" lIns="0" tIns="0" rIns="0" bIns="0" rtlCol="0" anchor="t"/>
          <a:lstStyle/>
          <a:p>
            <a:pPr marL="0" indent="0" algn="ctr">
              <a:buNone/>
            </a:pPr>
            <a:r>
              <a:rPr lang="en-US" sz="1400" b="1" dirty="0">
                <a:solidFill>
                  <a:srgbClr val="8FA8FF"/>
                </a:solidFill>
                <a:latin typeface="Calibri" pitchFamily="34" charset="0"/>
                <a:ea typeface="Calibri" pitchFamily="34" charset="-122"/>
                <a:cs typeface="Calibri" pitchFamily="34" charset="-120"/>
              </a:rPr>
              <a:t>→</a:t>
            </a:r>
            <a:endParaRPr lang="en-US" sz="1400" dirty="0"/>
          </a:p>
        </p:txBody>
      </p:sp>
      <p:sp>
        <p:nvSpPr>
          <p:cNvPr id="18" name="Shape 16"/>
          <p:cNvSpPr/>
          <p:nvPr/>
        </p:nvSpPr>
        <p:spPr>
          <a:xfrm>
            <a:off x="5477256" y="3703320"/>
            <a:ext cx="1417320" cy="502920"/>
          </a:xfrm>
          <a:prstGeom prst="roundRect">
            <a:avLst>
              <a:gd name="adj" fmla="val 18182"/>
            </a:avLst>
          </a:prstGeom>
          <a:solidFill>
            <a:srgbClr val="121A44"/>
          </a:solidFill>
          <a:ln/>
        </p:spPr>
      </p:sp>
      <p:sp>
        <p:nvSpPr>
          <p:cNvPr id="19" name="Text 17"/>
          <p:cNvSpPr txBox="1"/>
          <p:nvPr/>
        </p:nvSpPr>
        <p:spPr>
          <a:xfrm>
            <a:off x="5477256" y="3703320"/>
            <a:ext cx="1417320" cy="502920"/>
          </a:xfrm>
          <a:prstGeom prst="rect">
            <a:avLst/>
          </a:prstGeom>
          <a:noFill/>
          <a:ln/>
        </p:spPr>
        <p:txBody>
          <a:bodyPr wrap="square" lIns="0" tIns="0" rIns="0" bIns="0" rtlCol="0" anchor="t"/>
          <a:lstStyle/>
          <a:p>
            <a:pPr marL="0" indent="0" algn="ctr">
              <a:buNone/>
            </a:pPr>
            <a:r>
              <a:rPr lang="en-US" sz="1100" b="1" dirty="0">
                <a:solidFill>
                  <a:srgbClr val="FFFFFF"/>
                </a:solidFill>
                <a:latin typeface="Calibri" pitchFamily="34" charset="0"/>
                <a:ea typeface="Calibri" pitchFamily="34" charset="-122"/>
                <a:cs typeface="Calibri" pitchFamily="34" charset="-120"/>
              </a:rPr>
              <a:t>Aprobación</a:t>
            </a:r>
            <a:endParaRPr lang="en-US" sz="1100" dirty="0"/>
          </a:p>
        </p:txBody>
      </p:sp>
      <p:sp>
        <p:nvSpPr>
          <p:cNvPr id="20" name="Text 18"/>
          <p:cNvSpPr txBox="1"/>
          <p:nvPr/>
        </p:nvSpPr>
        <p:spPr>
          <a:xfrm>
            <a:off x="6894576" y="3703320"/>
            <a:ext cx="256032" cy="502920"/>
          </a:xfrm>
          <a:prstGeom prst="rect">
            <a:avLst/>
          </a:prstGeom>
          <a:noFill/>
          <a:ln/>
        </p:spPr>
        <p:txBody>
          <a:bodyPr wrap="square" lIns="0" tIns="0" rIns="0" bIns="0" rtlCol="0" anchor="t"/>
          <a:lstStyle/>
          <a:p>
            <a:pPr marL="0" indent="0" algn="ctr">
              <a:buNone/>
            </a:pPr>
            <a:r>
              <a:rPr lang="en-US" sz="1400" b="1" dirty="0">
                <a:solidFill>
                  <a:srgbClr val="8FA8FF"/>
                </a:solidFill>
                <a:latin typeface="Calibri" pitchFamily="34" charset="0"/>
                <a:ea typeface="Calibri" pitchFamily="34" charset="-122"/>
                <a:cs typeface="Calibri" pitchFamily="34" charset="-120"/>
              </a:rPr>
              <a:t>→</a:t>
            </a:r>
            <a:endParaRPr lang="en-US" sz="1400" dirty="0"/>
          </a:p>
        </p:txBody>
      </p:sp>
      <p:sp>
        <p:nvSpPr>
          <p:cNvPr id="21" name="Shape 19"/>
          <p:cNvSpPr/>
          <p:nvPr/>
        </p:nvSpPr>
        <p:spPr>
          <a:xfrm>
            <a:off x="7150608" y="3703320"/>
            <a:ext cx="1417320" cy="502920"/>
          </a:xfrm>
          <a:prstGeom prst="roundRect">
            <a:avLst>
              <a:gd name="adj" fmla="val 18182"/>
            </a:avLst>
          </a:prstGeom>
          <a:solidFill>
            <a:srgbClr val="121A44"/>
          </a:solidFill>
          <a:ln/>
        </p:spPr>
      </p:sp>
      <p:sp>
        <p:nvSpPr>
          <p:cNvPr id="22" name="Text 20"/>
          <p:cNvSpPr txBox="1"/>
          <p:nvPr/>
        </p:nvSpPr>
        <p:spPr>
          <a:xfrm>
            <a:off x="7150608" y="3703320"/>
            <a:ext cx="1417320" cy="502920"/>
          </a:xfrm>
          <a:prstGeom prst="rect">
            <a:avLst/>
          </a:prstGeom>
          <a:noFill/>
          <a:ln/>
        </p:spPr>
        <p:txBody>
          <a:bodyPr wrap="square" lIns="0" tIns="0" rIns="0" bIns="0" rtlCol="0" anchor="t"/>
          <a:lstStyle/>
          <a:p>
            <a:pPr marL="0" indent="0" algn="ctr">
              <a:buNone/>
            </a:pPr>
            <a:r>
              <a:rPr lang="en-US" sz="1100" b="1" dirty="0">
                <a:solidFill>
                  <a:srgbClr val="FFFFFF"/>
                </a:solidFill>
                <a:latin typeface="Calibri" pitchFamily="34" charset="0"/>
                <a:ea typeface="Calibri" pitchFamily="34" charset="-122"/>
                <a:cs typeface="Calibri" pitchFamily="34" charset="-120"/>
              </a:rPr>
              <a:t>Publicación</a:t>
            </a:r>
            <a:endParaRPr lang="en-US" sz="1100" dirty="0"/>
          </a:p>
        </p:txBody>
      </p:sp>
      <p:sp>
        <p:nvSpPr>
          <p:cNvPr id="23" name="Text 21"/>
          <p:cNvSpPr txBox="1"/>
          <p:nvPr/>
        </p:nvSpPr>
        <p:spPr>
          <a:xfrm>
            <a:off x="457200" y="4389120"/>
            <a:ext cx="8229600" cy="365760"/>
          </a:xfrm>
          <a:prstGeom prst="rect">
            <a:avLst/>
          </a:prstGeom>
          <a:noFill/>
          <a:ln/>
        </p:spPr>
        <p:txBody>
          <a:bodyPr wrap="square" lIns="0" tIns="0" rIns="0" bIns="0" rtlCol="0" anchor="t"/>
          <a:lstStyle/>
          <a:p>
            <a:pPr marL="0" indent="0">
              <a:buNone/>
            </a:pPr>
            <a:r>
              <a:rPr lang="en-US" sz="1150" i="1" dirty="0">
                <a:solidFill>
                  <a:srgbClr val="CADCFC"/>
                </a:solidFill>
                <a:latin typeface="Calibri" pitchFamily="34" charset="0"/>
                <a:ea typeface="Calibri" pitchFamily="34" charset="-122"/>
                <a:cs typeface="Calibri" pitchFamily="34" charset="-120"/>
              </a:rPr>
              <a:t>La inteligencia artificial actúa como herramienta de apoyo; la decisión final sobre la publicación permanece bajo control humano.</a:t>
            </a:r>
            <a:endParaRPr lang="en-US" sz="1150" dirty="0"/>
          </a:p>
        </p:txBody>
      </p:sp>
      <p:sp>
        <p:nvSpPr>
          <p:cNvPr id="24" name="Text 22"/>
          <p:cNvSpPr txBox="1"/>
          <p:nvPr/>
        </p:nvSpPr>
        <p:spPr>
          <a:xfrm>
            <a:off x="457200" y="4864608"/>
            <a:ext cx="2743200" cy="228600"/>
          </a:xfrm>
          <a:prstGeom prst="rect">
            <a:avLst/>
          </a:prstGeom>
          <a:noFill/>
          <a:ln/>
        </p:spPr>
        <p:txBody>
          <a:bodyPr wrap="square" lIns="0" tIns="0" rIns="0" bIns="0" rtlCol="0" anchor="t"/>
          <a:lstStyle/>
          <a:p>
            <a:pPr marL="0" indent="0">
              <a:buNone/>
            </a:pPr>
            <a:r>
              <a:rPr lang="en-US" sz="900" kern="0" spc="100" dirty="0">
                <a:solidFill>
                  <a:srgbClr val="93A4DC"/>
                </a:solidFill>
                <a:latin typeface="Calibri" pitchFamily="34" charset="0"/>
                <a:ea typeface="Calibri" pitchFamily="34" charset="-122"/>
                <a:cs typeface="Calibri" pitchFamily="34" charset="-120"/>
              </a:rPr>
              <a:t>Proyecto APT · CCHIA</a:t>
            </a:r>
            <a:endParaRPr lang="en-US" sz="900" dirty="0"/>
          </a:p>
        </p:txBody>
      </p:sp>
      <p:sp>
        <p:nvSpPr>
          <p:cNvPr id="25" name="Text 23"/>
          <p:cNvSpPr txBox="1"/>
          <p:nvPr/>
        </p:nvSpPr>
        <p:spPr>
          <a:xfrm>
            <a:off x="6400800" y="4864608"/>
            <a:ext cx="2286000" cy="228600"/>
          </a:xfrm>
          <a:prstGeom prst="rect">
            <a:avLst/>
          </a:prstGeom>
          <a:noFill/>
          <a:ln/>
        </p:spPr>
        <p:txBody>
          <a:bodyPr wrap="square" lIns="0" tIns="0" rIns="0" bIns="0" rtlCol="0" anchor="t"/>
          <a:lstStyle/>
          <a:p>
            <a:pPr marL="0" indent="0" algn="r">
              <a:buNone/>
            </a:pPr>
            <a:r>
              <a:rPr lang="en-US" sz="900" kern="0" spc="100" dirty="0">
                <a:solidFill>
                  <a:srgbClr val="93A4DC"/>
                </a:solidFill>
                <a:latin typeface="Calibri" pitchFamily="34" charset="0"/>
                <a:ea typeface="Calibri" pitchFamily="34" charset="-122"/>
                <a:cs typeface="Calibri" pitchFamily="34" charset="-120"/>
              </a:rPr>
              <a:t>3 / 11</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B2452"/>
        </a:solidFill>
        <a:effectLst/>
      </p:bgPr>
    </p:bg>
    <p:spTree>
      <p:nvGrpSpPr>
        <p:cNvPr id="1" name=""/>
        <p:cNvGrpSpPr/>
        <p:nvPr/>
      </p:nvGrpSpPr>
      <p:grpSpPr>
        <a:xfrm>
          <a:off x="0" y="0"/>
          <a:ext cx="0" cy="0"/>
          <a:chOff x="0" y="0"/>
          <a:chExt cx="0" cy="0"/>
        </a:xfrm>
      </p:grpSpPr>
      <p:sp>
        <p:nvSpPr>
          <p:cNvPr id="2" name="Shape 0"/>
          <p:cNvSpPr txBox="1"/>
          <p:nvPr/>
        </p:nvSpPr>
        <p:spPr>
          <a:xfrm>
            <a:off x="457200" y="457200"/>
            <a:ext cx="411480" cy="411480"/>
          </a:xfrm>
          <a:prstGeom prst="ellipse">
            <a:avLst/>
          </a:prstGeom>
          <a:solidFill>
            <a:srgbClr val="8FA8FF"/>
          </a:solidFill>
          <a:ln/>
        </p:spPr>
      </p:sp>
      <p:sp>
        <p:nvSpPr>
          <p:cNvPr id="3" name="Text 1"/>
          <p:cNvSpPr txBox="1"/>
          <p:nvPr/>
        </p:nvSpPr>
        <p:spPr>
          <a:xfrm>
            <a:off x="457200" y="457200"/>
            <a:ext cx="411480" cy="411480"/>
          </a:xfrm>
          <a:prstGeom prst="rect">
            <a:avLst/>
          </a:prstGeom>
          <a:noFill/>
          <a:ln/>
        </p:spPr>
        <p:txBody>
          <a:bodyPr wrap="square" lIns="0" tIns="0" rIns="0" bIns="0" rtlCol="0" anchor="t"/>
          <a:lstStyle/>
          <a:p>
            <a:pPr marL="0" indent="0" algn="ctr">
              <a:buNone/>
            </a:pPr>
            <a:r>
              <a:rPr lang="en-US" sz="1300" b="1" dirty="0">
                <a:solidFill>
                  <a:srgbClr val="0F1633"/>
                </a:solidFill>
                <a:latin typeface="Calibri" pitchFamily="34" charset="0"/>
                <a:ea typeface="Calibri" pitchFamily="34" charset="-122"/>
                <a:cs typeface="Calibri" pitchFamily="34" charset="-120"/>
              </a:rPr>
              <a:t>3</a:t>
            </a:r>
            <a:endParaRPr lang="en-US" sz="1300" dirty="0"/>
          </a:p>
        </p:txBody>
      </p:sp>
      <p:sp>
        <p:nvSpPr>
          <p:cNvPr id="4" name="Text 2"/>
          <p:cNvSpPr txBox="1"/>
          <p:nvPr/>
        </p:nvSpPr>
        <p:spPr>
          <a:xfrm>
            <a:off x="1005840" y="384048"/>
            <a:ext cx="7498080" cy="566928"/>
          </a:xfrm>
          <a:prstGeom prst="rect">
            <a:avLst/>
          </a:prstGeom>
          <a:noFill/>
          <a:ln/>
        </p:spPr>
        <p:txBody>
          <a:bodyPr wrap="square" lIns="0" tIns="0" rIns="0" bIns="0" rtlCol="0" anchor="t"/>
          <a:lstStyle/>
          <a:p>
            <a:pPr marL="0" indent="0">
              <a:buNone/>
            </a:pPr>
            <a:r>
              <a:rPr lang="en-US" sz="3000" b="1" dirty="0">
                <a:solidFill>
                  <a:srgbClr val="FFFFFF"/>
                </a:solidFill>
                <a:latin typeface="Calibri" pitchFamily="34" charset="0"/>
                <a:ea typeface="Calibri" pitchFamily="34" charset="-122"/>
                <a:cs typeface="Calibri" pitchFamily="34" charset="-120"/>
              </a:rPr>
              <a:t>Objetivos Específicos</a:t>
            </a:r>
            <a:endParaRPr lang="en-US" sz="3000" dirty="0"/>
          </a:p>
        </p:txBody>
      </p:sp>
      <p:sp>
        <p:nvSpPr>
          <p:cNvPr id="5" name="Text 3"/>
          <p:cNvSpPr txBox="1"/>
          <p:nvPr/>
        </p:nvSpPr>
        <p:spPr>
          <a:xfrm>
            <a:off x="1005840" y="960120"/>
            <a:ext cx="7680960" cy="292608"/>
          </a:xfrm>
          <a:prstGeom prst="rect">
            <a:avLst/>
          </a:prstGeom>
          <a:noFill/>
          <a:ln/>
        </p:spPr>
        <p:txBody>
          <a:bodyPr wrap="square" lIns="0" tIns="0" rIns="0" bIns="0" rtlCol="0" anchor="t"/>
          <a:lstStyle/>
          <a:p>
            <a:pPr marL="0" indent="0">
              <a:buNone/>
            </a:pPr>
            <a:r>
              <a:rPr lang="en-US" sz="1300" dirty="0">
                <a:solidFill>
                  <a:srgbClr val="CADCFC"/>
                </a:solidFill>
                <a:latin typeface="Calibri" pitchFamily="34" charset="0"/>
                <a:ea typeface="Calibri" pitchFamily="34" charset="-122"/>
                <a:cs typeface="Calibri" pitchFamily="34" charset="-120"/>
              </a:rPr>
              <a:t>Metas concretas que permiten alcanzar el objetivo general.</a:t>
            </a:r>
            <a:endParaRPr lang="en-US" sz="1300" dirty="0"/>
          </a:p>
        </p:txBody>
      </p:sp>
      <p:sp>
        <p:nvSpPr>
          <p:cNvPr id="6" name="Shape 4"/>
          <p:cNvSpPr/>
          <p:nvPr/>
        </p:nvSpPr>
        <p:spPr>
          <a:xfrm>
            <a:off x="457200" y="1325880"/>
            <a:ext cx="2615184" cy="1828800"/>
          </a:xfrm>
          <a:prstGeom prst="roundRect">
            <a:avLst>
              <a:gd name="adj" fmla="val 3500"/>
            </a:avLst>
          </a:prstGeom>
          <a:solidFill>
            <a:srgbClr val="27316B"/>
          </a:solidFill>
          <a:ln/>
        </p:spPr>
      </p:sp>
      <p:sp>
        <p:nvSpPr>
          <p:cNvPr id="7" name="Shape 5"/>
          <p:cNvSpPr txBox="1"/>
          <p:nvPr/>
        </p:nvSpPr>
        <p:spPr>
          <a:xfrm>
            <a:off x="603504" y="1472184"/>
            <a:ext cx="384048" cy="384048"/>
          </a:xfrm>
          <a:prstGeom prst="ellipse">
            <a:avLst/>
          </a:prstGeom>
          <a:solidFill>
            <a:srgbClr val="8FA8FF"/>
          </a:solidFill>
          <a:ln/>
        </p:spPr>
      </p:sp>
      <p:sp>
        <p:nvSpPr>
          <p:cNvPr id="8" name="Text 6"/>
          <p:cNvSpPr txBox="1"/>
          <p:nvPr/>
        </p:nvSpPr>
        <p:spPr>
          <a:xfrm>
            <a:off x="603504" y="1472184"/>
            <a:ext cx="384048" cy="384048"/>
          </a:xfrm>
          <a:prstGeom prst="rect">
            <a:avLst/>
          </a:prstGeom>
          <a:noFill/>
          <a:ln/>
        </p:spPr>
        <p:txBody>
          <a:bodyPr wrap="square" lIns="0" tIns="0" rIns="0" bIns="0" rtlCol="0" anchor="t"/>
          <a:lstStyle/>
          <a:p>
            <a:pPr marL="0" indent="0" algn="ctr">
              <a:buNone/>
            </a:pPr>
            <a:r>
              <a:rPr lang="en-US" sz="1300" b="1" dirty="0">
                <a:solidFill>
                  <a:srgbClr val="0F1633"/>
                </a:solidFill>
                <a:latin typeface="Calibri" pitchFamily="34" charset="0"/>
                <a:ea typeface="Calibri" pitchFamily="34" charset="-122"/>
                <a:cs typeface="Calibri" pitchFamily="34" charset="-120"/>
              </a:rPr>
              <a:t>1</a:t>
            </a:r>
            <a:endParaRPr lang="en-US" sz="1300" dirty="0"/>
          </a:p>
        </p:txBody>
      </p:sp>
      <p:sp>
        <p:nvSpPr>
          <p:cNvPr id="9" name="Text 7"/>
          <p:cNvSpPr txBox="1"/>
          <p:nvPr/>
        </p:nvSpPr>
        <p:spPr>
          <a:xfrm>
            <a:off x="603504" y="1984248"/>
            <a:ext cx="2322576" cy="457200"/>
          </a:xfrm>
          <a:prstGeom prst="rect">
            <a:avLst/>
          </a:prstGeom>
          <a:noFill/>
          <a:ln/>
        </p:spPr>
        <p:txBody>
          <a:bodyPr wrap="square" lIns="0" tIns="0" rIns="0" bIns="0" rtlCol="0" anchor="t"/>
          <a:lstStyle/>
          <a:p>
            <a:pPr marL="0" indent="0">
              <a:buNone/>
            </a:pPr>
            <a:r>
              <a:rPr lang="en-US" sz="1300" b="1" dirty="0">
                <a:solidFill>
                  <a:srgbClr val="FFFFFF"/>
                </a:solidFill>
                <a:latin typeface="Calibri" pitchFamily="34" charset="0"/>
                <a:ea typeface="Calibri" pitchFamily="34" charset="-122"/>
                <a:cs typeface="Calibri" pitchFamily="34" charset="-120"/>
              </a:rPr>
              <a:t>Recopilar y organizar información</a:t>
            </a:r>
            <a:endParaRPr lang="en-US" sz="1300" dirty="0"/>
          </a:p>
        </p:txBody>
      </p:sp>
      <p:sp>
        <p:nvSpPr>
          <p:cNvPr id="10" name="Text 8"/>
          <p:cNvSpPr txBox="1"/>
          <p:nvPr/>
        </p:nvSpPr>
        <p:spPr>
          <a:xfrm>
            <a:off x="603504" y="2441448"/>
            <a:ext cx="2322576" cy="685800"/>
          </a:xfrm>
          <a:prstGeom prst="rect">
            <a:avLst/>
          </a:prstGeom>
          <a:noFill/>
          <a:ln/>
        </p:spPr>
        <p:txBody>
          <a:bodyPr wrap="square" lIns="0" tIns="0" rIns="0" bIns="0" rtlCol="0" anchor="t"/>
          <a:lstStyle/>
          <a:p>
            <a:pPr marL="0" indent="0">
              <a:buNone/>
            </a:pPr>
            <a:r>
              <a:rPr lang="en-US" sz="1050" dirty="0">
                <a:solidFill>
                  <a:srgbClr val="CADCFC"/>
                </a:solidFill>
                <a:latin typeface="Calibri" pitchFamily="34" charset="0"/>
                <a:ea typeface="Calibri" pitchFamily="34" charset="-122"/>
                <a:cs typeface="Calibri" pitchFamily="34" charset="-120"/>
              </a:rPr>
              <a:t>Mecanismos para recopilar, almacenar y organizar información relevante para la generación de contenido.</a:t>
            </a:r>
            <a:endParaRPr lang="en-US" sz="1050" dirty="0"/>
          </a:p>
        </p:txBody>
      </p:sp>
      <p:sp>
        <p:nvSpPr>
          <p:cNvPr id="11" name="Shape 9"/>
          <p:cNvSpPr/>
          <p:nvPr/>
        </p:nvSpPr>
        <p:spPr>
          <a:xfrm>
            <a:off x="3264408" y="1325880"/>
            <a:ext cx="2615184" cy="1828800"/>
          </a:xfrm>
          <a:prstGeom prst="roundRect">
            <a:avLst>
              <a:gd name="adj" fmla="val 3500"/>
            </a:avLst>
          </a:prstGeom>
          <a:solidFill>
            <a:srgbClr val="27316B"/>
          </a:solidFill>
          <a:ln/>
        </p:spPr>
      </p:sp>
      <p:sp>
        <p:nvSpPr>
          <p:cNvPr id="12" name="Shape 10"/>
          <p:cNvSpPr txBox="1"/>
          <p:nvPr/>
        </p:nvSpPr>
        <p:spPr>
          <a:xfrm>
            <a:off x="3410712" y="1472184"/>
            <a:ext cx="384048" cy="384048"/>
          </a:xfrm>
          <a:prstGeom prst="ellipse">
            <a:avLst/>
          </a:prstGeom>
          <a:solidFill>
            <a:srgbClr val="8FA8FF"/>
          </a:solidFill>
          <a:ln/>
        </p:spPr>
      </p:sp>
      <p:sp>
        <p:nvSpPr>
          <p:cNvPr id="13" name="Text 11"/>
          <p:cNvSpPr txBox="1"/>
          <p:nvPr/>
        </p:nvSpPr>
        <p:spPr>
          <a:xfrm>
            <a:off x="3410712" y="1472184"/>
            <a:ext cx="384048" cy="384048"/>
          </a:xfrm>
          <a:prstGeom prst="rect">
            <a:avLst/>
          </a:prstGeom>
          <a:noFill/>
          <a:ln/>
        </p:spPr>
        <p:txBody>
          <a:bodyPr wrap="square" lIns="0" tIns="0" rIns="0" bIns="0" rtlCol="0" anchor="t"/>
          <a:lstStyle/>
          <a:p>
            <a:pPr marL="0" indent="0" algn="ctr">
              <a:buNone/>
            </a:pPr>
            <a:r>
              <a:rPr lang="en-US" sz="1300" b="1" dirty="0">
                <a:solidFill>
                  <a:srgbClr val="0F1633"/>
                </a:solidFill>
                <a:latin typeface="Calibri" pitchFamily="34" charset="0"/>
                <a:ea typeface="Calibri" pitchFamily="34" charset="-122"/>
                <a:cs typeface="Calibri" pitchFamily="34" charset="-120"/>
              </a:rPr>
              <a:t>2</a:t>
            </a:r>
            <a:endParaRPr lang="en-US" sz="1300" dirty="0"/>
          </a:p>
        </p:txBody>
      </p:sp>
      <p:sp>
        <p:nvSpPr>
          <p:cNvPr id="14" name="Text 12"/>
          <p:cNvSpPr txBox="1"/>
          <p:nvPr/>
        </p:nvSpPr>
        <p:spPr>
          <a:xfrm>
            <a:off x="3410712" y="1984248"/>
            <a:ext cx="2322576" cy="457200"/>
          </a:xfrm>
          <a:prstGeom prst="rect">
            <a:avLst/>
          </a:prstGeom>
          <a:noFill/>
          <a:ln/>
        </p:spPr>
        <p:txBody>
          <a:bodyPr wrap="square" lIns="0" tIns="0" rIns="0" bIns="0" rtlCol="0" anchor="t"/>
          <a:lstStyle/>
          <a:p>
            <a:pPr marL="0" indent="0">
              <a:buNone/>
            </a:pPr>
            <a:r>
              <a:rPr lang="en-US" sz="1300" b="1" dirty="0">
                <a:solidFill>
                  <a:srgbClr val="FFFFFF"/>
                </a:solidFill>
                <a:latin typeface="Calibri" pitchFamily="34" charset="0"/>
                <a:ea typeface="Calibri" pitchFamily="34" charset="-122"/>
                <a:cs typeface="Calibri" pitchFamily="34" charset="-120"/>
              </a:rPr>
              <a:t>IA como apoyo en la creación</a:t>
            </a:r>
            <a:endParaRPr lang="en-US" sz="1300" dirty="0"/>
          </a:p>
        </p:txBody>
      </p:sp>
      <p:sp>
        <p:nvSpPr>
          <p:cNvPr id="15" name="Text 13"/>
          <p:cNvSpPr txBox="1"/>
          <p:nvPr/>
        </p:nvSpPr>
        <p:spPr>
          <a:xfrm>
            <a:off x="3410712" y="2441448"/>
            <a:ext cx="2322576" cy="685800"/>
          </a:xfrm>
          <a:prstGeom prst="rect">
            <a:avLst/>
          </a:prstGeom>
          <a:noFill/>
          <a:ln/>
        </p:spPr>
        <p:txBody>
          <a:bodyPr wrap="square" lIns="0" tIns="0" rIns="0" bIns="0" rtlCol="0" anchor="t"/>
          <a:lstStyle/>
          <a:p>
            <a:pPr marL="0" indent="0">
              <a:buNone/>
            </a:pPr>
            <a:r>
              <a:rPr lang="en-US" sz="1050" dirty="0">
                <a:solidFill>
                  <a:srgbClr val="CADCFC"/>
                </a:solidFill>
                <a:latin typeface="Calibri" pitchFamily="34" charset="0"/>
                <a:ea typeface="Calibri" pitchFamily="34" charset="-122"/>
                <a:cs typeface="Calibri" pitchFamily="34" charset="-120"/>
              </a:rPr>
              <a:t>Incorporar herramientas de IA para redacción, resumen, estructuración, corrección y mejora de contenidos.</a:t>
            </a:r>
            <a:endParaRPr lang="en-US" sz="1050" dirty="0"/>
          </a:p>
        </p:txBody>
      </p:sp>
      <p:sp>
        <p:nvSpPr>
          <p:cNvPr id="16" name="Shape 14"/>
          <p:cNvSpPr/>
          <p:nvPr/>
        </p:nvSpPr>
        <p:spPr>
          <a:xfrm>
            <a:off x="6071616" y="1325880"/>
            <a:ext cx="2615184" cy="1828800"/>
          </a:xfrm>
          <a:prstGeom prst="roundRect">
            <a:avLst>
              <a:gd name="adj" fmla="val 3500"/>
            </a:avLst>
          </a:prstGeom>
          <a:solidFill>
            <a:srgbClr val="27316B"/>
          </a:solidFill>
          <a:ln/>
        </p:spPr>
      </p:sp>
      <p:sp>
        <p:nvSpPr>
          <p:cNvPr id="17" name="Shape 15"/>
          <p:cNvSpPr txBox="1"/>
          <p:nvPr/>
        </p:nvSpPr>
        <p:spPr>
          <a:xfrm>
            <a:off x="6217920" y="1472184"/>
            <a:ext cx="384048" cy="384048"/>
          </a:xfrm>
          <a:prstGeom prst="ellipse">
            <a:avLst/>
          </a:prstGeom>
          <a:solidFill>
            <a:srgbClr val="8FA8FF"/>
          </a:solidFill>
          <a:ln/>
        </p:spPr>
      </p:sp>
      <p:sp>
        <p:nvSpPr>
          <p:cNvPr id="18" name="Text 16"/>
          <p:cNvSpPr txBox="1"/>
          <p:nvPr/>
        </p:nvSpPr>
        <p:spPr>
          <a:xfrm>
            <a:off x="6217920" y="1472184"/>
            <a:ext cx="384048" cy="384048"/>
          </a:xfrm>
          <a:prstGeom prst="rect">
            <a:avLst/>
          </a:prstGeom>
          <a:noFill/>
          <a:ln/>
        </p:spPr>
        <p:txBody>
          <a:bodyPr wrap="square" lIns="0" tIns="0" rIns="0" bIns="0" rtlCol="0" anchor="t"/>
          <a:lstStyle/>
          <a:p>
            <a:pPr marL="0" indent="0" algn="ctr">
              <a:buNone/>
            </a:pPr>
            <a:r>
              <a:rPr lang="en-US" sz="1300" b="1" dirty="0">
                <a:solidFill>
                  <a:srgbClr val="0F1633"/>
                </a:solidFill>
                <a:latin typeface="Calibri" pitchFamily="34" charset="0"/>
                <a:ea typeface="Calibri" pitchFamily="34" charset="-122"/>
                <a:cs typeface="Calibri" pitchFamily="34" charset="-120"/>
              </a:rPr>
              <a:t>3</a:t>
            </a:r>
            <a:endParaRPr lang="en-US" sz="1300" dirty="0"/>
          </a:p>
        </p:txBody>
      </p:sp>
      <p:sp>
        <p:nvSpPr>
          <p:cNvPr id="19" name="Text 17"/>
          <p:cNvSpPr txBox="1"/>
          <p:nvPr/>
        </p:nvSpPr>
        <p:spPr>
          <a:xfrm>
            <a:off x="6217920" y="1984248"/>
            <a:ext cx="2322576" cy="457200"/>
          </a:xfrm>
          <a:prstGeom prst="rect">
            <a:avLst/>
          </a:prstGeom>
          <a:noFill/>
          <a:ln/>
        </p:spPr>
        <p:txBody>
          <a:bodyPr wrap="square" lIns="0" tIns="0" rIns="0" bIns="0" rtlCol="0" anchor="t"/>
          <a:lstStyle/>
          <a:p>
            <a:pPr marL="0" indent="0">
              <a:buNone/>
            </a:pPr>
            <a:r>
              <a:rPr lang="en-US" sz="1300" b="1" dirty="0">
                <a:solidFill>
                  <a:srgbClr val="FFFFFF"/>
                </a:solidFill>
                <a:latin typeface="Calibri" pitchFamily="34" charset="0"/>
                <a:ea typeface="Calibri" pitchFamily="34" charset="-122"/>
                <a:cs typeface="Calibri" pitchFamily="34" charset="-120"/>
              </a:rPr>
              <a:t>Revisión y aprobación humana</a:t>
            </a:r>
            <a:endParaRPr lang="en-US" sz="1300" dirty="0"/>
          </a:p>
        </p:txBody>
      </p:sp>
      <p:sp>
        <p:nvSpPr>
          <p:cNvPr id="20" name="Text 18"/>
          <p:cNvSpPr txBox="1"/>
          <p:nvPr/>
        </p:nvSpPr>
        <p:spPr>
          <a:xfrm>
            <a:off x="6217920" y="2441448"/>
            <a:ext cx="2322576" cy="685800"/>
          </a:xfrm>
          <a:prstGeom prst="rect">
            <a:avLst/>
          </a:prstGeom>
          <a:noFill/>
          <a:ln/>
        </p:spPr>
        <p:txBody>
          <a:bodyPr wrap="square" lIns="0" tIns="0" rIns="0" bIns="0" rtlCol="0" anchor="t"/>
          <a:lstStyle/>
          <a:p>
            <a:pPr marL="0" indent="0">
              <a:buNone/>
            </a:pPr>
            <a:r>
              <a:rPr lang="en-US" sz="1050" dirty="0">
                <a:solidFill>
                  <a:srgbClr val="CADCFC"/>
                </a:solidFill>
                <a:latin typeface="Calibri" pitchFamily="34" charset="0"/>
                <a:ea typeface="Calibri" pitchFamily="34" charset="-122"/>
                <a:cs typeface="Calibri" pitchFamily="34" charset="-120"/>
              </a:rPr>
              <a:t>Establecer un flujo para revisar, editar, validar y aprobar los contenidos antes de publicarlos.</a:t>
            </a:r>
            <a:endParaRPr lang="en-US" sz="1050" dirty="0"/>
          </a:p>
        </p:txBody>
      </p:sp>
      <p:sp>
        <p:nvSpPr>
          <p:cNvPr id="21" name="Shape 19"/>
          <p:cNvSpPr/>
          <p:nvPr/>
        </p:nvSpPr>
        <p:spPr>
          <a:xfrm>
            <a:off x="1860804" y="3246120"/>
            <a:ext cx="2615184" cy="1280160"/>
          </a:xfrm>
          <a:prstGeom prst="roundRect">
            <a:avLst>
              <a:gd name="adj" fmla="val 5000"/>
            </a:avLst>
          </a:prstGeom>
          <a:solidFill>
            <a:srgbClr val="27316B"/>
          </a:solidFill>
          <a:ln/>
        </p:spPr>
      </p:sp>
      <p:sp>
        <p:nvSpPr>
          <p:cNvPr id="22" name="Shape 20"/>
          <p:cNvSpPr txBox="1"/>
          <p:nvPr/>
        </p:nvSpPr>
        <p:spPr>
          <a:xfrm>
            <a:off x="2007108" y="3429000"/>
            <a:ext cx="329184" cy="329184"/>
          </a:xfrm>
          <a:prstGeom prst="ellipse">
            <a:avLst/>
          </a:prstGeom>
          <a:solidFill>
            <a:srgbClr val="8FA8FF"/>
          </a:solidFill>
          <a:ln/>
        </p:spPr>
      </p:sp>
      <p:sp>
        <p:nvSpPr>
          <p:cNvPr id="23" name="Text 21"/>
          <p:cNvSpPr txBox="1"/>
          <p:nvPr/>
        </p:nvSpPr>
        <p:spPr>
          <a:xfrm>
            <a:off x="2007108" y="3429000"/>
            <a:ext cx="329184" cy="329184"/>
          </a:xfrm>
          <a:prstGeom prst="rect">
            <a:avLst/>
          </a:prstGeom>
          <a:noFill/>
          <a:ln/>
        </p:spPr>
        <p:txBody>
          <a:bodyPr wrap="square" lIns="0" tIns="0" rIns="0" bIns="0" rtlCol="0" anchor="t"/>
          <a:lstStyle/>
          <a:p>
            <a:pPr marL="0" indent="0" algn="ctr">
              <a:buNone/>
            </a:pPr>
            <a:r>
              <a:rPr lang="en-US" sz="1300" b="1" dirty="0">
                <a:solidFill>
                  <a:srgbClr val="0F1633"/>
                </a:solidFill>
                <a:latin typeface="Calibri" pitchFamily="34" charset="0"/>
                <a:ea typeface="Calibri" pitchFamily="34" charset="-122"/>
                <a:cs typeface="Calibri" pitchFamily="34" charset="-120"/>
              </a:rPr>
              <a:t>4</a:t>
            </a:r>
            <a:endParaRPr lang="en-US" sz="1300" dirty="0"/>
          </a:p>
        </p:txBody>
      </p:sp>
      <p:sp>
        <p:nvSpPr>
          <p:cNvPr id="24" name="Text 22"/>
          <p:cNvSpPr txBox="1"/>
          <p:nvPr/>
        </p:nvSpPr>
        <p:spPr>
          <a:xfrm>
            <a:off x="2464308" y="3419856"/>
            <a:ext cx="1865376" cy="329184"/>
          </a:xfrm>
          <a:prstGeom prst="rect">
            <a:avLst/>
          </a:prstGeom>
          <a:noFill/>
          <a:ln/>
        </p:spPr>
        <p:txBody>
          <a:bodyPr wrap="square" lIns="0" tIns="0" rIns="0" bIns="0" rtlCol="0" anchor="t"/>
          <a:lstStyle/>
          <a:p>
            <a:pPr marL="0" indent="0">
              <a:buNone/>
            </a:pPr>
            <a:r>
              <a:rPr lang="en-US" sz="1300" b="1" dirty="0">
                <a:solidFill>
                  <a:srgbClr val="FFFFFF"/>
                </a:solidFill>
                <a:latin typeface="Calibri" pitchFamily="34" charset="0"/>
                <a:ea typeface="Calibri" pitchFamily="34" charset="-122"/>
                <a:cs typeface="Calibri" pitchFamily="34" charset="-120"/>
              </a:rPr>
              <a:t>Gestión de contenidos</a:t>
            </a:r>
            <a:endParaRPr lang="en-US" sz="1300" dirty="0"/>
          </a:p>
        </p:txBody>
      </p:sp>
      <p:sp>
        <p:nvSpPr>
          <p:cNvPr id="25" name="Text 23"/>
          <p:cNvSpPr txBox="1"/>
          <p:nvPr/>
        </p:nvSpPr>
        <p:spPr>
          <a:xfrm>
            <a:off x="2007108" y="3813048"/>
            <a:ext cx="2322576" cy="658368"/>
          </a:xfrm>
          <a:prstGeom prst="rect">
            <a:avLst/>
          </a:prstGeom>
          <a:noFill/>
          <a:ln/>
        </p:spPr>
        <p:txBody>
          <a:bodyPr wrap="square" lIns="0" tIns="0" rIns="0" bIns="0" rtlCol="0" anchor="t"/>
          <a:lstStyle/>
          <a:p>
            <a:pPr marL="0" indent="0">
              <a:buNone/>
            </a:pPr>
            <a:r>
              <a:rPr lang="en-US" sz="1050" dirty="0">
                <a:solidFill>
                  <a:srgbClr val="CADCFC"/>
                </a:solidFill>
                <a:latin typeface="Calibri" pitchFamily="34" charset="0"/>
                <a:ea typeface="Calibri" pitchFamily="34" charset="-122"/>
                <a:cs typeface="Calibri" pitchFamily="34" charset="-120"/>
              </a:rPr>
              <a:t>Permitir la creación, edición, organización y administración de contenidos dentro de la plataforma.</a:t>
            </a:r>
            <a:endParaRPr lang="en-US" sz="1050" dirty="0"/>
          </a:p>
        </p:txBody>
      </p:sp>
      <p:sp>
        <p:nvSpPr>
          <p:cNvPr id="26" name="Shape 24"/>
          <p:cNvSpPr/>
          <p:nvPr/>
        </p:nvSpPr>
        <p:spPr>
          <a:xfrm>
            <a:off x="4668012" y="3246120"/>
            <a:ext cx="2615184" cy="1280160"/>
          </a:xfrm>
          <a:prstGeom prst="roundRect">
            <a:avLst>
              <a:gd name="adj" fmla="val 5000"/>
            </a:avLst>
          </a:prstGeom>
          <a:solidFill>
            <a:srgbClr val="27316B"/>
          </a:solidFill>
          <a:ln/>
        </p:spPr>
      </p:sp>
      <p:sp>
        <p:nvSpPr>
          <p:cNvPr id="27" name="Shape 25"/>
          <p:cNvSpPr txBox="1"/>
          <p:nvPr/>
        </p:nvSpPr>
        <p:spPr>
          <a:xfrm>
            <a:off x="4814316" y="3429000"/>
            <a:ext cx="329184" cy="329184"/>
          </a:xfrm>
          <a:prstGeom prst="ellipse">
            <a:avLst/>
          </a:prstGeom>
          <a:solidFill>
            <a:srgbClr val="8FA8FF"/>
          </a:solidFill>
          <a:ln/>
        </p:spPr>
      </p:sp>
      <p:sp>
        <p:nvSpPr>
          <p:cNvPr id="28" name="Text 26"/>
          <p:cNvSpPr txBox="1"/>
          <p:nvPr/>
        </p:nvSpPr>
        <p:spPr>
          <a:xfrm>
            <a:off x="4814316" y="3429000"/>
            <a:ext cx="329184" cy="329184"/>
          </a:xfrm>
          <a:prstGeom prst="rect">
            <a:avLst/>
          </a:prstGeom>
          <a:noFill/>
          <a:ln/>
        </p:spPr>
        <p:txBody>
          <a:bodyPr wrap="square" lIns="0" tIns="0" rIns="0" bIns="0" rtlCol="0" anchor="t"/>
          <a:lstStyle/>
          <a:p>
            <a:pPr marL="0" indent="0" algn="ctr">
              <a:buNone/>
            </a:pPr>
            <a:r>
              <a:rPr lang="en-US" sz="1300" b="1" dirty="0">
                <a:solidFill>
                  <a:srgbClr val="0F1633"/>
                </a:solidFill>
                <a:latin typeface="Calibri" pitchFamily="34" charset="0"/>
                <a:ea typeface="Calibri" pitchFamily="34" charset="-122"/>
                <a:cs typeface="Calibri" pitchFamily="34" charset="-120"/>
              </a:rPr>
              <a:t>5</a:t>
            </a:r>
            <a:endParaRPr lang="en-US" sz="1300" dirty="0"/>
          </a:p>
        </p:txBody>
      </p:sp>
      <p:sp>
        <p:nvSpPr>
          <p:cNvPr id="29" name="Text 27"/>
          <p:cNvSpPr txBox="1"/>
          <p:nvPr/>
        </p:nvSpPr>
        <p:spPr>
          <a:xfrm>
            <a:off x="5271516" y="3419856"/>
            <a:ext cx="1865376" cy="329184"/>
          </a:xfrm>
          <a:prstGeom prst="rect">
            <a:avLst/>
          </a:prstGeom>
          <a:noFill/>
          <a:ln/>
        </p:spPr>
        <p:txBody>
          <a:bodyPr wrap="square" lIns="0" tIns="0" rIns="0" bIns="0" rtlCol="0" anchor="t"/>
          <a:lstStyle/>
          <a:p>
            <a:pPr marL="0" indent="0">
              <a:buNone/>
            </a:pPr>
            <a:r>
              <a:rPr lang="en-US" sz="1300" b="1" dirty="0">
                <a:solidFill>
                  <a:srgbClr val="FFFFFF"/>
                </a:solidFill>
                <a:latin typeface="Calibri" pitchFamily="34" charset="0"/>
                <a:ea typeface="Calibri" pitchFamily="34" charset="-122"/>
                <a:cs typeface="Calibri" pitchFamily="34" charset="-120"/>
              </a:rPr>
              <a:t>Publicación pública</a:t>
            </a:r>
            <a:endParaRPr lang="en-US" sz="1300" dirty="0"/>
          </a:p>
        </p:txBody>
      </p:sp>
      <p:sp>
        <p:nvSpPr>
          <p:cNvPr id="30" name="Text 28"/>
          <p:cNvSpPr txBox="1"/>
          <p:nvPr/>
        </p:nvSpPr>
        <p:spPr>
          <a:xfrm>
            <a:off x="4814316" y="3813048"/>
            <a:ext cx="2322576" cy="658368"/>
          </a:xfrm>
          <a:prstGeom prst="rect">
            <a:avLst/>
          </a:prstGeom>
          <a:noFill/>
          <a:ln/>
        </p:spPr>
        <p:txBody>
          <a:bodyPr wrap="square" lIns="0" tIns="0" rIns="0" bIns="0" rtlCol="0" anchor="t"/>
          <a:lstStyle/>
          <a:p>
            <a:pPr marL="0" indent="0">
              <a:buNone/>
            </a:pPr>
            <a:r>
              <a:rPr lang="en-US" sz="1050" dirty="0">
                <a:solidFill>
                  <a:srgbClr val="CADCFC"/>
                </a:solidFill>
                <a:latin typeface="Calibri" pitchFamily="34" charset="0"/>
                <a:ea typeface="Calibri" pitchFamily="34" charset="-122"/>
                <a:cs typeface="Calibri" pitchFamily="34" charset="-120"/>
              </a:rPr>
              <a:t>Proporcionar mecanismos para publicar y difundir contenidos de forma organizada y accesible al público.</a:t>
            </a:r>
            <a:endParaRPr lang="en-US" sz="1050" dirty="0"/>
          </a:p>
        </p:txBody>
      </p:sp>
      <p:sp>
        <p:nvSpPr>
          <p:cNvPr id="31" name="Text 29"/>
          <p:cNvSpPr txBox="1"/>
          <p:nvPr/>
        </p:nvSpPr>
        <p:spPr>
          <a:xfrm>
            <a:off x="457200" y="4864608"/>
            <a:ext cx="2743200" cy="228600"/>
          </a:xfrm>
          <a:prstGeom prst="rect">
            <a:avLst/>
          </a:prstGeom>
          <a:noFill/>
          <a:ln/>
        </p:spPr>
        <p:txBody>
          <a:bodyPr wrap="square" lIns="0" tIns="0" rIns="0" bIns="0" rtlCol="0" anchor="t"/>
          <a:lstStyle/>
          <a:p>
            <a:pPr marL="0" indent="0">
              <a:buNone/>
            </a:pPr>
            <a:r>
              <a:rPr lang="en-US" sz="900" kern="0" spc="100" dirty="0">
                <a:solidFill>
                  <a:srgbClr val="93A4DC"/>
                </a:solidFill>
                <a:latin typeface="Calibri" pitchFamily="34" charset="0"/>
                <a:ea typeface="Calibri" pitchFamily="34" charset="-122"/>
                <a:cs typeface="Calibri" pitchFamily="34" charset="-120"/>
              </a:rPr>
              <a:t>Proyecto APT · CCHIA</a:t>
            </a:r>
            <a:endParaRPr lang="en-US" sz="900" dirty="0"/>
          </a:p>
        </p:txBody>
      </p:sp>
      <p:sp>
        <p:nvSpPr>
          <p:cNvPr id="32" name="Text 30"/>
          <p:cNvSpPr txBox="1"/>
          <p:nvPr/>
        </p:nvSpPr>
        <p:spPr>
          <a:xfrm>
            <a:off x="6400800" y="4864608"/>
            <a:ext cx="2286000" cy="228600"/>
          </a:xfrm>
          <a:prstGeom prst="rect">
            <a:avLst/>
          </a:prstGeom>
          <a:noFill/>
          <a:ln/>
        </p:spPr>
        <p:txBody>
          <a:bodyPr wrap="square" lIns="0" tIns="0" rIns="0" bIns="0" rtlCol="0" anchor="t"/>
          <a:lstStyle/>
          <a:p>
            <a:pPr marL="0" indent="0" algn="r">
              <a:buNone/>
            </a:pPr>
            <a:r>
              <a:rPr lang="en-US" sz="900" kern="0" spc="100" dirty="0">
                <a:solidFill>
                  <a:srgbClr val="93A4DC"/>
                </a:solidFill>
                <a:latin typeface="Calibri" pitchFamily="34" charset="0"/>
                <a:ea typeface="Calibri" pitchFamily="34" charset="-122"/>
                <a:cs typeface="Calibri" pitchFamily="34" charset="-120"/>
              </a:rPr>
              <a:t>4 / 11</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6">
    <p:bg>
      <p:bgPr>
        <a:solidFill>
          <a:srgbClr val="1B2452"/>
        </a:solidFill>
        <a:effectLst/>
      </p:bgPr>
    </p:bg>
    <p:spTree>
      <p:nvGrpSpPr>
        <p:cNvPr id="1" name=""/>
        <p:cNvGrpSpPr/>
        <p:nvPr/>
      </p:nvGrpSpPr>
      <p:grpSpPr>
        <a:xfrm>
          <a:off x="0" y="0"/>
          <a:ext cx="0" cy="0"/>
          <a:chOff x="0" y="0"/>
          <a:chExt cx="0" cy="0"/>
        </a:xfrm>
      </p:grpSpPr>
      <p:sp>
        <p:nvSpPr>
          <p:cNvPr id="2" name="Shape 0"/>
          <p:cNvSpPr txBox="1"/>
          <p:nvPr/>
        </p:nvSpPr>
        <p:spPr>
          <a:xfrm>
            <a:off x="457200" y="457200"/>
            <a:ext cx="411480" cy="411480"/>
          </a:xfrm>
          <a:prstGeom prst="ellipse">
            <a:avLst/>
          </a:prstGeom>
          <a:solidFill>
            <a:srgbClr val="8FA8FF"/>
          </a:solidFill>
          <a:ln/>
        </p:spPr>
      </p:sp>
      <p:sp>
        <p:nvSpPr>
          <p:cNvPr id="3" name="Text 1"/>
          <p:cNvSpPr txBox="1"/>
          <p:nvPr/>
        </p:nvSpPr>
        <p:spPr>
          <a:xfrm>
            <a:off x="457200" y="457200"/>
            <a:ext cx="411480" cy="411480"/>
          </a:xfrm>
          <a:prstGeom prst="rect">
            <a:avLst/>
          </a:prstGeom>
          <a:noFill/>
          <a:ln/>
        </p:spPr>
        <p:txBody>
          <a:bodyPr wrap="square" lIns="0" tIns="0" rIns="0" bIns="0" rtlCol="0" anchor="t"/>
          <a:lstStyle/>
          <a:p>
            <a:pPr marL="0" indent="0" algn="ctr">
              <a:buNone/>
            </a:pPr>
            <a:r>
              <a:rPr lang="en-US" sz="1300" b="1" dirty="0">
                <a:solidFill>
                  <a:srgbClr val="0F1633"/>
                </a:solidFill>
                <a:latin typeface="Calibri" pitchFamily="34" charset="0"/>
                <a:ea typeface="Calibri" pitchFamily="34" charset="-122"/>
                <a:cs typeface="Calibri" pitchFamily="34" charset="-120"/>
              </a:rPr>
              <a:t>5</a:t>
            </a:r>
            <a:endParaRPr lang="en-US" sz="1300" dirty="0"/>
          </a:p>
        </p:txBody>
      </p:sp>
      <p:sp>
        <p:nvSpPr>
          <p:cNvPr id="4" name="Text 2"/>
          <p:cNvSpPr txBox="1"/>
          <p:nvPr/>
        </p:nvSpPr>
        <p:spPr>
          <a:xfrm>
            <a:off x="1005840" y="384048"/>
            <a:ext cx="7498080" cy="566928"/>
          </a:xfrm>
          <a:prstGeom prst="rect">
            <a:avLst/>
          </a:prstGeom>
          <a:noFill/>
          <a:ln/>
        </p:spPr>
        <p:txBody>
          <a:bodyPr wrap="square" lIns="0" tIns="0" rIns="0" bIns="0" rtlCol="0" anchor="t"/>
          <a:lstStyle/>
          <a:p>
            <a:pPr marL="0" indent="0">
              <a:buNone/>
            </a:pPr>
            <a:r>
              <a:rPr lang="en-US" sz="3000" b="1" dirty="0">
                <a:solidFill>
                  <a:srgbClr val="FFFFFF"/>
                </a:solidFill>
                <a:latin typeface="Calibri" pitchFamily="34" charset="0"/>
                <a:ea typeface="Calibri" pitchFamily="34" charset="-122"/>
                <a:cs typeface="Calibri" pitchFamily="34" charset="-120"/>
              </a:rPr>
              <a:t>Descripción del Proyecto</a:t>
            </a:r>
            <a:endParaRPr lang="en-US" sz="3000" dirty="0"/>
          </a:p>
        </p:txBody>
      </p:sp>
      <p:sp>
        <p:nvSpPr>
          <p:cNvPr id="5" name="Text 3"/>
          <p:cNvSpPr txBox="1"/>
          <p:nvPr/>
        </p:nvSpPr>
        <p:spPr>
          <a:xfrm>
            <a:off x="1005840" y="960120"/>
            <a:ext cx="7680960" cy="292608"/>
          </a:xfrm>
          <a:prstGeom prst="rect">
            <a:avLst/>
          </a:prstGeom>
          <a:noFill/>
          <a:ln/>
        </p:spPr>
        <p:txBody>
          <a:bodyPr wrap="square" lIns="0" tIns="0" rIns="0" bIns="0" rtlCol="0" anchor="t"/>
          <a:lstStyle/>
          <a:p>
            <a:pPr marL="0" indent="0">
              <a:buNone/>
            </a:pPr>
            <a:r>
              <a:rPr lang="en-US" sz="1300" dirty="0">
                <a:solidFill>
                  <a:srgbClr val="CADCFC"/>
                </a:solidFill>
                <a:latin typeface="Calibri" pitchFamily="34" charset="0"/>
                <a:ea typeface="Calibri" pitchFamily="34" charset="-122"/>
                <a:cs typeface="Calibri" pitchFamily="34" charset="-120"/>
              </a:rPr>
              <a:t>¿En qué consiste la plataforma y qué problema resuelve?</a:t>
            </a:r>
            <a:endParaRPr lang="en-US" sz="1300" dirty="0"/>
          </a:p>
        </p:txBody>
      </p:sp>
      <p:sp>
        <p:nvSpPr>
          <p:cNvPr id="6" name="Shape 4"/>
          <p:cNvSpPr/>
          <p:nvPr/>
        </p:nvSpPr>
        <p:spPr>
          <a:xfrm>
            <a:off x="457200" y="1325880"/>
            <a:ext cx="2615184" cy="1828800"/>
          </a:xfrm>
          <a:prstGeom prst="roundRect">
            <a:avLst>
              <a:gd name="adj" fmla="val 3500"/>
            </a:avLst>
          </a:prstGeom>
          <a:solidFill>
            <a:srgbClr val="27316B"/>
          </a:solidFill>
          <a:ln/>
        </p:spPr>
      </p:sp>
      <p:sp>
        <p:nvSpPr>
          <p:cNvPr id="7" name="Shape 5"/>
          <p:cNvSpPr txBox="1"/>
          <p:nvPr/>
        </p:nvSpPr>
        <p:spPr>
          <a:xfrm>
            <a:off x="603504" y="1472184"/>
            <a:ext cx="384048" cy="384048"/>
          </a:xfrm>
          <a:prstGeom prst="ellipse">
            <a:avLst/>
          </a:prstGeom>
          <a:solidFill>
            <a:srgbClr val="8FA8FF"/>
          </a:solidFill>
          <a:ln/>
        </p:spPr>
      </p:sp>
      <p:sp>
        <p:nvSpPr>
          <p:cNvPr id="8" name="Text 6"/>
          <p:cNvSpPr txBox="1"/>
          <p:nvPr/>
        </p:nvSpPr>
        <p:spPr>
          <a:xfrm>
            <a:off x="603504" y="1472184"/>
            <a:ext cx="384048" cy="384048"/>
          </a:xfrm>
          <a:prstGeom prst="rect">
            <a:avLst/>
          </a:prstGeom>
          <a:noFill/>
          <a:ln/>
        </p:spPr>
        <p:txBody>
          <a:bodyPr wrap="square" lIns="0" tIns="0" rIns="0" bIns="0" rtlCol="0" anchor="t"/>
          <a:lstStyle/>
          <a:p>
            <a:pPr marL="0" indent="0" algn="ctr">
              <a:buNone/>
            </a:pPr>
            <a:r>
              <a:rPr lang="en-US" sz="1300" b="1" dirty="0">
                <a:solidFill>
                  <a:srgbClr val="0F1633"/>
                </a:solidFill>
                <a:latin typeface="Calibri" pitchFamily="34" charset="0"/>
                <a:ea typeface="Calibri" pitchFamily="34" charset="-122"/>
                <a:cs typeface="Calibri" pitchFamily="34" charset="-120"/>
              </a:rPr>
              <a:t>1</a:t>
            </a:r>
            <a:endParaRPr lang="en-US" sz="1300" dirty="0"/>
          </a:p>
        </p:txBody>
      </p:sp>
      <p:sp>
        <p:nvSpPr>
          <p:cNvPr id="9" name="Text 7"/>
          <p:cNvSpPr txBox="1"/>
          <p:nvPr/>
        </p:nvSpPr>
        <p:spPr>
          <a:xfrm>
            <a:off x="603504" y="1984248"/>
            <a:ext cx="2322576" cy="457200"/>
          </a:xfrm>
          <a:prstGeom prst="rect">
            <a:avLst/>
          </a:prstGeom>
          <a:noFill/>
          <a:ln/>
        </p:spPr>
        <p:txBody>
          <a:bodyPr wrap="square" lIns="0" tIns="0" rIns="0" bIns="0" rtlCol="0" anchor="t"/>
          <a:lstStyle/>
          <a:p>
            <a:pPr marL="0" indent="0">
              <a:buNone/>
            </a:pPr>
            <a:r>
              <a:rPr lang="en-US" sz="1300" b="1" dirty="0">
                <a:solidFill>
                  <a:srgbClr val="FFFFFF"/>
                </a:solidFill>
                <a:latin typeface="Calibri" pitchFamily="34" charset="0"/>
                <a:ea typeface="Calibri" pitchFamily="34" charset="-122"/>
                <a:cs typeface="Calibri" pitchFamily="34" charset="-120"/>
              </a:rPr>
              <a:t>Plataforma web de publicación</a:t>
            </a:r>
            <a:endParaRPr lang="en-US" sz="1300" dirty="0"/>
          </a:p>
        </p:txBody>
      </p:sp>
      <p:sp>
        <p:nvSpPr>
          <p:cNvPr id="10" name="Text 8"/>
          <p:cNvSpPr txBox="1"/>
          <p:nvPr/>
        </p:nvSpPr>
        <p:spPr>
          <a:xfrm>
            <a:off x="603504" y="2441448"/>
            <a:ext cx="2322576" cy="685800"/>
          </a:xfrm>
          <a:prstGeom prst="rect">
            <a:avLst/>
          </a:prstGeom>
          <a:noFill/>
          <a:ln/>
        </p:spPr>
        <p:txBody>
          <a:bodyPr wrap="square" lIns="0" tIns="0" rIns="0" bIns="0" rtlCol="0" anchor="t"/>
          <a:lstStyle/>
          <a:p>
            <a:pPr marL="0" indent="0">
              <a:buNone/>
            </a:pPr>
            <a:r>
              <a:rPr lang="en-US" sz="1050" dirty="0">
                <a:solidFill>
                  <a:srgbClr val="CADCFC"/>
                </a:solidFill>
                <a:latin typeface="Calibri" pitchFamily="34" charset="0"/>
                <a:ea typeface="Calibri" pitchFamily="34" charset="-122"/>
                <a:cs typeface="Calibri" pitchFamily="34" charset="-120"/>
              </a:rPr>
              <a:t>Revista digital abierta al público para publicar artículos y boletines de la CCHIA.</a:t>
            </a:r>
            <a:endParaRPr lang="en-US" sz="1050" dirty="0"/>
          </a:p>
        </p:txBody>
      </p:sp>
      <p:sp>
        <p:nvSpPr>
          <p:cNvPr id="11" name="Shape 9"/>
          <p:cNvSpPr/>
          <p:nvPr/>
        </p:nvSpPr>
        <p:spPr>
          <a:xfrm>
            <a:off x="3264408" y="1325880"/>
            <a:ext cx="2615184" cy="1828800"/>
          </a:xfrm>
          <a:prstGeom prst="roundRect">
            <a:avLst>
              <a:gd name="adj" fmla="val 3500"/>
            </a:avLst>
          </a:prstGeom>
          <a:solidFill>
            <a:srgbClr val="27316B"/>
          </a:solidFill>
          <a:ln/>
        </p:spPr>
      </p:sp>
      <p:sp>
        <p:nvSpPr>
          <p:cNvPr id="12" name="Shape 10"/>
          <p:cNvSpPr txBox="1"/>
          <p:nvPr/>
        </p:nvSpPr>
        <p:spPr>
          <a:xfrm>
            <a:off x="3410712" y="1472184"/>
            <a:ext cx="384048" cy="384048"/>
          </a:xfrm>
          <a:prstGeom prst="ellipse">
            <a:avLst/>
          </a:prstGeom>
          <a:solidFill>
            <a:srgbClr val="8FA8FF"/>
          </a:solidFill>
          <a:ln/>
        </p:spPr>
      </p:sp>
      <p:sp>
        <p:nvSpPr>
          <p:cNvPr id="13" name="Text 11"/>
          <p:cNvSpPr txBox="1"/>
          <p:nvPr/>
        </p:nvSpPr>
        <p:spPr>
          <a:xfrm>
            <a:off x="3410712" y="1472184"/>
            <a:ext cx="384048" cy="384048"/>
          </a:xfrm>
          <a:prstGeom prst="rect">
            <a:avLst/>
          </a:prstGeom>
          <a:noFill/>
          <a:ln/>
        </p:spPr>
        <p:txBody>
          <a:bodyPr wrap="square" lIns="0" tIns="0" rIns="0" bIns="0" rtlCol="0" anchor="t"/>
          <a:lstStyle/>
          <a:p>
            <a:pPr marL="0" indent="0" algn="ctr">
              <a:buNone/>
            </a:pPr>
            <a:r>
              <a:rPr lang="en-US" sz="1300" b="1" dirty="0">
                <a:solidFill>
                  <a:srgbClr val="0F1633"/>
                </a:solidFill>
                <a:latin typeface="Calibri" pitchFamily="34" charset="0"/>
                <a:ea typeface="Calibri" pitchFamily="34" charset="-122"/>
                <a:cs typeface="Calibri" pitchFamily="34" charset="-120"/>
              </a:rPr>
              <a:t>2</a:t>
            </a:r>
            <a:endParaRPr lang="en-US" sz="1300" dirty="0"/>
          </a:p>
        </p:txBody>
      </p:sp>
      <p:sp>
        <p:nvSpPr>
          <p:cNvPr id="14" name="Text 12"/>
          <p:cNvSpPr txBox="1"/>
          <p:nvPr/>
        </p:nvSpPr>
        <p:spPr>
          <a:xfrm>
            <a:off x="3410712" y="1984248"/>
            <a:ext cx="2322576" cy="457200"/>
          </a:xfrm>
          <a:prstGeom prst="rect">
            <a:avLst/>
          </a:prstGeom>
          <a:noFill/>
          <a:ln/>
        </p:spPr>
        <p:txBody>
          <a:bodyPr wrap="square" lIns="0" tIns="0" rIns="0" bIns="0" rtlCol="0" anchor="t"/>
          <a:lstStyle/>
          <a:p>
            <a:pPr marL="0" indent="0">
              <a:buNone/>
            </a:pPr>
            <a:r>
              <a:rPr lang="en-US" sz="1300" b="1" dirty="0">
                <a:solidFill>
                  <a:srgbClr val="FFFFFF"/>
                </a:solidFill>
                <a:latin typeface="Calibri" pitchFamily="34" charset="0"/>
                <a:ea typeface="Calibri" pitchFamily="34" charset="-122"/>
                <a:cs typeface="Calibri" pitchFamily="34" charset="-120"/>
              </a:rPr>
              <a:t>Redacción asistida por IA</a:t>
            </a:r>
            <a:endParaRPr lang="en-US" sz="1300" dirty="0"/>
          </a:p>
        </p:txBody>
      </p:sp>
      <p:sp>
        <p:nvSpPr>
          <p:cNvPr id="15" name="Text 13"/>
          <p:cNvSpPr txBox="1"/>
          <p:nvPr/>
        </p:nvSpPr>
        <p:spPr>
          <a:xfrm>
            <a:off x="3410712" y="2441448"/>
            <a:ext cx="2322576" cy="685800"/>
          </a:xfrm>
          <a:prstGeom prst="rect">
            <a:avLst/>
          </a:prstGeom>
          <a:noFill/>
          <a:ln/>
        </p:spPr>
        <p:txBody>
          <a:bodyPr wrap="square" lIns="0" tIns="0" rIns="0" bIns="0" rtlCol="0" anchor="t"/>
          <a:lstStyle/>
          <a:p>
            <a:pPr marL="0" indent="0">
              <a:buNone/>
            </a:pPr>
            <a:r>
              <a:rPr lang="en-US" sz="1050" dirty="0">
                <a:solidFill>
                  <a:srgbClr val="CADCFC"/>
                </a:solidFill>
                <a:latin typeface="Calibri" pitchFamily="34" charset="0"/>
                <a:ea typeface="Calibri" pitchFamily="34" charset="-122"/>
                <a:cs typeface="Calibri" pitchFamily="34" charset="-120"/>
              </a:rPr>
              <a:t>Integra herramientas de inteligencia artificial como apoyo en la redacción de contenidos.</a:t>
            </a:r>
            <a:endParaRPr lang="en-US" sz="1050" dirty="0"/>
          </a:p>
        </p:txBody>
      </p:sp>
      <p:sp>
        <p:nvSpPr>
          <p:cNvPr id="16" name="Shape 14"/>
          <p:cNvSpPr/>
          <p:nvPr/>
        </p:nvSpPr>
        <p:spPr>
          <a:xfrm>
            <a:off x="6071616" y="1325880"/>
            <a:ext cx="2615184" cy="1828800"/>
          </a:xfrm>
          <a:prstGeom prst="roundRect">
            <a:avLst>
              <a:gd name="adj" fmla="val 3500"/>
            </a:avLst>
          </a:prstGeom>
          <a:solidFill>
            <a:srgbClr val="27316B"/>
          </a:solidFill>
          <a:ln/>
        </p:spPr>
      </p:sp>
      <p:sp>
        <p:nvSpPr>
          <p:cNvPr id="17" name="Shape 15"/>
          <p:cNvSpPr txBox="1"/>
          <p:nvPr/>
        </p:nvSpPr>
        <p:spPr>
          <a:xfrm>
            <a:off x="6217920" y="1472184"/>
            <a:ext cx="384048" cy="384048"/>
          </a:xfrm>
          <a:prstGeom prst="ellipse">
            <a:avLst/>
          </a:prstGeom>
          <a:solidFill>
            <a:srgbClr val="8FA8FF"/>
          </a:solidFill>
          <a:ln/>
        </p:spPr>
      </p:sp>
      <p:sp>
        <p:nvSpPr>
          <p:cNvPr id="18" name="Text 16"/>
          <p:cNvSpPr txBox="1"/>
          <p:nvPr/>
        </p:nvSpPr>
        <p:spPr>
          <a:xfrm>
            <a:off x="6217920" y="1472184"/>
            <a:ext cx="384048" cy="384048"/>
          </a:xfrm>
          <a:prstGeom prst="rect">
            <a:avLst/>
          </a:prstGeom>
          <a:noFill/>
          <a:ln/>
        </p:spPr>
        <p:txBody>
          <a:bodyPr wrap="square" lIns="0" tIns="0" rIns="0" bIns="0" rtlCol="0" anchor="t"/>
          <a:lstStyle/>
          <a:p>
            <a:pPr marL="0" indent="0" algn="ctr">
              <a:buNone/>
            </a:pPr>
            <a:r>
              <a:rPr lang="en-US" sz="1300" b="1" dirty="0">
                <a:solidFill>
                  <a:srgbClr val="0F1633"/>
                </a:solidFill>
                <a:latin typeface="Calibri" pitchFamily="34" charset="0"/>
                <a:ea typeface="Calibri" pitchFamily="34" charset="-122"/>
                <a:cs typeface="Calibri" pitchFamily="34" charset="-120"/>
              </a:rPr>
              <a:t>3</a:t>
            </a:r>
            <a:endParaRPr lang="en-US" sz="1300" dirty="0"/>
          </a:p>
        </p:txBody>
      </p:sp>
      <p:sp>
        <p:nvSpPr>
          <p:cNvPr id="19" name="Text 17"/>
          <p:cNvSpPr txBox="1"/>
          <p:nvPr/>
        </p:nvSpPr>
        <p:spPr>
          <a:xfrm>
            <a:off x="6217920" y="1984248"/>
            <a:ext cx="2322576" cy="457200"/>
          </a:xfrm>
          <a:prstGeom prst="rect">
            <a:avLst/>
          </a:prstGeom>
          <a:noFill/>
          <a:ln/>
        </p:spPr>
        <p:txBody>
          <a:bodyPr wrap="square" lIns="0" tIns="0" rIns="0" bIns="0" rtlCol="0" anchor="t"/>
          <a:lstStyle/>
          <a:p>
            <a:pPr marL="0" indent="0">
              <a:buNone/>
            </a:pPr>
            <a:r>
              <a:rPr lang="en-US" sz="1300" b="1" dirty="0">
                <a:solidFill>
                  <a:srgbClr val="FFFFFF"/>
                </a:solidFill>
                <a:latin typeface="Calibri" pitchFamily="34" charset="0"/>
                <a:ea typeface="Calibri" pitchFamily="34" charset="-122"/>
                <a:cs typeface="Calibri" pitchFamily="34" charset="-120"/>
              </a:rPr>
              <a:t>Revisión humana obligatoria</a:t>
            </a:r>
            <a:endParaRPr lang="en-US" sz="1300" dirty="0"/>
          </a:p>
        </p:txBody>
      </p:sp>
      <p:sp>
        <p:nvSpPr>
          <p:cNvPr id="20" name="Text 18"/>
          <p:cNvSpPr txBox="1"/>
          <p:nvPr/>
        </p:nvSpPr>
        <p:spPr>
          <a:xfrm>
            <a:off x="6217920" y="2441448"/>
            <a:ext cx="2322576" cy="685800"/>
          </a:xfrm>
          <a:prstGeom prst="rect">
            <a:avLst/>
          </a:prstGeom>
          <a:noFill/>
          <a:ln/>
        </p:spPr>
        <p:txBody>
          <a:bodyPr wrap="square" lIns="0" tIns="0" rIns="0" bIns="0" rtlCol="0" anchor="t"/>
          <a:lstStyle/>
          <a:p>
            <a:pPr marL="0" indent="0">
              <a:buNone/>
            </a:pPr>
            <a:r>
              <a:rPr lang="en-US" sz="1050" dirty="0">
                <a:solidFill>
                  <a:srgbClr val="CADCFC"/>
                </a:solidFill>
                <a:latin typeface="Calibri" pitchFamily="34" charset="0"/>
                <a:ea typeface="Calibri" pitchFamily="34" charset="-122"/>
                <a:cs typeface="Calibri" pitchFamily="34" charset="-120"/>
              </a:rPr>
              <a:t>Instancia obligatoria de revisión y validación humana previa a la publicación definitiva.</a:t>
            </a:r>
            <a:endParaRPr lang="en-US" sz="1050" dirty="0"/>
          </a:p>
        </p:txBody>
      </p:sp>
      <p:sp>
        <p:nvSpPr>
          <p:cNvPr id="21" name="Shape 19"/>
          <p:cNvSpPr/>
          <p:nvPr/>
        </p:nvSpPr>
        <p:spPr>
          <a:xfrm>
            <a:off x="1860804" y="3246120"/>
            <a:ext cx="2615184" cy="1280160"/>
          </a:xfrm>
          <a:prstGeom prst="roundRect">
            <a:avLst>
              <a:gd name="adj" fmla="val 5000"/>
            </a:avLst>
          </a:prstGeom>
          <a:solidFill>
            <a:srgbClr val="27316B"/>
          </a:solidFill>
          <a:ln/>
        </p:spPr>
      </p:sp>
      <p:sp>
        <p:nvSpPr>
          <p:cNvPr id="22" name="Shape 20"/>
          <p:cNvSpPr txBox="1"/>
          <p:nvPr/>
        </p:nvSpPr>
        <p:spPr>
          <a:xfrm>
            <a:off x="2007108" y="3429000"/>
            <a:ext cx="329184" cy="329184"/>
          </a:xfrm>
          <a:prstGeom prst="ellipse">
            <a:avLst/>
          </a:prstGeom>
          <a:solidFill>
            <a:srgbClr val="8FA8FF"/>
          </a:solidFill>
          <a:ln/>
        </p:spPr>
      </p:sp>
      <p:sp>
        <p:nvSpPr>
          <p:cNvPr id="23" name="Text 21"/>
          <p:cNvSpPr txBox="1"/>
          <p:nvPr/>
        </p:nvSpPr>
        <p:spPr>
          <a:xfrm>
            <a:off x="2007108" y="3429000"/>
            <a:ext cx="329184" cy="329184"/>
          </a:xfrm>
          <a:prstGeom prst="rect">
            <a:avLst/>
          </a:prstGeom>
          <a:noFill/>
          <a:ln/>
        </p:spPr>
        <p:txBody>
          <a:bodyPr wrap="square" lIns="0" tIns="0" rIns="0" bIns="0" rtlCol="0" anchor="t"/>
          <a:lstStyle/>
          <a:p>
            <a:pPr marL="0" indent="0" algn="ctr">
              <a:buNone/>
            </a:pPr>
            <a:r>
              <a:rPr lang="en-US" sz="1300" b="1" dirty="0">
                <a:solidFill>
                  <a:srgbClr val="0F1633"/>
                </a:solidFill>
                <a:latin typeface="Calibri" pitchFamily="34" charset="0"/>
                <a:ea typeface="Calibri" pitchFamily="34" charset="-122"/>
                <a:cs typeface="Calibri" pitchFamily="34" charset="-120"/>
              </a:rPr>
              <a:t>4</a:t>
            </a:r>
            <a:endParaRPr lang="en-US" sz="1300" dirty="0"/>
          </a:p>
        </p:txBody>
      </p:sp>
      <p:sp>
        <p:nvSpPr>
          <p:cNvPr id="24" name="Text 22"/>
          <p:cNvSpPr txBox="1"/>
          <p:nvPr/>
        </p:nvSpPr>
        <p:spPr>
          <a:xfrm>
            <a:off x="2464308" y="3419856"/>
            <a:ext cx="1865376" cy="329184"/>
          </a:xfrm>
          <a:prstGeom prst="rect">
            <a:avLst/>
          </a:prstGeom>
          <a:noFill/>
          <a:ln/>
        </p:spPr>
        <p:txBody>
          <a:bodyPr wrap="square" lIns="0" tIns="0" rIns="0" bIns="0" rtlCol="0" anchor="t"/>
          <a:lstStyle/>
          <a:p>
            <a:pPr marL="0" indent="0">
              <a:buNone/>
            </a:pPr>
            <a:r>
              <a:rPr lang="en-US" sz="1300" b="1" dirty="0">
                <a:solidFill>
                  <a:srgbClr val="FFFFFF"/>
                </a:solidFill>
                <a:latin typeface="Calibri" pitchFamily="34" charset="0"/>
                <a:ea typeface="Calibri" pitchFamily="34" charset="-122"/>
                <a:cs typeface="Calibri" pitchFamily="34" charset="-120"/>
              </a:rPr>
              <a:t>Flujo integral de publicación</a:t>
            </a:r>
            <a:endParaRPr lang="en-US" sz="1300" dirty="0"/>
          </a:p>
        </p:txBody>
      </p:sp>
      <p:sp>
        <p:nvSpPr>
          <p:cNvPr id="25" name="Text 23"/>
          <p:cNvSpPr txBox="1"/>
          <p:nvPr/>
        </p:nvSpPr>
        <p:spPr>
          <a:xfrm>
            <a:off x="2007108" y="3813048"/>
            <a:ext cx="2322576" cy="658368"/>
          </a:xfrm>
          <a:prstGeom prst="rect">
            <a:avLst/>
          </a:prstGeom>
          <a:noFill/>
          <a:ln/>
        </p:spPr>
        <p:txBody>
          <a:bodyPr wrap="square" lIns="0" tIns="0" rIns="0" bIns="0" rtlCol="0" anchor="t"/>
          <a:lstStyle/>
          <a:p>
            <a:pPr marL="0" indent="0">
              <a:buNone/>
            </a:pPr>
            <a:r>
              <a:rPr lang="en-US" sz="1050" dirty="0">
                <a:solidFill>
                  <a:srgbClr val="CADCFC"/>
                </a:solidFill>
                <a:latin typeface="Calibri" pitchFamily="34" charset="0"/>
                <a:ea typeface="Calibri" pitchFamily="34" charset="-122"/>
                <a:cs typeface="Calibri" pitchFamily="34" charset="-120"/>
              </a:rPr>
              <a:t>Recopilación, generación, revisión, aprobación y publicación en una sola plataforma.</a:t>
            </a:r>
            <a:endParaRPr lang="en-US" sz="1050" dirty="0"/>
          </a:p>
        </p:txBody>
      </p:sp>
      <p:sp>
        <p:nvSpPr>
          <p:cNvPr id="26" name="Shape 24"/>
          <p:cNvSpPr/>
          <p:nvPr/>
        </p:nvSpPr>
        <p:spPr>
          <a:xfrm>
            <a:off x="4668012" y="3246120"/>
            <a:ext cx="2615184" cy="1280160"/>
          </a:xfrm>
          <a:prstGeom prst="roundRect">
            <a:avLst>
              <a:gd name="adj" fmla="val 5000"/>
            </a:avLst>
          </a:prstGeom>
          <a:solidFill>
            <a:srgbClr val="27316B"/>
          </a:solidFill>
          <a:ln/>
        </p:spPr>
      </p:sp>
      <p:sp>
        <p:nvSpPr>
          <p:cNvPr id="27" name="Shape 25"/>
          <p:cNvSpPr txBox="1"/>
          <p:nvPr/>
        </p:nvSpPr>
        <p:spPr>
          <a:xfrm>
            <a:off x="4814316" y="3429000"/>
            <a:ext cx="329184" cy="329184"/>
          </a:xfrm>
          <a:prstGeom prst="ellipse">
            <a:avLst/>
          </a:prstGeom>
          <a:solidFill>
            <a:srgbClr val="8FA8FF"/>
          </a:solidFill>
          <a:ln/>
        </p:spPr>
      </p:sp>
      <p:sp>
        <p:nvSpPr>
          <p:cNvPr id="28" name="Text 26"/>
          <p:cNvSpPr txBox="1"/>
          <p:nvPr/>
        </p:nvSpPr>
        <p:spPr>
          <a:xfrm>
            <a:off x="4814316" y="3429000"/>
            <a:ext cx="329184" cy="329184"/>
          </a:xfrm>
          <a:prstGeom prst="rect">
            <a:avLst/>
          </a:prstGeom>
          <a:noFill/>
          <a:ln/>
        </p:spPr>
        <p:txBody>
          <a:bodyPr wrap="square" lIns="0" tIns="0" rIns="0" bIns="0" rtlCol="0" anchor="t"/>
          <a:lstStyle/>
          <a:p>
            <a:pPr marL="0" indent="0" algn="ctr">
              <a:buNone/>
            </a:pPr>
            <a:r>
              <a:rPr lang="en-US" sz="1300" b="1" dirty="0">
                <a:solidFill>
                  <a:srgbClr val="0F1633"/>
                </a:solidFill>
                <a:latin typeface="Calibri" pitchFamily="34" charset="0"/>
                <a:ea typeface="Calibri" pitchFamily="34" charset="-122"/>
                <a:cs typeface="Calibri" pitchFamily="34" charset="-120"/>
              </a:rPr>
              <a:t>5</a:t>
            </a:r>
            <a:endParaRPr lang="en-US" sz="1300" dirty="0"/>
          </a:p>
        </p:txBody>
      </p:sp>
      <p:sp>
        <p:nvSpPr>
          <p:cNvPr id="29" name="Text 27"/>
          <p:cNvSpPr txBox="1"/>
          <p:nvPr/>
        </p:nvSpPr>
        <p:spPr>
          <a:xfrm>
            <a:off x="5271516" y="3419856"/>
            <a:ext cx="1865376" cy="329184"/>
          </a:xfrm>
          <a:prstGeom prst="rect">
            <a:avLst/>
          </a:prstGeom>
          <a:noFill/>
          <a:ln/>
        </p:spPr>
        <p:txBody>
          <a:bodyPr wrap="square" lIns="0" tIns="0" rIns="0" bIns="0" rtlCol="0" anchor="t"/>
          <a:lstStyle/>
          <a:p>
            <a:pPr marL="0" indent="0">
              <a:buNone/>
            </a:pPr>
            <a:r>
              <a:rPr lang="en-US" sz="1300" b="1" dirty="0">
                <a:solidFill>
                  <a:srgbClr val="FFFFFF"/>
                </a:solidFill>
                <a:latin typeface="Calibri" pitchFamily="34" charset="0"/>
                <a:ea typeface="Calibri" pitchFamily="34" charset="-122"/>
                <a:cs typeface="Calibri" pitchFamily="34" charset="-120"/>
              </a:rPr>
              <a:t>Cliente real: CCHIA</a:t>
            </a:r>
            <a:endParaRPr lang="en-US" sz="1300" dirty="0"/>
          </a:p>
        </p:txBody>
      </p:sp>
      <p:sp>
        <p:nvSpPr>
          <p:cNvPr id="30" name="Text 28"/>
          <p:cNvSpPr txBox="1"/>
          <p:nvPr/>
        </p:nvSpPr>
        <p:spPr>
          <a:xfrm>
            <a:off x="4814316" y="3813048"/>
            <a:ext cx="2322576" cy="658368"/>
          </a:xfrm>
          <a:prstGeom prst="rect">
            <a:avLst/>
          </a:prstGeom>
          <a:noFill/>
          <a:ln/>
        </p:spPr>
        <p:txBody>
          <a:bodyPr wrap="square" lIns="0" tIns="0" rIns="0" bIns="0" rtlCol="0" anchor="t"/>
          <a:lstStyle/>
          <a:p>
            <a:pPr marL="0" indent="0">
              <a:buNone/>
            </a:pPr>
            <a:r>
              <a:rPr lang="en-US" sz="1050" dirty="0">
                <a:solidFill>
                  <a:srgbClr val="CADCFC"/>
                </a:solidFill>
                <a:latin typeface="Calibri" pitchFamily="34" charset="0"/>
                <a:ea typeface="Calibri" pitchFamily="34" charset="-122"/>
                <a:cs typeface="Calibri" pitchFamily="34" charset="-120"/>
              </a:rPr>
              <a:t>Cámara Chilena de Inteligencia Artificial, organización gremial sin fines de lucro.</a:t>
            </a:r>
            <a:endParaRPr lang="en-US" sz="1050" dirty="0"/>
          </a:p>
        </p:txBody>
      </p:sp>
      <p:sp>
        <p:nvSpPr>
          <p:cNvPr id="31" name="Text 29"/>
          <p:cNvSpPr txBox="1"/>
          <p:nvPr/>
        </p:nvSpPr>
        <p:spPr>
          <a:xfrm>
            <a:off x="457200" y="4864608"/>
            <a:ext cx="2743200" cy="228600"/>
          </a:xfrm>
          <a:prstGeom prst="rect">
            <a:avLst/>
          </a:prstGeom>
          <a:noFill/>
          <a:ln/>
        </p:spPr>
        <p:txBody>
          <a:bodyPr wrap="square" lIns="0" tIns="0" rIns="0" bIns="0" rtlCol="0" anchor="t"/>
          <a:lstStyle/>
          <a:p>
            <a:pPr marL="0" indent="0">
              <a:buNone/>
            </a:pPr>
            <a:r>
              <a:rPr lang="en-US" sz="900" kern="0" spc="100" dirty="0">
                <a:solidFill>
                  <a:srgbClr val="93A4DC"/>
                </a:solidFill>
                <a:latin typeface="Calibri" pitchFamily="34" charset="0"/>
                <a:ea typeface="Calibri" pitchFamily="34" charset="-122"/>
                <a:cs typeface="Calibri" pitchFamily="34" charset="-120"/>
              </a:rPr>
              <a:t>Proyecto APT · CCHIA</a:t>
            </a:r>
            <a:endParaRPr lang="en-US" sz="900" dirty="0"/>
          </a:p>
        </p:txBody>
      </p:sp>
      <p:sp>
        <p:nvSpPr>
          <p:cNvPr id="32" name="Text 30"/>
          <p:cNvSpPr txBox="1"/>
          <p:nvPr/>
        </p:nvSpPr>
        <p:spPr>
          <a:xfrm>
            <a:off x="6400800" y="4864608"/>
            <a:ext cx="2286000" cy="228600"/>
          </a:xfrm>
          <a:prstGeom prst="rect">
            <a:avLst/>
          </a:prstGeom>
          <a:noFill/>
          <a:ln/>
        </p:spPr>
        <p:txBody>
          <a:bodyPr wrap="square" lIns="0" tIns="0" rIns="0" bIns="0" rtlCol="0" anchor="t"/>
          <a:lstStyle/>
          <a:p>
            <a:pPr marL="0" indent="0" algn="r">
              <a:buNone/>
            </a:pPr>
            <a:r>
              <a:rPr lang="en-US" sz="900" kern="0" spc="100" dirty="0">
                <a:solidFill>
                  <a:srgbClr val="93A4DC"/>
                </a:solidFill>
                <a:latin typeface="Calibri" pitchFamily="34" charset="0"/>
                <a:ea typeface="Calibri" pitchFamily="34" charset="-122"/>
                <a:cs typeface="Calibri" pitchFamily="34" charset="-120"/>
              </a:rPr>
              <a:t>6 / 11</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7">
    <p:bg>
      <p:bgPr>
        <a:solidFill>
          <a:srgbClr val="1B2452"/>
        </a:solidFill>
        <a:effectLst/>
      </p:bgPr>
    </p:bg>
    <p:spTree>
      <p:nvGrpSpPr>
        <p:cNvPr id="1" name=""/>
        <p:cNvGrpSpPr/>
        <p:nvPr/>
      </p:nvGrpSpPr>
      <p:grpSpPr>
        <a:xfrm>
          <a:off x="0" y="0"/>
          <a:ext cx="0" cy="0"/>
          <a:chOff x="0" y="0"/>
          <a:chExt cx="0" cy="0"/>
        </a:xfrm>
      </p:grpSpPr>
      <p:sp>
        <p:nvSpPr>
          <p:cNvPr id="2" name="Shape 0"/>
          <p:cNvSpPr txBox="1"/>
          <p:nvPr/>
        </p:nvSpPr>
        <p:spPr>
          <a:xfrm>
            <a:off x="457200" y="457200"/>
            <a:ext cx="411480" cy="411480"/>
          </a:xfrm>
          <a:prstGeom prst="ellipse">
            <a:avLst/>
          </a:prstGeom>
          <a:solidFill>
            <a:srgbClr val="8FA8FF"/>
          </a:solidFill>
          <a:ln/>
        </p:spPr>
      </p:sp>
      <p:sp>
        <p:nvSpPr>
          <p:cNvPr id="3" name="Text 1"/>
          <p:cNvSpPr txBox="1"/>
          <p:nvPr/>
        </p:nvSpPr>
        <p:spPr>
          <a:xfrm>
            <a:off x="457200" y="457200"/>
            <a:ext cx="411480" cy="411480"/>
          </a:xfrm>
          <a:prstGeom prst="rect">
            <a:avLst/>
          </a:prstGeom>
          <a:noFill/>
          <a:ln/>
        </p:spPr>
        <p:txBody>
          <a:bodyPr wrap="square" lIns="0" tIns="0" rIns="0" bIns="0" rtlCol="0" anchor="t"/>
          <a:lstStyle/>
          <a:p>
            <a:pPr marL="0" indent="0" algn="ctr">
              <a:buNone/>
            </a:pPr>
            <a:r>
              <a:rPr lang="en-US" sz="1300" b="1" dirty="0">
                <a:solidFill>
                  <a:srgbClr val="0F1633"/>
                </a:solidFill>
                <a:latin typeface="Calibri" pitchFamily="34" charset="0"/>
                <a:ea typeface="Calibri" pitchFamily="34" charset="-122"/>
                <a:cs typeface="Calibri" pitchFamily="34" charset="-120"/>
              </a:rPr>
              <a:t>6</a:t>
            </a:r>
            <a:endParaRPr lang="en-US" sz="1300" dirty="0"/>
          </a:p>
        </p:txBody>
      </p:sp>
      <p:sp>
        <p:nvSpPr>
          <p:cNvPr id="4" name="Text 2"/>
          <p:cNvSpPr txBox="1"/>
          <p:nvPr/>
        </p:nvSpPr>
        <p:spPr>
          <a:xfrm>
            <a:off x="1005840" y="384048"/>
            <a:ext cx="7498080" cy="566928"/>
          </a:xfrm>
          <a:prstGeom prst="rect">
            <a:avLst/>
          </a:prstGeom>
          <a:noFill/>
          <a:ln/>
        </p:spPr>
        <p:txBody>
          <a:bodyPr wrap="square" lIns="0" tIns="0" rIns="0" bIns="0" rtlCol="0" anchor="t"/>
          <a:lstStyle/>
          <a:p>
            <a:pPr marL="0" indent="0">
              <a:buNone/>
            </a:pPr>
            <a:r>
              <a:rPr lang="en-US" sz="3000" b="1" dirty="0">
                <a:solidFill>
                  <a:srgbClr val="FFFFFF"/>
                </a:solidFill>
                <a:latin typeface="Calibri" pitchFamily="34" charset="0"/>
                <a:ea typeface="Calibri" pitchFamily="34" charset="-122"/>
                <a:cs typeface="Calibri" pitchFamily="34" charset="-120"/>
              </a:rPr>
              <a:t>Competencias del Perfil de Egreso</a:t>
            </a:r>
            <a:endParaRPr lang="en-US" sz="3000" dirty="0"/>
          </a:p>
        </p:txBody>
      </p:sp>
      <p:sp>
        <p:nvSpPr>
          <p:cNvPr id="5" name="Text 3"/>
          <p:cNvSpPr txBox="1"/>
          <p:nvPr/>
        </p:nvSpPr>
        <p:spPr>
          <a:xfrm>
            <a:off x="1005840" y="960120"/>
            <a:ext cx="7680960" cy="292608"/>
          </a:xfrm>
          <a:prstGeom prst="rect">
            <a:avLst/>
          </a:prstGeom>
          <a:noFill/>
          <a:ln/>
        </p:spPr>
        <p:txBody>
          <a:bodyPr wrap="square" lIns="0" tIns="0" rIns="0" bIns="0" rtlCol="0" anchor="t"/>
          <a:lstStyle/>
          <a:p>
            <a:pPr marL="0" indent="0">
              <a:buNone/>
            </a:pPr>
            <a:r>
              <a:rPr lang="en-US" sz="1300" dirty="0">
                <a:solidFill>
                  <a:srgbClr val="CADCFC"/>
                </a:solidFill>
                <a:latin typeface="Calibri" pitchFamily="34" charset="0"/>
                <a:ea typeface="Calibri" pitchFamily="34" charset="-122"/>
                <a:cs typeface="Calibri" pitchFamily="34" charset="-120"/>
              </a:rPr>
              <a:t>Competencias de la carrera que se ponen en práctica con este proyecto.</a:t>
            </a:r>
            <a:endParaRPr lang="en-US" sz="1300" dirty="0"/>
          </a:p>
        </p:txBody>
      </p:sp>
      <p:sp>
        <p:nvSpPr>
          <p:cNvPr id="6" name="Shape 4"/>
          <p:cNvSpPr/>
          <p:nvPr/>
        </p:nvSpPr>
        <p:spPr>
          <a:xfrm>
            <a:off x="457200" y="1325880"/>
            <a:ext cx="2615184" cy="1828800"/>
          </a:xfrm>
          <a:prstGeom prst="roundRect">
            <a:avLst>
              <a:gd name="adj" fmla="val 3500"/>
            </a:avLst>
          </a:prstGeom>
          <a:solidFill>
            <a:srgbClr val="27316B"/>
          </a:solidFill>
          <a:ln/>
        </p:spPr>
      </p:sp>
      <p:sp>
        <p:nvSpPr>
          <p:cNvPr id="7" name="Shape 5"/>
          <p:cNvSpPr txBox="1"/>
          <p:nvPr/>
        </p:nvSpPr>
        <p:spPr>
          <a:xfrm>
            <a:off x="603504" y="1472184"/>
            <a:ext cx="384048" cy="384048"/>
          </a:xfrm>
          <a:prstGeom prst="ellipse">
            <a:avLst/>
          </a:prstGeom>
          <a:solidFill>
            <a:srgbClr val="8FA8FF"/>
          </a:solidFill>
          <a:ln/>
        </p:spPr>
      </p:sp>
      <p:sp>
        <p:nvSpPr>
          <p:cNvPr id="8" name="Text 6"/>
          <p:cNvSpPr txBox="1"/>
          <p:nvPr/>
        </p:nvSpPr>
        <p:spPr>
          <a:xfrm>
            <a:off x="603504" y="1472184"/>
            <a:ext cx="384048" cy="384048"/>
          </a:xfrm>
          <a:prstGeom prst="rect">
            <a:avLst/>
          </a:prstGeom>
          <a:noFill/>
          <a:ln/>
        </p:spPr>
        <p:txBody>
          <a:bodyPr wrap="square" lIns="0" tIns="0" rIns="0" bIns="0" rtlCol="0" anchor="t"/>
          <a:lstStyle/>
          <a:p>
            <a:pPr marL="0" indent="0" algn="ctr">
              <a:buNone/>
            </a:pPr>
            <a:r>
              <a:rPr lang="en-US" sz="1300" b="1" dirty="0">
                <a:solidFill>
                  <a:srgbClr val="0F1633"/>
                </a:solidFill>
                <a:latin typeface="Calibri" pitchFamily="34" charset="0"/>
                <a:ea typeface="Calibri" pitchFamily="34" charset="-122"/>
                <a:cs typeface="Calibri" pitchFamily="34" charset="-120"/>
              </a:rPr>
              <a:t>1</a:t>
            </a:r>
            <a:endParaRPr lang="en-US" sz="1300" dirty="0"/>
          </a:p>
        </p:txBody>
      </p:sp>
      <p:sp>
        <p:nvSpPr>
          <p:cNvPr id="9" name="Text 7"/>
          <p:cNvSpPr txBox="1"/>
          <p:nvPr/>
        </p:nvSpPr>
        <p:spPr>
          <a:xfrm>
            <a:off x="603504" y="1984248"/>
            <a:ext cx="2322576" cy="457200"/>
          </a:xfrm>
          <a:prstGeom prst="rect">
            <a:avLst/>
          </a:prstGeom>
          <a:noFill/>
          <a:ln/>
        </p:spPr>
        <p:txBody>
          <a:bodyPr wrap="square" lIns="0" tIns="0" rIns="0" bIns="0" rtlCol="0" anchor="t"/>
          <a:lstStyle/>
          <a:p>
            <a:pPr marL="0" indent="0">
              <a:buNone/>
            </a:pPr>
            <a:r>
              <a:rPr lang="en-US" sz="1300" b="1" dirty="0">
                <a:solidFill>
                  <a:srgbClr val="FFFFFF"/>
                </a:solidFill>
                <a:latin typeface="Calibri" pitchFamily="34" charset="0"/>
                <a:ea typeface="Calibri" pitchFamily="34" charset="-122"/>
                <a:cs typeface="Calibri" pitchFamily="34" charset="-120"/>
              </a:rPr>
              <a:t>Desarrollo de software</a:t>
            </a:r>
            <a:endParaRPr lang="en-US" sz="1300" dirty="0"/>
          </a:p>
        </p:txBody>
      </p:sp>
      <p:sp>
        <p:nvSpPr>
          <p:cNvPr id="10" name="Text 8"/>
          <p:cNvSpPr txBox="1"/>
          <p:nvPr/>
        </p:nvSpPr>
        <p:spPr>
          <a:xfrm>
            <a:off x="603504" y="2441448"/>
            <a:ext cx="2322576" cy="685800"/>
          </a:xfrm>
          <a:prstGeom prst="rect">
            <a:avLst/>
          </a:prstGeom>
          <a:noFill/>
          <a:ln/>
        </p:spPr>
        <p:txBody>
          <a:bodyPr wrap="square" lIns="0" tIns="0" rIns="0" bIns="0" rtlCol="0" anchor="t"/>
          <a:lstStyle/>
          <a:p>
            <a:pPr marL="0" indent="0">
              <a:buNone/>
            </a:pPr>
            <a:r>
              <a:rPr lang="en-US" sz="1050" dirty="0">
                <a:solidFill>
                  <a:srgbClr val="CADCFC"/>
                </a:solidFill>
                <a:latin typeface="Calibri" pitchFamily="34" charset="0"/>
                <a:ea typeface="Calibri" pitchFamily="34" charset="-122"/>
                <a:cs typeface="Calibri" pitchFamily="34" charset="-120"/>
              </a:rPr>
              <a:t>Construir e integrar una solución de software sistematizando su desarrollo y mantenimiento.</a:t>
            </a:r>
            <a:endParaRPr lang="en-US" sz="1050" dirty="0"/>
          </a:p>
        </p:txBody>
      </p:sp>
      <p:sp>
        <p:nvSpPr>
          <p:cNvPr id="11" name="Shape 9"/>
          <p:cNvSpPr/>
          <p:nvPr/>
        </p:nvSpPr>
        <p:spPr>
          <a:xfrm>
            <a:off x="3264408" y="1325880"/>
            <a:ext cx="2615184" cy="1828800"/>
          </a:xfrm>
          <a:prstGeom prst="roundRect">
            <a:avLst>
              <a:gd name="adj" fmla="val 3500"/>
            </a:avLst>
          </a:prstGeom>
          <a:solidFill>
            <a:srgbClr val="27316B"/>
          </a:solidFill>
          <a:ln/>
        </p:spPr>
      </p:sp>
      <p:sp>
        <p:nvSpPr>
          <p:cNvPr id="12" name="Shape 10"/>
          <p:cNvSpPr txBox="1"/>
          <p:nvPr/>
        </p:nvSpPr>
        <p:spPr>
          <a:xfrm>
            <a:off x="3410712" y="1472184"/>
            <a:ext cx="384048" cy="384048"/>
          </a:xfrm>
          <a:prstGeom prst="ellipse">
            <a:avLst/>
          </a:prstGeom>
          <a:solidFill>
            <a:srgbClr val="8FA8FF"/>
          </a:solidFill>
          <a:ln/>
        </p:spPr>
      </p:sp>
      <p:sp>
        <p:nvSpPr>
          <p:cNvPr id="13" name="Text 11"/>
          <p:cNvSpPr txBox="1"/>
          <p:nvPr/>
        </p:nvSpPr>
        <p:spPr>
          <a:xfrm>
            <a:off x="3410712" y="1472184"/>
            <a:ext cx="384048" cy="384048"/>
          </a:xfrm>
          <a:prstGeom prst="rect">
            <a:avLst/>
          </a:prstGeom>
          <a:noFill/>
          <a:ln/>
        </p:spPr>
        <p:txBody>
          <a:bodyPr wrap="square" lIns="0" tIns="0" rIns="0" bIns="0" rtlCol="0" anchor="t"/>
          <a:lstStyle/>
          <a:p>
            <a:pPr marL="0" indent="0" algn="ctr">
              <a:buNone/>
            </a:pPr>
            <a:r>
              <a:rPr lang="en-US" sz="1300" b="1" dirty="0">
                <a:solidFill>
                  <a:srgbClr val="0F1633"/>
                </a:solidFill>
                <a:latin typeface="Calibri" pitchFamily="34" charset="0"/>
                <a:ea typeface="Calibri" pitchFamily="34" charset="-122"/>
                <a:cs typeface="Calibri" pitchFamily="34" charset="-120"/>
              </a:rPr>
              <a:t>2</a:t>
            </a:r>
            <a:endParaRPr lang="en-US" sz="1300" dirty="0"/>
          </a:p>
        </p:txBody>
      </p:sp>
      <p:sp>
        <p:nvSpPr>
          <p:cNvPr id="14" name="Text 12"/>
          <p:cNvSpPr txBox="1"/>
          <p:nvPr/>
        </p:nvSpPr>
        <p:spPr>
          <a:xfrm>
            <a:off x="3410712" y="1984248"/>
            <a:ext cx="2322576" cy="457200"/>
          </a:xfrm>
          <a:prstGeom prst="rect">
            <a:avLst/>
          </a:prstGeom>
          <a:noFill/>
          <a:ln/>
        </p:spPr>
        <p:txBody>
          <a:bodyPr wrap="square" lIns="0" tIns="0" rIns="0" bIns="0" rtlCol="0" anchor="t"/>
          <a:lstStyle/>
          <a:p>
            <a:pPr marL="0" indent="0">
              <a:buNone/>
            </a:pPr>
            <a:r>
              <a:rPr lang="en-US" sz="1300" b="1" dirty="0">
                <a:solidFill>
                  <a:srgbClr val="FFFFFF"/>
                </a:solidFill>
                <a:latin typeface="Calibri" pitchFamily="34" charset="0"/>
                <a:ea typeface="Calibri" pitchFamily="34" charset="-122"/>
                <a:cs typeface="Calibri" pitchFamily="34" charset="-120"/>
              </a:rPr>
              <a:t>Gestión de proyectos</a:t>
            </a:r>
            <a:endParaRPr lang="en-US" sz="1300" dirty="0"/>
          </a:p>
        </p:txBody>
      </p:sp>
      <p:sp>
        <p:nvSpPr>
          <p:cNvPr id="15" name="Text 13"/>
          <p:cNvSpPr txBox="1"/>
          <p:nvPr/>
        </p:nvSpPr>
        <p:spPr>
          <a:xfrm>
            <a:off x="3410712" y="2441448"/>
            <a:ext cx="2322576" cy="685800"/>
          </a:xfrm>
          <a:prstGeom prst="rect">
            <a:avLst/>
          </a:prstGeom>
          <a:noFill/>
          <a:ln/>
        </p:spPr>
        <p:txBody>
          <a:bodyPr wrap="square" lIns="0" tIns="0" rIns="0" bIns="0" rtlCol="0" anchor="t"/>
          <a:lstStyle/>
          <a:p>
            <a:pPr marL="0" indent="0">
              <a:buNone/>
            </a:pPr>
            <a:r>
              <a:rPr lang="en-US" sz="1050" dirty="0">
                <a:solidFill>
                  <a:srgbClr val="CADCFC"/>
                </a:solidFill>
                <a:latin typeface="Calibri" pitchFamily="34" charset="0"/>
                <a:ea typeface="Calibri" pitchFamily="34" charset="-122"/>
                <a:cs typeface="Calibri" pitchFamily="34" charset="-120"/>
              </a:rPr>
              <a:t>Planificar y controlar el proyecto informático ofreciendo alternativas al cliente.</a:t>
            </a:r>
            <a:endParaRPr lang="en-US" sz="1050" dirty="0"/>
          </a:p>
        </p:txBody>
      </p:sp>
      <p:sp>
        <p:nvSpPr>
          <p:cNvPr id="16" name="Shape 14"/>
          <p:cNvSpPr/>
          <p:nvPr/>
        </p:nvSpPr>
        <p:spPr>
          <a:xfrm>
            <a:off x="6071616" y="1325880"/>
            <a:ext cx="2615184" cy="1828800"/>
          </a:xfrm>
          <a:prstGeom prst="roundRect">
            <a:avLst>
              <a:gd name="adj" fmla="val 3500"/>
            </a:avLst>
          </a:prstGeom>
          <a:solidFill>
            <a:srgbClr val="27316B"/>
          </a:solidFill>
          <a:ln/>
        </p:spPr>
      </p:sp>
      <p:sp>
        <p:nvSpPr>
          <p:cNvPr id="17" name="Shape 15"/>
          <p:cNvSpPr txBox="1"/>
          <p:nvPr/>
        </p:nvSpPr>
        <p:spPr>
          <a:xfrm>
            <a:off x="6217920" y="1472184"/>
            <a:ext cx="384048" cy="384048"/>
          </a:xfrm>
          <a:prstGeom prst="ellipse">
            <a:avLst/>
          </a:prstGeom>
          <a:solidFill>
            <a:srgbClr val="8FA8FF"/>
          </a:solidFill>
          <a:ln/>
        </p:spPr>
      </p:sp>
      <p:sp>
        <p:nvSpPr>
          <p:cNvPr id="18" name="Text 16"/>
          <p:cNvSpPr txBox="1"/>
          <p:nvPr/>
        </p:nvSpPr>
        <p:spPr>
          <a:xfrm>
            <a:off x="6217920" y="1472184"/>
            <a:ext cx="384048" cy="384048"/>
          </a:xfrm>
          <a:prstGeom prst="rect">
            <a:avLst/>
          </a:prstGeom>
          <a:noFill/>
          <a:ln/>
        </p:spPr>
        <p:txBody>
          <a:bodyPr wrap="square" lIns="0" tIns="0" rIns="0" bIns="0" rtlCol="0" anchor="t"/>
          <a:lstStyle/>
          <a:p>
            <a:pPr marL="0" indent="0" algn="ctr">
              <a:buNone/>
            </a:pPr>
            <a:r>
              <a:rPr lang="en-US" sz="1300" b="1" dirty="0">
                <a:solidFill>
                  <a:srgbClr val="0F1633"/>
                </a:solidFill>
                <a:latin typeface="Calibri" pitchFamily="34" charset="0"/>
                <a:ea typeface="Calibri" pitchFamily="34" charset="-122"/>
                <a:cs typeface="Calibri" pitchFamily="34" charset="-120"/>
              </a:rPr>
              <a:t>3</a:t>
            </a:r>
            <a:endParaRPr lang="en-US" sz="1300" dirty="0"/>
          </a:p>
        </p:txBody>
      </p:sp>
      <p:sp>
        <p:nvSpPr>
          <p:cNvPr id="19" name="Text 17"/>
          <p:cNvSpPr txBox="1"/>
          <p:nvPr/>
        </p:nvSpPr>
        <p:spPr>
          <a:xfrm>
            <a:off x="6217920" y="1984248"/>
            <a:ext cx="2322576" cy="457200"/>
          </a:xfrm>
          <a:prstGeom prst="rect">
            <a:avLst/>
          </a:prstGeom>
          <a:noFill/>
          <a:ln/>
        </p:spPr>
        <p:txBody>
          <a:bodyPr wrap="square" lIns="0" tIns="0" rIns="0" bIns="0" rtlCol="0" anchor="t"/>
          <a:lstStyle/>
          <a:p>
            <a:pPr marL="0" indent="0">
              <a:buNone/>
            </a:pPr>
            <a:r>
              <a:rPr lang="en-US" sz="1300" b="1" dirty="0">
                <a:solidFill>
                  <a:srgbClr val="FFFFFF"/>
                </a:solidFill>
                <a:latin typeface="Calibri" pitchFamily="34" charset="0"/>
                <a:ea typeface="Calibri" pitchFamily="34" charset="-122"/>
                <a:cs typeface="Calibri" pitchFamily="34" charset="-120"/>
              </a:rPr>
              <a:t>Modelos de datos</a:t>
            </a:r>
            <a:endParaRPr lang="en-US" sz="1300" dirty="0"/>
          </a:p>
        </p:txBody>
      </p:sp>
      <p:sp>
        <p:nvSpPr>
          <p:cNvPr id="20" name="Text 18"/>
          <p:cNvSpPr txBox="1"/>
          <p:nvPr/>
        </p:nvSpPr>
        <p:spPr>
          <a:xfrm>
            <a:off x="6217920" y="2441448"/>
            <a:ext cx="2322576" cy="685800"/>
          </a:xfrm>
          <a:prstGeom prst="rect">
            <a:avLst/>
          </a:prstGeom>
          <a:noFill/>
          <a:ln/>
        </p:spPr>
        <p:txBody>
          <a:bodyPr wrap="square" lIns="0" tIns="0" rIns="0" bIns="0" rtlCol="0" anchor="t"/>
          <a:lstStyle/>
          <a:p>
            <a:pPr marL="0" indent="0">
              <a:buNone/>
            </a:pPr>
            <a:r>
              <a:rPr lang="en-US" sz="1050" dirty="0">
                <a:solidFill>
                  <a:srgbClr val="CADCFC"/>
                </a:solidFill>
                <a:latin typeface="Calibri" pitchFamily="34" charset="0"/>
                <a:ea typeface="Calibri" pitchFamily="34" charset="-122"/>
                <a:cs typeface="Calibri" pitchFamily="34" charset="-120"/>
              </a:rPr>
              <a:t>Diseñar e implementar un modelo de datos definido y escalable en el tiempo.</a:t>
            </a:r>
            <a:endParaRPr lang="en-US" sz="1050" dirty="0"/>
          </a:p>
        </p:txBody>
      </p:sp>
      <p:sp>
        <p:nvSpPr>
          <p:cNvPr id="21" name="Shape 19"/>
          <p:cNvSpPr/>
          <p:nvPr/>
        </p:nvSpPr>
        <p:spPr>
          <a:xfrm>
            <a:off x="1860804" y="3246120"/>
            <a:ext cx="2615184" cy="1280160"/>
          </a:xfrm>
          <a:prstGeom prst="roundRect">
            <a:avLst>
              <a:gd name="adj" fmla="val 5000"/>
            </a:avLst>
          </a:prstGeom>
          <a:solidFill>
            <a:srgbClr val="27316B"/>
          </a:solidFill>
          <a:ln/>
        </p:spPr>
      </p:sp>
      <p:sp>
        <p:nvSpPr>
          <p:cNvPr id="22" name="Shape 20"/>
          <p:cNvSpPr txBox="1"/>
          <p:nvPr/>
        </p:nvSpPr>
        <p:spPr>
          <a:xfrm>
            <a:off x="2007108" y="3429000"/>
            <a:ext cx="329184" cy="329184"/>
          </a:xfrm>
          <a:prstGeom prst="ellipse">
            <a:avLst/>
          </a:prstGeom>
          <a:solidFill>
            <a:srgbClr val="8FA8FF"/>
          </a:solidFill>
          <a:ln/>
        </p:spPr>
      </p:sp>
      <p:sp>
        <p:nvSpPr>
          <p:cNvPr id="23" name="Text 21"/>
          <p:cNvSpPr txBox="1"/>
          <p:nvPr/>
        </p:nvSpPr>
        <p:spPr>
          <a:xfrm>
            <a:off x="2007108" y="3429000"/>
            <a:ext cx="329184" cy="329184"/>
          </a:xfrm>
          <a:prstGeom prst="rect">
            <a:avLst/>
          </a:prstGeom>
          <a:noFill/>
          <a:ln/>
        </p:spPr>
        <p:txBody>
          <a:bodyPr wrap="square" lIns="0" tIns="0" rIns="0" bIns="0" rtlCol="0" anchor="t"/>
          <a:lstStyle/>
          <a:p>
            <a:pPr marL="0" indent="0" algn="ctr">
              <a:buNone/>
            </a:pPr>
            <a:r>
              <a:rPr lang="en-US" sz="1300" b="1" dirty="0">
                <a:solidFill>
                  <a:srgbClr val="0F1633"/>
                </a:solidFill>
                <a:latin typeface="Calibri" pitchFamily="34" charset="0"/>
                <a:ea typeface="Calibri" pitchFamily="34" charset="-122"/>
                <a:cs typeface="Calibri" pitchFamily="34" charset="-120"/>
              </a:rPr>
              <a:t>4</a:t>
            </a:r>
            <a:endParaRPr lang="en-US" sz="1300" dirty="0"/>
          </a:p>
        </p:txBody>
      </p:sp>
      <p:sp>
        <p:nvSpPr>
          <p:cNvPr id="24" name="Text 22"/>
          <p:cNvSpPr txBox="1"/>
          <p:nvPr/>
        </p:nvSpPr>
        <p:spPr>
          <a:xfrm>
            <a:off x="2464308" y="3419856"/>
            <a:ext cx="1865376" cy="329184"/>
          </a:xfrm>
          <a:prstGeom prst="rect">
            <a:avLst/>
          </a:prstGeom>
          <a:noFill/>
          <a:ln/>
        </p:spPr>
        <p:txBody>
          <a:bodyPr wrap="square" lIns="0" tIns="0" rIns="0" bIns="0" rtlCol="0" anchor="t"/>
          <a:lstStyle/>
          <a:p>
            <a:pPr marL="0" indent="0">
              <a:buNone/>
            </a:pPr>
            <a:r>
              <a:rPr lang="en-US" sz="1300" b="1" dirty="0">
                <a:solidFill>
                  <a:srgbClr val="FFFFFF"/>
                </a:solidFill>
                <a:latin typeface="Calibri" pitchFamily="34" charset="0"/>
                <a:ea typeface="Calibri" pitchFamily="34" charset="-122"/>
                <a:cs typeface="Calibri" pitchFamily="34" charset="-120"/>
              </a:rPr>
              <a:t>Pruebas de certificación</a:t>
            </a:r>
            <a:endParaRPr lang="en-US" sz="1300" dirty="0"/>
          </a:p>
        </p:txBody>
      </p:sp>
      <p:sp>
        <p:nvSpPr>
          <p:cNvPr id="25" name="Text 23"/>
          <p:cNvSpPr txBox="1"/>
          <p:nvPr/>
        </p:nvSpPr>
        <p:spPr>
          <a:xfrm>
            <a:off x="2007108" y="3813048"/>
            <a:ext cx="2322576" cy="658368"/>
          </a:xfrm>
          <a:prstGeom prst="rect">
            <a:avLst/>
          </a:prstGeom>
          <a:noFill/>
          <a:ln/>
        </p:spPr>
        <p:txBody>
          <a:bodyPr wrap="square" lIns="0" tIns="0" rIns="0" bIns="0" rtlCol="0" anchor="t"/>
          <a:lstStyle/>
          <a:p>
            <a:pPr marL="0" indent="0">
              <a:buNone/>
            </a:pPr>
            <a:r>
              <a:rPr lang="en-US" sz="1050" dirty="0">
                <a:solidFill>
                  <a:srgbClr val="CADCFC"/>
                </a:solidFill>
                <a:latin typeface="Calibri" pitchFamily="34" charset="0"/>
                <a:ea typeface="Calibri" pitchFamily="34" charset="-122"/>
                <a:cs typeface="Calibri" pitchFamily="34" charset="-120"/>
              </a:rPr>
              <a:t>Aplicar buenas prácticas de la industria para validar productos y procesos.</a:t>
            </a:r>
            <a:endParaRPr lang="en-US" sz="1050" dirty="0"/>
          </a:p>
        </p:txBody>
      </p:sp>
      <p:sp>
        <p:nvSpPr>
          <p:cNvPr id="26" name="Shape 24"/>
          <p:cNvSpPr/>
          <p:nvPr/>
        </p:nvSpPr>
        <p:spPr>
          <a:xfrm>
            <a:off x="4668012" y="3246120"/>
            <a:ext cx="2615184" cy="1280160"/>
          </a:xfrm>
          <a:prstGeom prst="roundRect">
            <a:avLst>
              <a:gd name="adj" fmla="val 5000"/>
            </a:avLst>
          </a:prstGeom>
          <a:solidFill>
            <a:srgbClr val="27316B"/>
          </a:solidFill>
          <a:ln/>
        </p:spPr>
      </p:sp>
      <p:sp>
        <p:nvSpPr>
          <p:cNvPr id="27" name="Shape 25"/>
          <p:cNvSpPr txBox="1"/>
          <p:nvPr/>
        </p:nvSpPr>
        <p:spPr>
          <a:xfrm>
            <a:off x="4814316" y="3429000"/>
            <a:ext cx="329184" cy="329184"/>
          </a:xfrm>
          <a:prstGeom prst="ellipse">
            <a:avLst/>
          </a:prstGeom>
          <a:solidFill>
            <a:srgbClr val="8FA8FF"/>
          </a:solidFill>
          <a:ln/>
        </p:spPr>
      </p:sp>
      <p:sp>
        <p:nvSpPr>
          <p:cNvPr id="28" name="Text 26"/>
          <p:cNvSpPr txBox="1"/>
          <p:nvPr/>
        </p:nvSpPr>
        <p:spPr>
          <a:xfrm>
            <a:off x="4814316" y="3429000"/>
            <a:ext cx="329184" cy="329184"/>
          </a:xfrm>
          <a:prstGeom prst="rect">
            <a:avLst/>
          </a:prstGeom>
          <a:noFill/>
          <a:ln/>
        </p:spPr>
        <p:txBody>
          <a:bodyPr wrap="square" lIns="0" tIns="0" rIns="0" bIns="0" rtlCol="0" anchor="t"/>
          <a:lstStyle/>
          <a:p>
            <a:pPr marL="0" indent="0" algn="ctr">
              <a:buNone/>
            </a:pPr>
            <a:r>
              <a:rPr lang="en-US" sz="1300" b="1" dirty="0">
                <a:solidFill>
                  <a:srgbClr val="0F1633"/>
                </a:solidFill>
                <a:latin typeface="Calibri" pitchFamily="34" charset="0"/>
                <a:ea typeface="Calibri" pitchFamily="34" charset="-122"/>
                <a:cs typeface="Calibri" pitchFamily="34" charset="-120"/>
              </a:rPr>
              <a:t>5</a:t>
            </a:r>
            <a:endParaRPr lang="en-US" sz="1300" dirty="0"/>
          </a:p>
        </p:txBody>
      </p:sp>
      <p:sp>
        <p:nvSpPr>
          <p:cNvPr id="29" name="Text 27"/>
          <p:cNvSpPr txBox="1"/>
          <p:nvPr/>
        </p:nvSpPr>
        <p:spPr>
          <a:xfrm>
            <a:off x="5271516" y="3419856"/>
            <a:ext cx="1865376" cy="329184"/>
          </a:xfrm>
          <a:prstGeom prst="rect">
            <a:avLst/>
          </a:prstGeom>
          <a:noFill/>
          <a:ln/>
        </p:spPr>
        <p:txBody>
          <a:bodyPr wrap="square" lIns="0" tIns="0" rIns="0" bIns="0" rtlCol="0" anchor="t"/>
          <a:lstStyle/>
          <a:p>
            <a:pPr marL="0" indent="0">
              <a:buNone/>
            </a:pPr>
            <a:r>
              <a:rPr lang="en-US" sz="1300" b="1" dirty="0">
                <a:solidFill>
                  <a:srgbClr val="FFFFFF"/>
                </a:solidFill>
                <a:latin typeface="Calibri" pitchFamily="34" charset="0"/>
                <a:ea typeface="Calibri" pitchFamily="34" charset="-122"/>
                <a:cs typeface="Calibri" pitchFamily="34" charset="-120"/>
              </a:rPr>
              <a:t>Trabajo con cliente real</a:t>
            </a:r>
            <a:endParaRPr lang="en-US" sz="1300" dirty="0"/>
          </a:p>
        </p:txBody>
      </p:sp>
      <p:sp>
        <p:nvSpPr>
          <p:cNvPr id="30" name="Text 28"/>
          <p:cNvSpPr txBox="1"/>
          <p:nvPr/>
        </p:nvSpPr>
        <p:spPr>
          <a:xfrm>
            <a:off x="4814316" y="3813048"/>
            <a:ext cx="2322576" cy="658368"/>
          </a:xfrm>
          <a:prstGeom prst="rect">
            <a:avLst/>
          </a:prstGeom>
          <a:noFill/>
          <a:ln/>
        </p:spPr>
        <p:txBody>
          <a:bodyPr wrap="square" lIns="0" tIns="0" rIns="0" bIns="0" rtlCol="0" anchor="t"/>
          <a:lstStyle/>
          <a:p>
            <a:pPr marL="0" indent="0">
              <a:buNone/>
            </a:pPr>
            <a:r>
              <a:rPr lang="en-US" sz="1050" dirty="0">
                <a:solidFill>
                  <a:srgbClr val="CADCFC"/>
                </a:solidFill>
                <a:latin typeface="Calibri" pitchFamily="34" charset="0"/>
                <a:ea typeface="Calibri" pitchFamily="34" charset="-122"/>
                <a:cs typeface="Calibri" pitchFamily="34" charset="-120"/>
              </a:rPr>
              <a:t>Levantar requerimientos con la CCHIA y asegurar la calidad del producto final.</a:t>
            </a:r>
            <a:endParaRPr lang="en-US" sz="1050" dirty="0"/>
          </a:p>
        </p:txBody>
      </p:sp>
      <p:sp>
        <p:nvSpPr>
          <p:cNvPr id="31" name="Text 29"/>
          <p:cNvSpPr txBox="1"/>
          <p:nvPr/>
        </p:nvSpPr>
        <p:spPr>
          <a:xfrm>
            <a:off x="457200" y="4864608"/>
            <a:ext cx="2743200" cy="228600"/>
          </a:xfrm>
          <a:prstGeom prst="rect">
            <a:avLst/>
          </a:prstGeom>
          <a:noFill/>
          <a:ln/>
        </p:spPr>
        <p:txBody>
          <a:bodyPr wrap="square" lIns="0" tIns="0" rIns="0" bIns="0" rtlCol="0" anchor="t"/>
          <a:lstStyle/>
          <a:p>
            <a:pPr marL="0" indent="0">
              <a:buNone/>
            </a:pPr>
            <a:r>
              <a:rPr lang="en-US" sz="900" kern="0" spc="100" dirty="0">
                <a:solidFill>
                  <a:srgbClr val="93A4DC"/>
                </a:solidFill>
                <a:latin typeface="Calibri" pitchFamily="34" charset="0"/>
                <a:ea typeface="Calibri" pitchFamily="34" charset="-122"/>
                <a:cs typeface="Calibri" pitchFamily="34" charset="-120"/>
              </a:rPr>
              <a:t>Proyecto APT · CCHIA</a:t>
            </a:r>
            <a:endParaRPr lang="en-US" sz="900" dirty="0"/>
          </a:p>
        </p:txBody>
      </p:sp>
      <p:sp>
        <p:nvSpPr>
          <p:cNvPr id="32" name="Text 30"/>
          <p:cNvSpPr txBox="1"/>
          <p:nvPr/>
        </p:nvSpPr>
        <p:spPr>
          <a:xfrm>
            <a:off x="6400800" y="4864608"/>
            <a:ext cx="2286000" cy="228600"/>
          </a:xfrm>
          <a:prstGeom prst="rect">
            <a:avLst/>
          </a:prstGeom>
          <a:noFill/>
          <a:ln/>
        </p:spPr>
        <p:txBody>
          <a:bodyPr wrap="square" lIns="0" tIns="0" rIns="0" bIns="0" rtlCol="0" anchor="t"/>
          <a:lstStyle/>
          <a:p>
            <a:pPr marL="0" indent="0" algn="r">
              <a:buNone/>
            </a:pPr>
            <a:r>
              <a:rPr lang="en-US" sz="900" kern="0" spc="100" dirty="0">
                <a:solidFill>
                  <a:srgbClr val="93A4DC"/>
                </a:solidFill>
                <a:latin typeface="Calibri" pitchFamily="34" charset="0"/>
                <a:ea typeface="Calibri" pitchFamily="34" charset="-122"/>
                <a:cs typeface="Calibri" pitchFamily="34" charset="-120"/>
              </a:rPr>
              <a:t>7 / 11</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8">
    <p:bg>
      <p:bgPr>
        <a:solidFill>
          <a:srgbClr val="1B2452"/>
        </a:solidFill>
        <a:effectLst/>
      </p:bgPr>
    </p:bg>
    <p:spTree>
      <p:nvGrpSpPr>
        <p:cNvPr id="1" name=""/>
        <p:cNvGrpSpPr/>
        <p:nvPr/>
      </p:nvGrpSpPr>
      <p:grpSpPr>
        <a:xfrm>
          <a:off x="0" y="0"/>
          <a:ext cx="0" cy="0"/>
          <a:chOff x="0" y="0"/>
          <a:chExt cx="0" cy="0"/>
        </a:xfrm>
      </p:grpSpPr>
      <p:sp>
        <p:nvSpPr>
          <p:cNvPr id="2" name="Shape 0"/>
          <p:cNvSpPr txBox="1"/>
          <p:nvPr/>
        </p:nvSpPr>
        <p:spPr>
          <a:xfrm>
            <a:off x="457200" y="457200"/>
            <a:ext cx="411480" cy="411480"/>
          </a:xfrm>
          <a:prstGeom prst="ellipse">
            <a:avLst/>
          </a:prstGeom>
          <a:solidFill>
            <a:srgbClr val="8FA8FF"/>
          </a:solidFill>
          <a:ln/>
        </p:spPr>
      </p:sp>
      <p:sp>
        <p:nvSpPr>
          <p:cNvPr id="3" name="Text 1"/>
          <p:cNvSpPr txBox="1"/>
          <p:nvPr/>
        </p:nvSpPr>
        <p:spPr>
          <a:xfrm>
            <a:off x="457200" y="457200"/>
            <a:ext cx="411480" cy="411480"/>
          </a:xfrm>
          <a:prstGeom prst="rect">
            <a:avLst/>
          </a:prstGeom>
          <a:noFill/>
          <a:ln/>
        </p:spPr>
        <p:txBody>
          <a:bodyPr wrap="square" lIns="0" tIns="0" rIns="0" bIns="0" rtlCol="0" anchor="t"/>
          <a:lstStyle/>
          <a:p>
            <a:pPr marL="0" indent="0" algn="ctr">
              <a:buNone/>
            </a:pPr>
            <a:r>
              <a:rPr lang="en-US" sz="1300" b="1" dirty="0">
                <a:solidFill>
                  <a:srgbClr val="0F1633"/>
                </a:solidFill>
                <a:latin typeface="Calibri" pitchFamily="34" charset="0"/>
                <a:ea typeface="Calibri" pitchFamily="34" charset="-122"/>
                <a:cs typeface="Calibri" pitchFamily="34" charset="-120"/>
              </a:rPr>
              <a:t>7</a:t>
            </a:r>
            <a:endParaRPr lang="en-US" sz="1300" dirty="0"/>
          </a:p>
        </p:txBody>
      </p:sp>
      <p:sp>
        <p:nvSpPr>
          <p:cNvPr id="4" name="Text 2"/>
          <p:cNvSpPr txBox="1"/>
          <p:nvPr/>
        </p:nvSpPr>
        <p:spPr>
          <a:xfrm>
            <a:off x="1005840" y="384048"/>
            <a:ext cx="7498080" cy="566928"/>
          </a:xfrm>
          <a:prstGeom prst="rect">
            <a:avLst/>
          </a:prstGeom>
          <a:noFill/>
          <a:ln/>
        </p:spPr>
        <p:txBody>
          <a:bodyPr wrap="square" lIns="0" tIns="0" rIns="0" bIns="0" rtlCol="0" anchor="t"/>
          <a:lstStyle/>
          <a:p>
            <a:pPr marL="0" indent="0">
              <a:buNone/>
            </a:pPr>
            <a:r>
              <a:rPr lang="en-US" sz="3000" b="1" dirty="0">
                <a:solidFill>
                  <a:srgbClr val="FFFFFF"/>
                </a:solidFill>
                <a:latin typeface="Calibri" pitchFamily="34" charset="0"/>
                <a:ea typeface="Calibri" pitchFamily="34" charset="-122"/>
                <a:cs typeface="Calibri" pitchFamily="34" charset="-120"/>
              </a:rPr>
              <a:t>Intereses Profesionales</a:t>
            </a:r>
            <a:endParaRPr lang="en-US" sz="3000" dirty="0"/>
          </a:p>
        </p:txBody>
      </p:sp>
      <p:sp>
        <p:nvSpPr>
          <p:cNvPr id="5" name="Text 3"/>
          <p:cNvSpPr txBox="1"/>
          <p:nvPr/>
        </p:nvSpPr>
        <p:spPr>
          <a:xfrm>
            <a:off x="1005840" y="960120"/>
            <a:ext cx="7680960" cy="292608"/>
          </a:xfrm>
          <a:prstGeom prst="rect">
            <a:avLst/>
          </a:prstGeom>
          <a:noFill/>
          <a:ln/>
        </p:spPr>
        <p:txBody>
          <a:bodyPr wrap="square" lIns="0" tIns="0" rIns="0" bIns="0" rtlCol="0" anchor="t"/>
          <a:lstStyle/>
          <a:p>
            <a:pPr marL="0" indent="0">
              <a:buNone/>
            </a:pPr>
            <a:r>
              <a:rPr lang="en-US" sz="1300" dirty="0">
                <a:solidFill>
                  <a:srgbClr val="CADCFC"/>
                </a:solidFill>
                <a:latin typeface="Calibri" pitchFamily="34" charset="0"/>
                <a:ea typeface="Calibri" pitchFamily="34" charset="-122"/>
                <a:cs typeface="Calibri" pitchFamily="34" charset="-120"/>
              </a:rPr>
              <a:t>Los intereses del equipo y su vínculo con el proyecto.</a:t>
            </a:r>
            <a:endParaRPr lang="en-US" sz="1300" dirty="0"/>
          </a:p>
        </p:txBody>
      </p:sp>
      <p:sp>
        <p:nvSpPr>
          <p:cNvPr id="6" name="Shape 4"/>
          <p:cNvSpPr/>
          <p:nvPr/>
        </p:nvSpPr>
        <p:spPr>
          <a:xfrm>
            <a:off x="457200" y="1325880"/>
            <a:ext cx="2615184" cy="1828800"/>
          </a:xfrm>
          <a:prstGeom prst="roundRect">
            <a:avLst>
              <a:gd name="adj" fmla="val 3500"/>
            </a:avLst>
          </a:prstGeom>
          <a:solidFill>
            <a:srgbClr val="27316B"/>
          </a:solidFill>
          <a:ln/>
        </p:spPr>
      </p:sp>
      <p:sp>
        <p:nvSpPr>
          <p:cNvPr id="7" name="Shape 5"/>
          <p:cNvSpPr txBox="1"/>
          <p:nvPr/>
        </p:nvSpPr>
        <p:spPr>
          <a:xfrm>
            <a:off x="603504" y="1472184"/>
            <a:ext cx="384048" cy="384048"/>
          </a:xfrm>
          <a:prstGeom prst="ellipse">
            <a:avLst/>
          </a:prstGeom>
          <a:solidFill>
            <a:srgbClr val="8FA8FF"/>
          </a:solidFill>
          <a:ln/>
        </p:spPr>
      </p:sp>
      <p:sp>
        <p:nvSpPr>
          <p:cNvPr id="8" name="Text 6"/>
          <p:cNvSpPr txBox="1"/>
          <p:nvPr/>
        </p:nvSpPr>
        <p:spPr>
          <a:xfrm>
            <a:off x="603504" y="1472184"/>
            <a:ext cx="384048" cy="384048"/>
          </a:xfrm>
          <a:prstGeom prst="rect">
            <a:avLst/>
          </a:prstGeom>
          <a:noFill/>
          <a:ln/>
        </p:spPr>
        <p:txBody>
          <a:bodyPr wrap="square" lIns="0" tIns="0" rIns="0" bIns="0" rtlCol="0" anchor="t"/>
          <a:lstStyle/>
          <a:p>
            <a:pPr marL="0" indent="0" algn="ctr">
              <a:buNone/>
            </a:pPr>
            <a:r>
              <a:rPr lang="en-US" sz="1300" b="1" dirty="0">
                <a:solidFill>
                  <a:srgbClr val="0F1633"/>
                </a:solidFill>
                <a:latin typeface="Calibri" pitchFamily="34" charset="0"/>
                <a:ea typeface="Calibri" pitchFamily="34" charset="-122"/>
                <a:cs typeface="Calibri" pitchFamily="34" charset="-120"/>
              </a:rPr>
              <a:t>1</a:t>
            </a:r>
            <a:endParaRPr lang="en-US" sz="1300" dirty="0"/>
          </a:p>
        </p:txBody>
      </p:sp>
      <p:sp>
        <p:nvSpPr>
          <p:cNvPr id="9" name="Text 7"/>
          <p:cNvSpPr txBox="1"/>
          <p:nvPr/>
        </p:nvSpPr>
        <p:spPr>
          <a:xfrm>
            <a:off x="603504" y="1984248"/>
            <a:ext cx="2322576" cy="457200"/>
          </a:xfrm>
          <a:prstGeom prst="rect">
            <a:avLst/>
          </a:prstGeom>
          <a:noFill/>
          <a:ln/>
        </p:spPr>
        <p:txBody>
          <a:bodyPr wrap="square" lIns="0" tIns="0" rIns="0" bIns="0" rtlCol="0" anchor="t"/>
          <a:lstStyle/>
          <a:p>
            <a:pPr marL="0" indent="0">
              <a:buNone/>
            </a:pPr>
            <a:r>
              <a:rPr lang="en-US" sz="1300" b="1" dirty="0">
                <a:solidFill>
                  <a:srgbClr val="FFFFFF"/>
                </a:solidFill>
                <a:latin typeface="Calibri" pitchFamily="34" charset="0"/>
                <a:ea typeface="Calibri" pitchFamily="34" charset="-122"/>
                <a:cs typeface="Calibri" pitchFamily="34" charset="-120"/>
              </a:rPr>
              <a:t>Ingeniería de software aplicada</a:t>
            </a:r>
            <a:endParaRPr lang="en-US" sz="1300" dirty="0"/>
          </a:p>
        </p:txBody>
      </p:sp>
      <p:sp>
        <p:nvSpPr>
          <p:cNvPr id="10" name="Text 8"/>
          <p:cNvSpPr txBox="1"/>
          <p:nvPr/>
        </p:nvSpPr>
        <p:spPr>
          <a:xfrm>
            <a:off x="603504" y="2441448"/>
            <a:ext cx="2322576" cy="685800"/>
          </a:xfrm>
          <a:prstGeom prst="rect">
            <a:avLst/>
          </a:prstGeom>
          <a:noFill/>
          <a:ln/>
        </p:spPr>
        <p:txBody>
          <a:bodyPr wrap="square" lIns="0" tIns="0" rIns="0" bIns="0" rtlCol="0" anchor="t"/>
          <a:lstStyle/>
          <a:p>
            <a:pPr marL="0" indent="0">
              <a:buNone/>
            </a:pPr>
            <a:r>
              <a:rPr lang="en-US" sz="1050" dirty="0">
                <a:solidFill>
                  <a:srgbClr val="CADCFC"/>
                </a:solidFill>
                <a:latin typeface="Calibri" pitchFamily="34" charset="0"/>
                <a:ea typeface="Calibri" pitchFamily="34" charset="-122"/>
                <a:cs typeface="Calibri" pitchFamily="34" charset="-120"/>
              </a:rPr>
              <a:t>Desarrollo profesional en innovación y digitalización de organizaciones.</a:t>
            </a:r>
            <a:endParaRPr lang="en-US" sz="1050" dirty="0"/>
          </a:p>
        </p:txBody>
      </p:sp>
      <p:sp>
        <p:nvSpPr>
          <p:cNvPr id="11" name="Shape 9"/>
          <p:cNvSpPr/>
          <p:nvPr/>
        </p:nvSpPr>
        <p:spPr>
          <a:xfrm>
            <a:off x="3264408" y="1325880"/>
            <a:ext cx="2615184" cy="1828800"/>
          </a:xfrm>
          <a:prstGeom prst="roundRect">
            <a:avLst>
              <a:gd name="adj" fmla="val 3500"/>
            </a:avLst>
          </a:prstGeom>
          <a:solidFill>
            <a:srgbClr val="27316B"/>
          </a:solidFill>
          <a:ln/>
        </p:spPr>
      </p:sp>
      <p:sp>
        <p:nvSpPr>
          <p:cNvPr id="12" name="Shape 10"/>
          <p:cNvSpPr txBox="1"/>
          <p:nvPr/>
        </p:nvSpPr>
        <p:spPr>
          <a:xfrm>
            <a:off x="3410712" y="1472184"/>
            <a:ext cx="384048" cy="384048"/>
          </a:xfrm>
          <a:prstGeom prst="ellipse">
            <a:avLst/>
          </a:prstGeom>
          <a:solidFill>
            <a:srgbClr val="8FA8FF"/>
          </a:solidFill>
          <a:ln/>
        </p:spPr>
      </p:sp>
      <p:sp>
        <p:nvSpPr>
          <p:cNvPr id="13" name="Text 11"/>
          <p:cNvSpPr txBox="1"/>
          <p:nvPr/>
        </p:nvSpPr>
        <p:spPr>
          <a:xfrm>
            <a:off x="3410712" y="1472184"/>
            <a:ext cx="384048" cy="384048"/>
          </a:xfrm>
          <a:prstGeom prst="rect">
            <a:avLst/>
          </a:prstGeom>
          <a:noFill/>
          <a:ln/>
        </p:spPr>
        <p:txBody>
          <a:bodyPr wrap="square" lIns="0" tIns="0" rIns="0" bIns="0" rtlCol="0" anchor="t"/>
          <a:lstStyle/>
          <a:p>
            <a:pPr marL="0" indent="0" algn="ctr">
              <a:buNone/>
            </a:pPr>
            <a:r>
              <a:rPr lang="en-US" sz="1300" b="1" dirty="0">
                <a:solidFill>
                  <a:srgbClr val="0F1633"/>
                </a:solidFill>
                <a:latin typeface="Calibri" pitchFamily="34" charset="0"/>
                <a:ea typeface="Calibri" pitchFamily="34" charset="-122"/>
                <a:cs typeface="Calibri" pitchFamily="34" charset="-120"/>
              </a:rPr>
              <a:t>2</a:t>
            </a:r>
            <a:endParaRPr lang="en-US" sz="1300" dirty="0"/>
          </a:p>
        </p:txBody>
      </p:sp>
      <p:sp>
        <p:nvSpPr>
          <p:cNvPr id="14" name="Text 12"/>
          <p:cNvSpPr txBox="1"/>
          <p:nvPr/>
        </p:nvSpPr>
        <p:spPr>
          <a:xfrm>
            <a:off x="3410712" y="1984248"/>
            <a:ext cx="2322576" cy="457200"/>
          </a:xfrm>
          <a:prstGeom prst="rect">
            <a:avLst/>
          </a:prstGeom>
          <a:noFill/>
          <a:ln/>
        </p:spPr>
        <p:txBody>
          <a:bodyPr wrap="square" lIns="0" tIns="0" rIns="0" bIns="0" rtlCol="0" anchor="t"/>
          <a:lstStyle/>
          <a:p>
            <a:pPr marL="0" indent="0">
              <a:buNone/>
            </a:pPr>
            <a:r>
              <a:rPr lang="en-US" sz="1300" b="1" dirty="0">
                <a:solidFill>
                  <a:srgbClr val="FFFFFF"/>
                </a:solidFill>
                <a:latin typeface="Calibri" pitchFamily="34" charset="0"/>
                <a:ea typeface="Calibri" pitchFamily="34" charset="-122"/>
                <a:cs typeface="Calibri" pitchFamily="34" charset="-120"/>
              </a:rPr>
              <a:t>IA aplicada a flujos reales</a:t>
            </a:r>
            <a:endParaRPr lang="en-US" sz="1300" dirty="0"/>
          </a:p>
        </p:txBody>
      </p:sp>
      <p:sp>
        <p:nvSpPr>
          <p:cNvPr id="15" name="Text 13"/>
          <p:cNvSpPr txBox="1"/>
          <p:nvPr/>
        </p:nvSpPr>
        <p:spPr>
          <a:xfrm>
            <a:off x="3410712" y="2441448"/>
            <a:ext cx="2322576" cy="685800"/>
          </a:xfrm>
          <a:prstGeom prst="rect">
            <a:avLst/>
          </a:prstGeom>
          <a:noFill/>
          <a:ln/>
        </p:spPr>
        <p:txBody>
          <a:bodyPr wrap="square" lIns="0" tIns="0" rIns="0" bIns="0" rtlCol="0" anchor="t"/>
          <a:lstStyle/>
          <a:p>
            <a:pPr marL="0" indent="0">
              <a:buNone/>
            </a:pPr>
            <a:r>
              <a:rPr lang="en-US" sz="1050" dirty="0">
                <a:solidFill>
                  <a:srgbClr val="CADCFC"/>
                </a:solidFill>
                <a:latin typeface="Calibri" pitchFamily="34" charset="0"/>
                <a:ea typeface="Calibri" pitchFamily="34" charset="-122"/>
                <a:cs typeface="Calibri" pitchFamily="34" charset="-120"/>
              </a:rPr>
              <a:t>Integración de herramientas de IA generativa en procesos productivos supervisados.</a:t>
            </a:r>
            <a:endParaRPr lang="en-US" sz="1050" dirty="0"/>
          </a:p>
        </p:txBody>
      </p:sp>
      <p:sp>
        <p:nvSpPr>
          <p:cNvPr id="16" name="Shape 14"/>
          <p:cNvSpPr/>
          <p:nvPr/>
        </p:nvSpPr>
        <p:spPr>
          <a:xfrm>
            <a:off x="6071616" y="1325880"/>
            <a:ext cx="2615184" cy="1828800"/>
          </a:xfrm>
          <a:prstGeom prst="roundRect">
            <a:avLst>
              <a:gd name="adj" fmla="val 3500"/>
            </a:avLst>
          </a:prstGeom>
          <a:solidFill>
            <a:srgbClr val="27316B"/>
          </a:solidFill>
          <a:ln/>
        </p:spPr>
      </p:sp>
      <p:sp>
        <p:nvSpPr>
          <p:cNvPr id="17" name="Shape 15"/>
          <p:cNvSpPr txBox="1"/>
          <p:nvPr/>
        </p:nvSpPr>
        <p:spPr>
          <a:xfrm>
            <a:off x="6217920" y="1472184"/>
            <a:ext cx="384048" cy="384048"/>
          </a:xfrm>
          <a:prstGeom prst="ellipse">
            <a:avLst/>
          </a:prstGeom>
          <a:solidFill>
            <a:srgbClr val="8FA8FF"/>
          </a:solidFill>
          <a:ln/>
        </p:spPr>
      </p:sp>
      <p:sp>
        <p:nvSpPr>
          <p:cNvPr id="18" name="Text 16"/>
          <p:cNvSpPr txBox="1"/>
          <p:nvPr/>
        </p:nvSpPr>
        <p:spPr>
          <a:xfrm>
            <a:off x="6217920" y="1472184"/>
            <a:ext cx="384048" cy="384048"/>
          </a:xfrm>
          <a:prstGeom prst="rect">
            <a:avLst/>
          </a:prstGeom>
          <a:noFill/>
          <a:ln/>
        </p:spPr>
        <p:txBody>
          <a:bodyPr wrap="square" lIns="0" tIns="0" rIns="0" bIns="0" rtlCol="0" anchor="t"/>
          <a:lstStyle/>
          <a:p>
            <a:pPr marL="0" indent="0" algn="ctr">
              <a:buNone/>
            </a:pPr>
            <a:r>
              <a:rPr lang="en-US" sz="1300" b="1" dirty="0">
                <a:solidFill>
                  <a:srgbClr val="0F1633"/>
                </a:solidFill>
                <a:latin typeface="Calibri" pitchFamily="34" charset="0"/>
                <a:ea typeface="Calibri" pitchFamily="34" charset="-122"/>
                <a:cs typeface="Calibri" pitchFamily="34" charset="-120"/>
              </a:rPr>
              <a:t>3</a:t>
            </a:r>
            <a:endParaRPr lang="en-US" sz="1300" dirty="0"/>
          </a:p>
        </p:txBody>
      </p:sp>
      <p:sp>
        <p:nvSpPr>
          <p:cNvPr id="19" name="Text 17"/>
          <p:cNvSpPr txBox="1"/>
          <p:nvPr/>
        </p:nvSpPr>
        <p:spPr>
          <a:xfrm>
            <a:off x="6217920" y="1984248"/>
            <a:ext cx="2322576" cy="457200"/>
          </a:xfrm>
          <a:prstGeom prst="rect">
            <a:avLst/>
          </a:prstGeom>
          <a:noFill/>
          <a:ln/>
        </p:spPr>
        <p:txBody>
          <a:bodyPr wrap="square" lIns="0" tIns="0" rIns="0" bIns="0" rtlCol="0" anchor="t"/>
          <a:lstStyle/>
          <a:p>
            <a:pPr marL="0" indent="0">
              <a:buNone/>
            </a:pPr>
            <a:r>
              <a:rPr lang="en-US" sz="1300" b="1" dirty="0">
                <a:solidFill>
                  <a:srgbClr val="FFFFFF"/>
                </a:solidFill>
                <a:latin typeface="Calibri" pitchFamily="34" charset="0"/>
                <a:ea typeface="Calibri" pitchFamily="34" charset="-122"/>
                <a:cs typeface="Calibri" pitchFamily="34" charset="-120"/>
              </a:rPr>
              <a:t>Caso de estudio real</a:t>
            </a:r>
            <a:endParaRPr lang="en-US" sz="1300" dirty="0"/>
          </a:p>
        </p:txBody>
      </p:sp>
      <p:sp>
        <p:nvSpPr>
          <p:cNvPr id="20" name="Text 18"/>
          <p:cNvSpPr txBox="1"/>
          <p:nvPr/>
        </p:nvSpPr>
        <p:spPr>
          <a:xfrm>
            <a:off x="6217920" y="2441448"/>
            <a:ext cx="2322576" cy="685800"/>
          </a:xfrm>
          <a:prstGeom prst="rect">
            <a:avLst/>
          </a:prstGeom>
          <a:noFill/>
          <a:ln/>
        </p:spPr>
        <p:txBody>
          <a:bodyPr wrap="square" lIns="0" tIns="0" rIns="0" bIns="0" rtlCol="0" anchor="t"/>
          <a:lstStyle/>
          <a:p>
            <a:pPr marL="0" indent="0">
              <a:buNone/>
            </a:pPr>
            <a:r>
              <a:rPr lang="en-US" sz="1050" dirty="0">
                <a:solidFill>
                  <a:srgbClr val="CADCFC"/>
                </a:solidFill>
                <a:latin typeface="Calibri" pitchFamily="34" charset="0"/>
                <a:ea typeface="Calibri" pitchFamily="34" charset="-122"/>
                <a:cs typeface="Calibri" pitchFamily="34" charset="-120"/>
              </a:rPr>
              <a:t>Gestión de un proyecto con cliente real, del kickoff a la entrega operativa.</a:t>
            </a:r>
            <a:endParaRPr lang="en-US" sz="1050" dirty="0"/>
          </a:p>
        </p:txBody>
      </p:sp>
      <p:sp>
        <p:nvSpPr>
          <p:cNvPr id="21" name="Shape 19"/>
          <p:cNvSpPr/>
          <p:nvPr/>
        </p:nvSpPr>
        <p:spPr>
          <a:xfrm>
            <a:off x="1860804" y="3246120"/>
            <a:ext cx="2615184" cy="1280160"/>
          </a:xfrm>
          <a:prstGeom prst="roundRect">
            <a:avLst>
              <a:gd name="adj" fmla="val 5000"/>
            </a:avLst>
          </a:prstGeom>
          <a:solidFill>
            <a:srgbClr val="27316B"/>
          </a:solidFill>
          <a:ln/>
        </p:spPr>
      </p:sp>
      <p:sp>
        <p:nvSpPr>
          <p:cNvPr id="22" name="Shape 20"/>
          <p:cNvSpPr txBox="1"/>
          <p:nvPr/>
        </p:nvSpPr>
        <p:spPr>
          <a:xfrm>
            <a:off x="2007108" y="3429000"/>
            <a:ext cx="329184" cy="329184"/>
          </a:xfrm>
          <a:prstGeom prst="ellipse">
            <a:avLst/>
          </a:prstGeom>
          <a:solidFill>
            <a:srgbClr val="8FA8FF"/>
          </a:solidFill>
          <a:ln/>
        </p:spPr>
      </p:sp>
      <p:sp>
        <p:nvSpPr>
          <p:cNvPr id="23" name="Text 21"/>
          <p:cNvSpPr txBox="1"/>
          <p:nvPr/>
        </p:nvSpPr>
        <p:spPr>
          <a:xfrm>
            <a:off x="2007108" y="3429000"/>
            <a:ext cx="329184" cy="329184"/>
          </a:xfrm>
          <a:prstGeom prst="rect">
            <a:avLst/>
          </a:prstGeom>
          <a:noFill/>
          <a:ln/>
        </p:spPr>
        <p:txBody>
          <a:bodyPr wrap="square" lIns="0" tIns="0" rIns="0" bIns="0" rtlCol="0" anchor="t"/>
          <a:lstStyle/>
          <a:p>
            <a:pPr marL="0" indent="0" algn="ctr">
              <a:buNone/>
            </a:pPr>
            <a:r>
              <a:rPr lang="en-US" sz="1300" b="1" dirty="0">
                <a:solidFill>
                  <a:srgbClr val="0F1633"/>
                </a:solidFill>
                <a:latin typeface="Calibri" pitchFamily="34" charset="0"/>
                <a:ea typeface="Calibri" pitchFamily="34" charset="-122"/>
                <a:cs typeface="Calibri" pitchFamily="34" charset="-120"/>
              </a:rPr>
              <a:t>4</a:t>
            </a:r>
            <a:endParaRPr lang="en-US" sz="1300" dirty="0"/>
          </a:p>
        </p:txBody>
      </p:sp>
      <p:sp>
        <p:nvSpPr>
          <p:cNvPr id="24" name="Text 22"/>
          <p:cNvSpPr txBox="1"/>
          <p:nvPr/>
        </p:nvSpPr>
        <p:spPr>
          <a:xfrm>
            <a:off x="2464308" y="3419856"/>
            <a:ext cx="1865376" cy="329184"/>
          </a:xfrm>
          <a:prstGeom prst="rect">
            <a:avLst/>
          </a:prstGeom>
          <a:noFill/>
          <a:ln/>
        </p:spPr>
        <p:txBody>
          <a:bodyPr wrap="square" lIns="0" tIns="0" rIns="0" bIns="0" rtlCol="0" anchor="t"/>
          <a:lstStyle/>
          <a:p>
            <a:pPr marL="0" indent="0">
              <a:buNone/>
            </a:pPr>
            <a:r>
              <a:rPr lang="en-US" sz="1300" b="1" dirty="0">
                <a:solidFill>
                  <a:srgbClr val="FFFFFF"/>
                </a:solidFill>
                <a:latin typeface="Calibri" pitchFamily="34" charset="0"/>
                <a:ea typeface="Calibri" pitchFamily="34" charset="-122"/>
                <a:cs typeface="Calibri" pitchFamily="34" charset="-120"/>
              </a:rPr>
              <a:t>Transformación digital</a:t>
            </a:r>
            <a:endParaRPr lang="en-US" sz="1300" dirty="0"/>
          </a:p>
        </p:txBody>
      </p:sp>
      <p:sp>
        <p:nvSpPr>
          <p:cNvPr id="25" name="Text 23"/>
          <p:cNvSpPr txBox="1"/>
          <p:nvPr/>
        </p:nvSpPr>
        <p:spPr>
          <a:xfrm>
            <a:off x="2007108" y="3813048"/>
            <a:ext cx="2322576" cy="658368"/>
          </a:xfrm>
          <a:prstGeom prst="rect">
            <a:avLst/>
          </a:prstGeom>
          <a:noFill/>
          <a:ln/>
        </p:spPr>
        <p:txBody>
          <a:bodyPr wrap="square" lIns="0" tIns="0" rIns="0" bIns="0" rtlCol="0" anchor="t"/>
          <a:lstStyle/>
          <a:p>
            <a:pPr marL="0" indent="0">
              <a:buNone/>
            </a:pPr>
            <a:r>
              <a:rPr lang="en-US" sz="1050" dirty="0">
                <a:solidFill>
                  <a:srgbClr val="CADCFC"/>
                </a:solidFill>
                <a:latin typeface="Calibri" pitchFamily="34" charset="0"/>
                <a:ea typeface="Calibri" pitchFamily="34" charset="-122"/>
                <a:cs typeface="Calibri" pitchFamily="34" charset="-120"/>
              </a:rPr>
              <a:t>Automatización de procesos manuales en el sector gremial.</a:t>
            </a:r>
            <a:endParaRPr lang="en-US" sz="1050" dirty="0"/>
          </a:p>
        </p:txBody>
      </p:sp>
      <p:sp>
        <p:nvSpPr>
          <p:cNvPr id="26" name="Shape 24"/>
          <p:cNvSpPr/>
          <p:nvPr/>
        </p:nvSpPr>
        <p:spPr>
          <a:xfrm>
            <a:off x="4668012" y="3246120"/>
            <a:ext cx="2615184" cy="1280160"/>
          </a:xfrm>
          <a:prstGeom prst="roundRect">
            <a:avLst>
              <a:gd name="adj" fmla="val 5000"/>
            </a:avLst>
          </a:prstGeom>
          <a:solidFill>
            <a:srgbClr val="27316B"/>
          </a:solidFill>
          <a:ln/>
        </p:spPr>
      </p:sp>
      <p:sp>
        <p:nvSpPr>
          <p:cNvPr id="27" name="Shape 25"/>
          <p:cNvSpPr txBox="1"/>
          <p:nvPr/>
        </p:nvSpPr>
        <p:spPr>
          <a:xfrm>
            <a:off x="4814316" y="3429000"/>
            <a:ext cx="329184" cy="329184"/>
          </a:xfrm>
          <a:prstGeom prst="ellipse">
            <a:avLst/>
          </a:prstGeom>
          <a:solidFill>
            <a:srgbClr val="8FA8FF"/>
          </a:solidFill>
          <a:ln/>
        </p:spPr>
      </p:sp>
      <p:sp>
        <p:nvSpPr>
          <p:cNvPr id="28" name="Text 26"/>
          <p:cNvSpPr txBox="1"/>
          <p:nvPr/>
        </p:nvSpPr>
        <p:spPr>
          <a:xfrm>
            <a:off x="4814316" y="3429000"/>
            <a:ext cx="329184" cy="329184"/>
          </a:xfrm>
          <a:prstGeom prst="rect">
            <a:avLst/>
          </a:prstGeom>
          <a:noFill/>
          <a:ln/>
        </p:spPr>
        <p:txBody>
          <a:bodyPr wrap="square" lIns="0" tIns="0" rIns="0" bIns="0" rtlCol="0" anchor="t"/>
          <a:lstStyle/>
          <a:p>
            <a:pPr marL="0" indent="0" algn="ctr">
              <a:buNone/>
            </a:pPr>
            <a:r>
              <a:rPr lang="en-US" sz="1300" b="1" dirty="0">
                <a:solidFill>
                  <a:srgbClr val="0F1633"/>
                </a:solidFill>
                <a:latin typeface="Calibri" pitchFamily="34" charset="0"/>
                <a:ea typeface="Calibri" pitchFamily="34" charset="-122"/>
                <a:cs typeface="Calibri" pitchFamily="34" charset="-120"/>
              </a:rPr>
              <a:t>5</a:t>
            </a:r>
            <a:endParaRPr lang="en-US" sz="1300" dirty="0"/>
          </a:p>
        </p:txBody>
      </p:sp>
      <p:sp>
        <p:nvSpPr>
          <p:cNvPr id="29" name="Text 27"/>
          <p:cNvSpPr txBox="1"/>
          <p:nvPr/>
        </p:nvSpPr>
        <p:spPr>
          <a:xfrm>
            <a:off x="5271516" y="3419856"/>
            <a:ext cx="1865376" cy="329184"/>
          </a:xfrm>
          <a:prstGeom prst="rect">
            <a:avLst/>
          </a:prstGeom>
          <a:noFill/>
          <a:ln/>
        </p:spPr>
        <p:txBody>
          <a:bodyPr wrap="square" lIns="0" tIns="0" rIns="0" bIns="0" rtlCol="0" anchor="t"/>
          <a:lstStyle/>
          <a:p>
            <a:pPr marL="0" indent="0">
              <a:buNone/>
            </a:pPr>
            <a:r>
              <a:rPr lang="en-US" sz="1300" b="1" dirty="0">
                <a:solidFill>
                  <a:srgbClr val="FFFFFF"/>
                </a:solidFill>
                <a:latin typeface="Calibri" pitchFamily="34" charset="0"/>
                <a:ea typeface="Calibri" pitchFamily="34" charset="-122"/>
                <a:cs typeface="Calibri" pitchFamily="34" charset="-120"/>
              </a:rPr>
              <a:t>Trabajo en equipo</a:t>
            </a:r>
            <a:endParaRPr lang="en-US" sz="1300" dirty="0"/>
          </a:p>
        </p:txBody>
      </p:sp>
      <p:sp>
        <p:nvSpPr>
          <p:cNvPr id="30" name="Text 28"/>
          <p:cNvSpPr txBox="1"/>
          <p:nvPr/>
        </p:nvSpPr>
        <p:spPr>
          <a:xfrm>
            <a:off x="4814316" y="3813048"/>
            <a:ext cx="2322576" cy="658368"/>
          </a:xfrm>
          <a:prstGeom prst="rect">
            <a:avLst/>
          </a:prstGeom>
          <a:noFill/>
          <a:ln/>
        </p:spPr>
        <p:txBody>
          <a:bodyPr wrap="square" lIns="0" tIns="0" rIns="0" bIns="0" rtlCol="0" anchor="t"/>
          <a:lstStyle/>
          <a:p>
            <a:pPr marL="0" indent="0">
              <a:buNone/>
            </a:pPr>
            <a:r>
              <a:rPr lang="en-US" sz="1050" dirty="0">
                <a:solidFill>
                  <a:srgbClr val="CADCFC"/>
                </a:solidFill>
                <a:latin typeface="Calibri" pitchFamily="34" charset="0"/>
                <a:ea typeface="Calibri" pitchFamily="34" charset="-122"/>
                <a:cs typeface="Calibri" pitchFamily="34" charset="-120"/>
              </a:rPr>
              <a:t>Roles complementarios de frontend, backend y documentación en el grupo.</a:t>
            </a:r>
            <a:endParaRPr lang="en-US" sz="1050" dirty="0"/>
          </a:p>
        </p:txBody>
      </p:sp>
      <p:sp>
        <p:nvSpPr>
          <p:cNvPr id="31" name="Text 29"/>
          <p:cNvSpPr txBox="1"/>
          <p:nvPr/>
        </p:nvSpPr>
        <p:spPr>
          <a:xfrm>
            <a:off x="457200" y="4864608"/>
            <a:ext cx="2743200" cy="228600"/>
          </a:xfrm>
          <a:prstGeom prst="rect">
            <a:avLst/>
          </a:prstGeom>
          <a:noFill/>
          <a:ln/>
        </p:spPr>
        <p:txBody>
          <a:bodyPr wrap="square" lIns="0" tIns="0" rIns="0" bIns="0" rtlCol="0" anchor="t"/>
          <a:lstStyle/>
          <a:p>
            <a:pPr marL="0" indent="0">
              <a:buNone/>
            </a:pPr>
            <a:r>
              <a:rPr lang="en-US" sz="900" kern="0" spc="100" dirty="0">
                <a:solidFill>
                  <a:srgbClr val="93A4DC"/>
                </a:solidFill>
                <a:latin typeface="Calibri" pitchFamily="34" charset="0"/>
                <a:ea typeface="Calibri" pitchFamily="34" charset="-122"/>
                <a:cs typeface="Calibri" pitchFamily="34" charset="-120"/>
              </a:rPr>
              <a:t>Proyecto APT · CCHIA</a:t>
            </a:r>
            <a:endParaRPr lang="en-US" sz="900" dirty="0"/>
          </a:p>
        </p:txBody>
      </p:sp>
      <p:sp>
        <p:nvSpPr>
          <p:cNvPr id="32" name="Text 30"/>
          <p:cNvSpPr txBox="1"/>
          <p:nvPr/>
        </p:nvSpPr>
        <p:spPr>
          <a:xfrm>
            <a:off x="6400800" y="4864608"/>
            <a:ext cx="2286000" cy="228600"/>
          </a:xfrm>
          <a:prstGeom prst="rect">
            <a:avLst/>
          </a:prstGeom>
          <a:noFill/>
          <a:ln/>
        </p:spPr>
        <p:txBody>
          <a:bodyPr wrap="square" lIns="0" tIns="0" rIns="0" bIns="0" rtlCol="0" anchor="t"/>
          <a:lstStyle/>
          <a:p>
            <a:pPr marL="0" indent="0" algn="r">
              <a:buNone/>
            </a:pPr>
            <a:r>
              <a:rPr lang="en-US" sz="900" kern="0" spc="100" dirty="0">
                <a:solidFill>
                  <a:srgbClr val="93A4DC"/>
                </a:solidFill>
                <a:latin typeface="Calibri" pitchFamily="34" charset="0"/>
                <a:ea typeface="Calibri" pitchFamily="34" charset="-122"/>
                <a:cs typeface="Calibri" pitchFamily="34" charset="-120"/>
              </a:rPr>
              <a:t>8 / 11</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9">
    <p:bg>
      <p:bgPr>
        <a:solidFill>
          <a:srgbClr val="1B2452"/>
        </a:solidFill>
        <a:effectLst/>
      </p:bgPr>
    </p:bg>
    <p:spTree>
      <p:nvGrpSpPr>
        <p:cNvPr id="1" name=""/>
        <p:cNvGrpSpPr/>
        <p:nvPr/>
      </p:nvGrpSpPr>
      <p:grpSpPr>
        <a:xfrm>
          <a:off x="0" y="0"/>
          <a:ext cx="0" cy="0"/>
          <a:chOff x="0" y="0"/>
          <a:chExt cx="0" cy="0"/>
        </a:xfrm>
      </p:grpSpPr>
      <p:sp>
        <p:nvSpPr>
          <p:cNvPr id="2" name="Shape 0"/>
          <p:cNvSpPr txBox="1"/>
          <p:nvPr/>
        </p:nvSpPr>
        <p:spPr>
          <a:xfrm>
            <a:off x="457200" y="457200"/>
            <a:ext cx="411480" cy="411480"/>
          </a:xfrm>
          <a:prstGeom prst="ellipse">
            <a:avLst/>
          </a:prstGeom>
          <a:solidFill>
            <a:srgbClr val="8FA8FF"/>
          </a:solidFill>
          <a:ln/>
        </p:spPr>
      </p:sp>
      <p:sp>
        <p:nvSpPr>
          <p:cNvPr id="3" name="Text 1"/>
          <p:cNvSpPr txBox="1"/>
          <p:nvPr/>
        </p:nvSpPr>
        <p:spPr>
          <a:xfrm>
            <a:off x="457200" y="457200"/>
            <a:ext cx="411480" cy="411480"/>
          </a:xfrm>
          <a:prstGeom prst="rect">
            <a:avLst/>
          </a:prstGeom>
          <a:noFill/>
          <a:ln/>
        </p:spPr>
        <p:txBody>
          <a:bodyPr wrap="square" lIns="0" tIns="0" rIns="0" bIns="0" rtlCol="0" anchor="t"/>
          <a:lstStyle/>
          <a:p>
            <a:pPr marL="0" indent="0" algn="ctr">
              <a:buNone/>
            </a:pPr>
            <a:r>
              <a:rPr lang="en-US" sz="1300" b="1" dirty="0">
                <a:solidFill>
                  <a:srgbClr val="0F1633"/>
                </a:solidFill>
                <a:latin typeface="Calibri" pitchFamily="34" charset="0"/>
                <a:ea typeface="Calibri" pitchFamily="34" charset="-122"/>
                <a:cs typeface="Calibri" pitchFamily="34" charset="-120"/>
              </a:rPr>
              <a:t>8</a:t>
            </a:r>
            <a:endParaRPr lang="en-US" sz="1300" dirty="0"/>
          </a:p>
        </p:txBody>
      </p:sp>
      <p:sp>
        <p:nvSpPr>
          <p:cNvPr id="4" name="Text 2"/>
          <p:cNvSpPr txBox="1"/>
          <p:nvPr/>
        </p:nvSpPr>
        <p:spPr>
          <a:xfrm>
            <a:off x="1005840" y="384048"/>
            <a:ext cx="7498080" cy="566928"/>
          </a:xfrm>
          <a:prstGeom prst="rect">
            <a:avLst/>
          </a:prstGeom>
          <a:noFill/>
          <a:ln/>
        </p:spPr>
        <p:txBody>
          <a:bodyPr wrap="square" lIns="0" tIns="0" rIns="0" bIns="0" rtlCol="0" anchor="t"/>
          <a:lstStyle/>
          <a:p>
            <a:pPr marL="0" indent="0">
              <a:buNone/>
            </a:pPr>
            <a:r>
              <a:rPr lang="en-US" sz="3000" b="1" dirty="0">
                <a:solidFill>
                  <a:srgbClr val="FFFFFF"/>
                </a:solidFill>
                <a:latin typeface="Calibri" pitchFamily="34" charset="0"/>
                <a:ea typeface="Calibri" pitchFamily="34" charset="-122"/>
                <a:cs typeface="Calibri" pitchFamily="34" charset="-120"/>
              </a:rPr>
              <a:t>Factibilidad del Proyecto</a:t>
            </a:r>
            <a:endParaRPr lang="en-US" sz="3000" dirty="0"/>
          </a:p>
        </p:txBody>
      </p:sp>
      <p:sp>
        <p:nvSpPr>
          <p:cNvPr id="5" name="Text 3"/>
          <p:cNvSpPr txBox="1"/>
          <p:nvPr/>
        </p:nvSpPr>
        <p:spPr>
          <a:xfrm>
            <a:off x="1005840" y="960120"/>
            <a:ext cx="7680960" cy="292608"/>
          </a:xfrm>
          <a:prstGeom prst="rect">
            <a:avLst/>
          </a:prstGeom>
          <a:noFill/>
          <a:ln/>
        </p:spPr>
        <p:txBody>
          <a:bodyPr wrap="square" lIns="0" tIns="0" rIns="0" bIns="0" rtlCol="0" anchor="t"/>
          <a:lstStyle/>
          <a:p>
            <a:pPr marL="0" indent="0">
              <a:buNone/>
            </a:pPr>
            <a:r>
              <a:rPr lang="en-US" sz="1300" dirty="0">
                <a:solidFill>
                  <a:srgbClr val="CADCFC"/>
                </a:solidFill>
                <a:latin typeface="Calibri" pitchFamily="34" charset="0"/>
                <a:ea typeface="Calibri" pitchFamily="34" charset="-122"/>
                <a:cs typeface="Calibri" pitchFamily="34" charset="-120"/>
              </a:rPr>
              <a:t>Tiempo, recursos y riesgos que hacen viable el proyecto en la asignatura.</a:t>
            </a:r>
            <a:endParaRPr lang="en-US" sz="1300" dirty="0"/>
          </a:p>
        </p:txBody>
      </p:sp>
      <p:sp>
        <p:nvSpPr>
          <p:cNvPr id="6" name="Shape 4"/>
          <p:cNvSpPr/>
          <p:nvPr/>
        </p:nvSpPr>
        <p:spPr>
          <a:xfrm>
            <a:off x="457200" y="1325880"/>
            <a:ext cx="2615184" cy="1828800"/>
          </a:xfrm>
          <a:prstGeom prst="roundRect">
            <a:avLst>
              <a:gd name="adj" fmla="val 3500"/>
            </a:avLst>
          </a:prstGeom>
          <a:solidFill>
            <a:srgbClr val="27316B"/>
          </a:solidFill>
          <a:ln/>
        </p:spPr>
      </p:sp>
      <p:sp>
        <p:nvSpPr>
          <p:cNvPr id="7" name="Shape 5"/>
          <p:cNvSpPr txBox="1"/>
          <p:nvPr/>
        </p:nvSpPr>
        <p:spPr>
          <a:xfrm>
            <a:off x="603504" y="1472184"/>
            <a:ext cx="384048" cy="384048"/>
          </a:xfrm>
          <a:prstGeom prst="ellipse">
            <a:avLst/>
          </a:prstGeom>
          <a:solidFill>
            <a:srgbClr val="8FA8FF"/>
          </a:solidFill>
          <a:ln/>
        </p:spPr>
      </p:sp>
      <p:sp>
        <p:nvSpPr>
          <p:cNvPr id="8" name="Text 6"/>
          <p:cNvSpPr txBox="1"/>
          <p:nvPr/>
        </p:nvSpPr>
        <p:spPr>
          <a:xfrm>
            <a:off x="603504" y="1472184"/>
            <a:ext cx="384048" cy="384048"/>
          </a:xfrm>
          <a:prstGeom prst="rect">
            <a:avLst/>
          </a:prstGeom>
          <a:noFill/>
          <a:ln/>
        </p:spPr>
        <p:txBody>
          <a:bodyPr wrap="square" lIns="0" tIns="0" rIns="0" bIns="0" rtlCol="0" anchor="t"/>
          <a:lstStyle/>
          <a:p>
            <a:pPr marL="0" indent="0" algn="ctr">
              <a:buNone/>
            </a:pPr>
            <a:r>
              <a:rPr lang="en-US" sz="1300" b="1" dirty="0">
                <a:solidFill>
                  <a:srgbClr val="0F1633"/>
                </a:solidFill>
                <a:latin typeface="Calibri" pitchFamily="34" charset="0"/>
                <a:ea typeface="Calibri" pitchFamily="34" charset="-122"/>
                <a:cs typeface="Calibri" pitchFamily="34" charset="-120"/>
              </a:rPr>
              <a:t>1</a:t>
            </a:r>
            <a:endParaRPr lang="en-US" sz="1300" dirty="0"/>
          </a:p>
        </p:txBody>
      </p:sp>
      <p:sp>
        <p:nvSpPr>
          <p:cNvPr id="9" name="Text 7"/>
          <p:cNvSpPr txBox="1"/>
          <p:nvPr/>
        </p:nvSpPr>
        <p:spPr>
          <a:xfrm>
            <a:off x="603504" y="1984248"/>
            <a:ext cx="2322576" cy="457200"/>
          </a:xfrm>
          <a:prstGeom prst="rect">
            <a:avLst/>
          </a:prstGeom>
          <a:noFill/>
          <a:ln/>
        </p:spPr>
        <p:txBody>
          <a:bodyPr wrap="square" lIns="0" tIns="0" rIns="0" bIns="0" rtlCol="0" anchor="t"/>
          <a:lstStyle/>
          <a:p>
            <a:pPr marL="0" indent="0">
              <a:buNone/>
            </a:pPr>
            <a:r>
              <a:rPr lang="en-US" sz="1300" b="1" dirty="0">
                <a:solidFill>
                  <a:srgbClr val="FFFFFF"/>
                </a:solidFill>
                <a:latin typeface="Calibri" pitchFamily="34" charset="0"/>
                <a:ea typeface="Calibri" pitchFamily="34" charset="-122"/>
                <a:cs typeface="Calibri" pitchFamily="34" charset="-120"/>
              </a:rPr>
              <a:t>Tiempo: 18 semanas</a:t>
            </a:r>
            <a:endParaRPr lang="en-US" sz="1300" dirty="0"/>
          </a:p>
        </p:txBody>
      </p:sp>
      <p:sp>
        <p:nvSpPr>
          <p:cNvPr id="10" name="Text 8"/>
          <p:cNvSpPr txBox="1"/>
          <p:nvPr/>
        </p:nvSpPr>
        <p:spPr>
          <a:xfrm>
            <a:off x="603504" y="2441448"/>
            <a:ext cx="2322576" cy="685800"/>
          </a:xfrm>
          <a:prstGeom prst="rect">
            <a:avLst/>
          </a:prstGeom>
          <a:noFill/>
          <a:ln/>
        </p:spPr>
        <p:txBody>
          <a:bodyPr wrap="square" lIns="0" tIns="0" rIns="0" bIns="0" rtlCol="0" anchor="t"/>
          <a:lstStyle/>
          <a:p>
            <a:pPr marL="0" indent="0">
              <a:buNone/>
            </a:pPr>
            <a:r>
              <a:rPr lang="en-US" sz="1050" dirty="0">
                <a:solidFill>
                  <a:srgbClr val="CADCFC"/>
                </a:solidFill>
                <a:latin typeface="Calibri" pitchFamily="34" charset="0"/>
                <a:ea typeface="Calibri" pitchFamily="34" charset="-122"/>
                <a:cs typeface="Calibri" pitchFamily="34" charset="-120"/>
              </a:rPr>
              <a:t>Duración del semestre, suficiente para análisis, desarrollo e implementación.</a:t>
            </a:r>
            <a:endParaRPr lang="en-US" sz="1050" dirty="0"/>
          </a:p>
        </p:txBody>
      </p:sp>
      <p:sp>
        <p:nvSpPr>
          <p:cNvPr id="11" name="Shape 9"/>
          <p:cNvSpPr/>
          <p:nvPr/>
        </p:nvSpPr>
        <p:spPr>
          <a:xfrm>
            <a:off x="3264408" y="1325880"/>
            <a:ext cx="2615184" cy="1828800"/>
          </a:xfrm>
          <a:prstGeom prst="roundRect">
            <a:avLst>
              <a:gd name="adj" fmla="val 3500"/>
            </a:avLst>
          </a:prstGeom>
          <a:solidFill>
            <a:srgbClr val="27316B"/>
          </a:solidFill>
          <a:ln/>
        </p:spPr>
      </p:sp>
      <p:sp>
        <p:nvSpPr>
          <p:cNvPr id="12" name="Shape 10"/>
          <p:cNvSpPr txBox="1"/>
          <p:nvPr/>
        </p:nvSpPr>
        <p:spPr>
          <a:xfrm>
            <a:off x="3410712" y="1472184"/>
            <a:ext cx="384048" cy="384048"/>
          </a:xfrm>
          <a:prstGeom prst="ellipse">
            <a:avLst/>
          </a:prstGeom>
          <a:solidFill>
            <a:srgbClr val="8FA8FF"/>
          </a:solidFill>
          <a:ln/>
        </p:spPr>
      </p:sp>
      <p:sp>
        <p:nvSpPr>
          <p:cNvPr id="13" name="Text 11"/>
          <p:cNvSpPr txBox="1"/>
          <p:nvPr/>
        </p:nvSpPr>
        <p:spPr>
          <a:xfrm>
            <a:off x="3410712" y="1472184"/>
            <a:ext cx="384048" cy="384048"/>
          </a:xfrm>
          <a:prstGeom prst="rect">
            <a:avLst/>
          </a:prstGeom>
          <a:noFill/>
          <a:ln/>
        </p:spPr>
        <p:txBody>
          <a:bodyPr wrap="square" lIns="0" tIns="0" rIns="0" bIns="0" rtlCol="0" anchor="t"/>
          <a:lstStyle/>
          <a:p>
            <a:pPr marL="0" indent="0" algn="ctr">
              <a:buNone/>
            </a:pPr>
            <a:r>
              <a:rPr lang="en-US" sz="1300" b="1" dirty="0">
                <a:solidFill>
                  <a:srgbClr val="0F1633"/>
                </a:solidFill>
                <a:latin typeface="Calibri" pitchFamily="34" charset="0"/>
                <a:ea typeface="Calibri" pitchFamily="34" charset="-122"/>
                <a:cs typeface="Calibri" pitchFamily="34" charset="-120"/>
              </a:rPr>
              <a:t>2</a:t>
            </a:r>
            <a:endParaRPr lang="en-US" sz="1300" dirty="0"/>
          </a:p>
        </p:txBody>
      </p:sp>
      <p:sp>
        <p:nvSpPr>
          <p:cNvPr id="14" name="Text 12"/>
          <p:cNvSpPr txBox="1"/>
          <p:nvPr/>
        </p:nvSpPr>
        <p:spPr>
          <a:xfrm>
            <a:off x="3410712" y="1984248"/>
            <a:ext cx="2322576" cy="457200"/>
          </a:xfrm>
          <a:prstGeom prst="rect">
            <a:avLst/>
          </a:prstGeom>
          <a:noFill/>
          <a:ln/>
        </p:spPr>
        <p:txBody>
          <a:bodyPr wrap="square" lIns="0" tIns="0" rIns="0" bIns="0" rtlCol="0" anchor="t"/>
          <a:lstStyle/>
          <a:p>
            <a:pPr marL="0" indent="0">
              <a:buNone/>
            </a:pPr>
            <a:r>
              <a:rPr lang="en-US" sz="1300" b="1" dirty="0">
                <a:solidFill>
                  <a:srgbClr val="FFFFFF"/>
                </a:solidFill>
                <a:latin typeface="Calibri" pitchFamily="34" charset="0"/>
                <a:ea typeface="Calibri" pitchFamily="34" charset="-122"/>
                <a:cs typeface="Calibri" pitchFamily="34" charset="-120"/>
              </a:rPr>
              <a:t>Materiales disponibles</a:t>
            </a:r>
            <a:endParaRPr lang="en-US" sz="1300" dirty="0"/>
          </a:p>
        </p:txBody>
      </p:sp>
      <p:sp>
        <p:nvSpPr>
          <p:cNvPr id="15" name="Text 13"/>
          <p:cNvSpPr txBox="1"/>
          <p:nvPr/>
        </p:nvSpPr>
        <p:spPr>
          <a:xfrm>
            <a:off x="3410712" y="2441448"/>
            <a:ext cx="2322576" cy="685800"/>
          </a:xfrm>
          <a:prstGeom prst="rect">
            <a:avLst/>
          </a:prstGeom>
          <a:noFill/>
          <a:ln/>
        </p:spPr>
        <p:txBody>
          <a:bodyPr wrap="square" lIns="0" tIns="0" rIns="0" bIns="0" rtlCol="0" anchor="t"/>
          <a:lstStyle/>
          <a:p>
            <a:pPr marL="0" indent="0">
              <a:buNone/>
            </a:pPr>
            <a:r>
              <a:rPr lang="en-US" sz="1050" dirty="0">
                <a:solidFill>
                  <a:srgbClr val="CADCFC"/>
                </a:solidFill>
                <a:latin typeface="Calibri" pitchFamily="34" charset="0"/>
                <a:ea typeface="Calibri" pitchFamily="34" charset="-122"/>
                <a:cs typeface="Calibri" pitchFamily="34" charset="-120"/>
              </a:rPr>
              <a:t>Computador, IDE, frameworks web y APIs o modelos de inteligencia artificial.</a:t>
            </a:r>
            <a:endParaRPr lang="en-US" sz="1050" dirty="0"/>
          </a:p>
        </p:txBody>
      </p:sp>
      <p:sp>
        <p:nvSpPr>
          <p:cNvPr id="16" name="Shape 14"/>
          <p:cNvSpPr/>
          <p:nvPr/>
        </p:nvSpPr>
        <p:spPr>
          <a:xfrm>
            <a:off x="6071616" y="1325880"/>
            <a:ext cx="2615184" cy="1828800"/>
          </a:xfrm>
          <a:prstGeom prst="roundRect">
            <a:avLst>
              <a:gd name="adj" fmla="val 3500"/>
            </a:avLst>
          </a:prstGeom>
          <a:solidFill>
            <a:srgbClr val="27316B"/>
          </a:solidFill>
          <a:ln/>
        </p:spPr>
      </p:sp>
      <p:sp>
        <p:nvSpPr>
          <p:cNvPr id="17" name="Shape 15"/>
          <p:cNvSpPr txBox="1"/>
          <p:nvPr/>
        </p:nvSpPr>
        <p:spPr>
          <a:xfrm>
            <a:off x="6217920" y="1472184"/>
            <a:ext cx="384048" cy="384048"/>
          </a:xfrm>
          <a:prstGeom prst="ellipse">
            <a:avLst/>
          </a:prstGeom>
          <a:solidFill>
            <a:srgbClr val="8FA8FF"/>
          </a:solidFill>
          <a:ln/>
        </p:spPr>
      </p:sp>
      <p:sp>
        <p:nvSpPr>
          <p:cNvPr id="18" name="Text 16"/>
          <p:cNvSpPr txBox="1"/>
          <p:nvPr/>
        </p:nvSpPr>
        <p:spPr>
          <a:xfrm>
            <a:off x="6217920" y="1472184"/>
            <a:ext cx="384048" cy="384048"/>
          </a:xfrm>
          <a:prstGeom prst="rect">
            <a:avLst/>
          </a:prstGeom>
          <a:noFill/>
          <a:ln/>
        </p:spPr>
        <p:txBody>
          <a:bodyPr wrap="square" lIns="0" tIns="0" rIns="0" bIns="0" rtlCol="0" anchor="t"/>
          <a:lstStyle/>
          <a:p>
            <a:pPr marL="0" indent="0" algn="ctr">
              <a:buNone/>
            </a:pPr>
            <a:r>
              <a:rPr lang="en-US" sz="1300" b="1" dirty="0">
                <a:solidFill>
                  <a:srgbClr val="0F1633"/>
                </a:solidFill>
                <a:latin typeface="Calibri" pitchFamily="34" charset="0"/>
                <a:ea typeface="Calibri" pitchFamily="34" charset="-122"/>
                <a:cs typeface="Calibri" pitchFamily="34" charset="-120"/>
              </a:rPr>
              <a:t>3</a:t>
            </a:r>
            <a:endParaRPr lang="en-US" sz="1300" dirty="0"/>
          </a:p>
        </p:txBody>
      </p:sp>
      <p:sp>
        <p:nvSpPr>
          <p:cNvPr id="19" name="Text 17"/>
          <p:cNvSpPr txBox="1"/>
          <p:nvPr/>
        </p:nvSpPr>
        <p:spPr>
          <a:xfrm>
            <a:off x="6217920" y="1984248"/>
            <a:ext cx="2322576" cy="457200"/>
          </a:xfrm>
          <a:prstGeom prst="rect">
            <a:avLst/>
          </a:prstGeom>
          <a:noFill/>
          <a:ln/>
        </p:spPr>
        <p:txBody>
          <a:bodyPr wrap="square" lIns="0" tIns="0" rIns="0" bIns="0" rtlCol="0" anchor="t"/>
          <a:lstStyle/>
          <a:p>
            <a:pPr marL="0" indent="0">
              <a:buNone/>
            </a:pPr>
            <a:r>
              <a:rPr lang="en-US" sz="1300" b="1" dirty="0">
                <a:solidFill>
                  <a:srgbClr val="FFFFFF"/>
                </a:solidFill>
                <a:latin typeface="Calibri" pitchFamily="34" charset="0"/>
                <a:ea typeface="Calibri" pitchFamily="34" charset="-122"/>
                <a:cs typeface="Calibri" pitchFamily="34" charset="-120"/>
              </a:rPr>
              <a:t>Cliente disponible</a:t>
            </a:r>
            <a:endParaRPr lang="en-US" sz="1300" dirty="0"/>
          </a:p>
        </p:txBody>
      </p:sp>
      <p:sp>
        <p:nvSpPr>
          <p:cNvPr id="20" name="Text 18"/>
          <p:cNvSpPr txBox="1"/>
          <p:nvPr/>
        </p:nvSpPr>
        <p:spPr>
          <a:xfrm>
            <a:off x="6217920" y="2441448"/>
            <a:ext cx="2322576" cy="685800"/>
          </a:xfrm>
          <a:prstGeom prst="rect">
            <a:avLst/>
          </a:prstGeom>
          <a:noFill/>
          <a:ln/>
        </p:spPr>
        <p:txBody>
          <a:bodyPr wrap="square" lIns="0" tIns="0" rIns="0" bIns="0" rtlCol="0" anchor="t"/>
          <a:lstStyle/>
          <a:p>
            <a:pPr marL="0" indent="0">
              <a:buNone/>
            </a:pPr>
            <a:r>
              <a:rPr lang="en-US" sz="1050" dirty="0">
                <a:solidFill>
                  <a:srgbClr val="CADCFC"/>
                </a:solidFill>
                <a:latin typeface="Calibri" pitchFamily="34" charset="0"/>
                <a:ea typeface="Calibri" pitchFamily="34" charset="-122"/>
                <a:cs typeface="Calibri" pitchFamily="34" charset="-120"/>
              </a:rPr>
              <a:t>Buena disposición de la CCHIA para el levantamiento de requisitos iniciales.</a:t>
            </a:r>
            <a:endParaRPr lang="en-US" sz="1050" dirty="0"/>
          </a:p>
        </p:txBody>
      </p:sp>
      <p:sp>
        <p:nvSpPr>
          <p:cNvPr id="21" name="Shape 19"/>
          <p:cNvSpPr/>
          <p:nvPr/>
        </p:nvSpPr>
        <p:spPr>
          <a:xfrm>
            <a:off x="1860804" y="3246120"/>
            <a:ext cx="2615184" cy="1280160"/>
          </a:xfrm>
          <a:prstGeom prst="roundRect">
            <a:avLst>
              <a:gd name="adj" fmla="val 5000"/>
            </a:avLst>
          </a:prstGeom>
          <a:solidFill>
            <a:srgbClr val="27316B"/>
          </a:solidFill>
          <a:ln/>
        </p:spPr>
      </p:sp>
      <p:sp>
        <p:nvSpPr>
          <p:cNvPr id="22" name="Shape 20"/>
          <p:cNvSpPr txBox="1"/>
          <p:nvPr/>
        </p:nvSpPr>
        <p:spPr>
          <a:xfrm>
            <a:off x="2007108" y="3429000"/>
            <a:ext cx="329184" cy="329184"/>
          </a:xfrm>
          <a:prstGeom prst="ellipse">
            <a:avLst/>
          </a:prstGeom>
          <a:solidFill>
            <a:srgbClr val="8FA8FF"/>
          </a:solidFill>
          <a:ln/>
        </p:spPr>
      </p:sp>
      <p:sp>
        <p:nvSpPr>
          <p:cNvPr id="23" name="Text 21"/>
          <p:cNvSpPr txBox="1"/>
          <p:nvPr/>
        </p:nvSpPr>
        <p:spPr>
          <a:xfrm>
            <a:off x="2007108" y="3429000"/>
            <a:ext cx="329184" cy="329184"/>
          </a:xfrm>
          <a:prstGeom prst="rect">
            <a:avLst/>
          </a:prstGeom>
          <a:noFill/>
          <a:ln/>
        </p:spPr>
        <p:txBody>
          <a:bodyPr wrap="square" lIns="0" tIns="0" rIns="0" bIns="0" rtlCol="0" anchor="t"/>
          <a:lstStyle/>
          <a:p>
            <a:pPr marL="0" indent="0" algn="ctr">
              <a:buNone/>
            </a:pPr>
            <a:r>
              <a:rPr lang="en-US" sz="1300" b="1" dirty="0">
                <a:solidFill>
                  <a:srgbClr val="0F1633"/>
                </a:solidFill>
                <a:latin typeface="Calibri" pitchFamily="34" charset="0"/>
                <a:ea typeface="Calibri" pitchFamily="34" charset="-122"/>
                <a:cs typeface="Calibri" pitchFamily="34" charset="-120"/>
              </a:rPr>
              <a:t>4</a:t>
            </a:r>
            <a:endParaRPr lang="en-US" sz="1300" dirty="0"/>
          </a:p>
        </p:txBody>
      </p:sp>
      <p:sp>
        <p:nvSpPr>
          <p:cNvPr id="24" name="Text 22"/>
          <p:cNvSpPr txBox="1"/>
          <p:nvPr/>
        </p:nvSpPr>
        <p:spPr>
          <a:xfrm>
            <a:off x="2464308" y="3419856"/>
            <a:ext cx="1865376" cy="329184"/>
          </a:xfrm>
          <a:prstGeom prst="rect">
            <a:avLst/>
          </a:prstGeom>
          <a:noFill/>
          <a:ln/>
        </p:spPr>
        <p:txBody>
          <a:bodyPr wrap="square" lIns="0" tIns="0" rIns="0" bIns="0" rtlCol="0" anchor="t"/>
          <a:lstStyle/>
          <a:p>
            <a:pPr marL="0" indent="0">
              <a:buNone/>
            </a:pPr>
            <a:r>
              <a:rPr lang="en-US" sz="1300" b="1" dirty="0">
                <a:solidFill>
                  <a:srgbClr val="FFFFFF"/>
                </a:solidFill>
                <a:latin typeface="Calibri" pitchFamily="34" charset="0"/>
                <a:ea typeface="Calibri" pitchFamily="34" charset="-122"/>
                <a:cs typeface="Calibri" pitchFamily="34" charset="-120"/>
              </a:rPr>
              <a:t>Riesgo: cambios en requisitos</a:t>
            </a:r>
            <a:endParaRPr lang="en-US" sz="1300" dirty="0"/>
          </a:p>
        </p:txBody>
      </p:sp>
      <p:sp>
        <p:nvSpPr>
          <p:cNvPr id="25" name="Text 23"/>
          <p:cNvSpPr txBox="1"/>
          <p:nvPr/>
        </p:nvSpPr>
        <p:spPr>
          <a:xfrm>
            <a:off x="2007108" y="3813048"/>
            <a:ext cx="2322576" cy="658368"/>
          </a:xfrm>
          <a:prstGeom prst="rect">
            <a:avLst/>
          </a:prstGeom>
          <a:noFill/>
          <a:ln/>
        </p:spPr>
        <p:txBody>
          <a:bodyPr wrap="square" lIns="0" tIns="0" rIns="0" bIns="0" rtlCol="0" anchor="t"/>
          <a:lstStyle/>
          <a:p>
            <a:pPr marL="0" indent="0">
              <a:buNone/>
            </a:pPr>
            <a:r>
              <a:rPr lang="en-US" sz="1050" dirty="0">
                <a:solidFill>
                  <a:srgbClr val="CADCFC"/>
                </a:solidFill>
                <a:latin typeface="Calibri" pitchFamily="34" charset="0"/>
                <a:ea typeface="Calibri" pitchFamily="34" charset="-122"/>
                <a:cs typeface="Calibri" pitchFamily="34" charset="-120"/>
              </a:rPr>
              <a:t>Se mitiga con hitos de revisión claros y entregas iterativas (metodología ágil).</a:t>
            </a:r>
            <a:endParaRPr lang="en-US" sz="1050" dirty="0"/>
          </a:p>
        </p:txBody>
      </p:sp>
      <p:sp>
        <p:nvSpPr>
          <p:cNvPr id="26" name="Shape 24"/>
          <p:cNvSpPr/>
          <p:nvPr/>
        </p:nvSpPr>
        <p:spPr>
          <a:xfrm>
            <a:off x="4668012" y="3246120"/>
            <a:ext cx="2615184" cy="1280160"/>
          </a:xfrm>
          <a:prstGeom prst="roundRect">
            <a:avLst>
              <a:gd name="adj" fmla="val 5000"/>
            </a:avLst>
          </a:prstGeom>
          <a:solidFill>
            <a:srgbClr val="27316B"/>
          </a:solidFill>
          <a:ln/>
        </p:spPr>
      </p:sp>
      <p:sp>
        <p:nvSpPr>
          <p:cNvPr id="27" name="Shape 25"/>
          <p:cNvSpPr txBox="1"/>
          <p:nvPr/>
        </p:nvSpPr>
        <p:spPr>
          <a:xfrm>
            <a:off x="4814316" y="3429000"/>
            <a:ext cx="329184" cy="329184"/>
          </a:xfrm>
          <a:prstGeom prst="ellipse">
            <a:avLst/>
          </a:prstGeom>
          <a:solidFill>
            <a:srgbClr val="8FA8FF"/>
          </a:solidFill>
          <a:ln/>
        </p:spPr>
      </p:sp>
      <p:sp>
        <p:nvSpPr>
          <p:cNvPr id="28" name="Text 26"/>
          <p:cNvSpPr txBox="1"/>
          <p:nvPr/>
        </p:nvSpPr>
        <p:spPr>
          <a:xfrm>
            <a:off x="4814316" y="3429000"/>
            <a:ext cx="329184" cy="329184"/>
          </a:xfrm>
          <a:prstGeom prst="rect">
            <a:avLst/>
          </a:prstGeom>
          <a:noFill/>
          <a:ln/>
        </p:spPr>
        <p:txBody>
          <a:bodyPr wrap="square" lIns="0" tIns="0" rIns="0" bIns="0" rtlCol="0" anchor="t"/>
          <a:lstStyle/>
          <a:p>
            <a:pPr marL="0" indent="0" algn="ctr">
              <a:buNone/>
            </a:pPr>
            <a:r>
              <a:rPr lang="en-US" sz="1300" b="1" dirty="0">
                <a:solidFill>
                  <a:srgbClr val="0F1633"/>
                </a:solidFill>
                <a:latin typeface="Calibri" pitchFamily="34" charset="0"/>
                <a:ea typeface="Calibri" pitchFamily="34" charset="-122"/>
                <a:cs typeface="Calibri" pitchFamily="34" charset="-120"/>
              </a:rPr>
              <a:t>5</a:t>
            </a:r>
            <a:endParaRPr lang="en-US" sz="1300" dirty="0"/>
          </a:p>
        </p:txBody>
      </p:sp>
      <p:sp>
        <p:nvSpPr>
          <p:cNvPr id="29" name="Text 27"/>
          <p:cNvSpPr txBox="1"/>
          <p:nvPr/>
        </p:nvSpPr>
        <p:spPr>
          <a:xfrm>
            <a:off x="5271516" y="3419856"/>
            <a:ext cx="1865376" cy="329184"/>
          </a:xfrm>
          <a:prstGeom prst="rect">
            <a:avLst/>
          </a:prstGeom>
          <a:noFill/>
          <a:ln/>
        </p:spPr>
        <p:txBody>
          <a:bodyPr wrap="square" lIns="0" tIns="0" rIns="0" bIns="0" rtlCol="0" anchor="t"/>
          <a:lstStyle/>
          <a:p>
            <a:pPr marL="0" indent="0">
              <a:buNone/>
            </a:pPr>
            <a:r>
              <a:rPr lang="en-US" sz="1300" b="1" dirty="0">
                <a:solidFill>
                  <a:srgbClr val="FFFFFF"/>
                </a:solidFill>
                <a:latin typeface="Calibri" pitchFamily="34" charset="0"/>
                <a:ea typeface="Calibri" pitchFamily="34" charset="-122"/>
                <a:cs typeface="Calibri" pitchFamily="34" charset="-120"/>
              </a:rPr>
              <a:t>Horas de taller y autónomas</a:t>
            </a:r>
            <a:endParaRPr lang="en-US" sz="1300" dirty="0"/>
          </a:p>
        </p:txBody>
      </p:sp>
      <p:sp>
        <p:nvSpPr>
          <p:cNvPr id="30" name="Text 28"/>
          <p:cNvSpPr txBox="1"/>
          <p:nvPr/>
        </p:nvSpPr>
        <p:spPr>
          <a:xfrm>
            <a:off x="4814316" y="3813048"/>
            <a:ext cx="2322576" cy="658368"/>
          </a:xfrm>
          <a:prstGeom prst="rect">
            <a:avLst/>
          </a:prstGeom>
          <a:noFill/>
          <a:ln/>
        </p:spPr>
        <p:txBody>
          <a:bodyPr wrap="square" lIns="0" tIns="0" rIns="0" bIns="0" rtlCol="0" anchor="t"/>
          <a:lstStyle/>
          <a:p>
            <a:pPr marL="0" indent="0">
              <a:buNone/>
            </a:pPr>
            <a:r>
              <a:rPr lang="en-US" sz="1050" dirty="0">
                <a:solidFill>
                  <a:srgbClr val="CADCFC"/>
                </a:solidFill>
                <a:latin typeface="Calibri" pitchFamily="34" charset="0"/>
                <a:ea typeface="Calibri" pitchFamily="34" charset="-122"/>
                <a:cs typeface="Calibri" pitchFamily="34" charset="-120"/>
              </a:rPr>
              <a:t>Tiempo semanal asignado al taller de portafolio y al trabajo autónomo.</a:t>
            </a:r>
            <a:endParaRPr lang="en-US" sz="1050" dirty="0"/>
          </a:p>
        </p:txBody>
      </p:sp>
      <p:sp>
        <p:nvSpPr>
          <p:cNvPr id="31" name="Text 29"/>
          <p:cNvSpPr txBox="1"/>
          <p:nvPr/>
        </p:nvSpPr>
        <p:spPr>
          <a:xfrm>
            <a:off x="457200" y="4864608"/>
            <a:ext cx="2743200" cy="228600"/>
          </a:xfrm>
          <a:prstGeom prst="rect">
            <a:avLst/>
          </a:prstGeom>
          <a:noFill/>
          <a:ln/>
        </p:spPr>
        <p:txBody>
          <a:bodyPr wrap="square" lIns="0" tIns="0" rIns="0" bIns="0" rtlCol="0" anchor="t"/>
          <a:lstStyle/>
          <a:p>
            <a:pPr marL="0" indent="0">
              <a:buNone/>
            </a:pPr>
            <a:r>
              <a:rPr lang="en-US" sz="900" kern="0" spc="100" dirty="0">
                <a:solidFill>
                  <a:srgbClr val="93A4DC"/>
                </a:solidFill>
                <a:latin typeface="Calibri" pitchFamily="34" charset="0"/>
                <a:ea typeface="Calibri" pitchFamily="34" charset="-122"/>
                <a:cs typeface="Calibri" pitchFamily="34" charset="-120"/>
              </a:rPr>
              <a:t>Proyecto APT · CCHIA</a:t>
            </a:r>
            <a:endParaRPr lang="en-US" sz="900" dirty="0"/>
          </a:p>
        </p:txBody>
      </p:sp>
      <p:sp>
        <p:nvSpPr>
          <p:cNvPr id="32" name="Text 30"/>
          <p:cNvSpPr txBox="1"/>
          <p:nvPr/>
        </p:nvSpPr>
        <p:spPr>
          <a:xfrm>
            <a:off x="6400800" y="4864608"/>
            <a:ext cx="2286000" cy="228600"/>
          </a:xfrm>
          <a:prstGeom prst="rect">
            <a:avLst/>
          </a:prstGeom>
          <a:noFill/>
          <a:ln/>
        </p:spPr>
        <p:txBody>
          <a:bodyPr wrap="square" lIns="0" tIns="0" rIns="0" bIns="0" rtlCol="0" anchor="t"/>
          <a:lstStyle/>
          <a:p>
            <a:pPr marL="0" indent="0" algn="r">
              <a:buNone/>
            </a:pPr>
            <a:r>
              <a:rPr lang="en-US" sz="900" kern="0" spc="100" dirty="0">
                <a:solidFill>
                  <a:srgbClr val="93A4DC"/>
                </a:solidFill>
                <a:latin typeface="Calibri" pitchFamily="34" charset="0"/>
                <a:ea typeface="Calibri" pitchFamily="34" charset="-122"/>
                <a:cs typeface="Calibri" pitchFamily="34" charset="-120"/>
              </a:rPr>
              <a:t>9 / 11</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10">
    <p:bg>
      <p:bgPr>
        <a:solidFill>
          <a:srgbClr val="1B2452"/>
        </a:solidFill>
        <a:effectLst/>
      </p:bgPr>
    </p:bg>
    <p:spTree>
      <p:nvGrpSpPr>
        <p:cNvPr id="1" name=""/>
        <p:cNvGrpSpPr/>
        <p:nvPr/>
      </p:nvGrpSpPr>
      <p:grpSpPr>
        <a:xfrm>
          <a:off x="0" y="0"/>
          <a:ext cx="0" cy="0"/>
          <a:chOff x="0" y="0"/>
          <a:chExt cx="0" cy="0"/>
        </a:xfrm>
      </p:grpSpPr>
      <p:sp>
        <p:nvSpPr>
          <p:cNvPr id="2" name="Shape 0"/>
          <p:cNvSpPr txBox="1"/>
          <p:nvPr/>
        </p:nvSpPr>
        <p:spPr>
          <a:xfrm>
            <a:off x="457200" y="457200"/>
            <a:ext cx="411480" cy="411480"/>
          </a:xfrm>
          <a:prstGeom prst="ellipse">
            <a:avLst/>
          </a:prstGeom>
          <a:solidFill>
            <a:srgbClr val="8FA8FF"/>
          </a:solidFill>
          <a:ln/>
        </p:spPr>
      </p:sp>
      <p:sp>
        <p:nvSpPr>
          <p:cNvPr id="3" name="Text 1"/>
          <p:cNvSpPr txBox="1"/>
          <p:nvPr/>
        </p:nvSpPr>
        <p:spPr>
          <a:xfrm>
            <a:off x="457200" y="457200"/>
            <a:ext cx="411480" cy="411480"/>
          </a:xfrm>
          <a:prstGeom prst="rect">
            <a:avLst/>
          </a:prstGeom>
          <a:noFill/>
          <a:ln/>
        </p:spPr>
        <p:txBody>
          <a:bodyPr wrap="square" lIns="0" tIns="0" rIns="0" bIns="0" rtlCol="0" anchor="t"/>
          <a:lstStyle/>
          <a:p>
            <a:pPr marL="0" indent="0" algn="ctr">
              <a:buNone/>
            </a:pPr>
            <a:r>
              <a:rPr lang="en-US" sz="1300" b="1" dirty="0">
                <a:solidFill>
                  <a:srgbClr val="0F1633"/>
                </a:solidFill>
                <a:latin typeface="Calibri" pitchFamily="34" charset="0"/>
                <a:ea typeface="Calibri" pitchFamily="34" charset="-122"/>
                <a:cs typeface="Calibri" pitchFamily="34" charset="-120"/>
              </a:rPr>
              <a:t>9</a:t>
            </a:r>
            <a:endParaRPr lang="en-US" sz="1300" dirty="0"/>
          </a:p>
        </p:txBody>
      </p:sp>
      <p:sp>
        <p:nvSpPr>
          <p:cNvPr id="4" name="Text 2"/>
          <p:cNvSpPr txBox="1"/>
          <p:nvPr/>
        </p:nvSpPr>
        <p:spPr>
          <a:xfrm>
            <a:off x="1005840" y="384048"/>
            <a:ext cx="7498080" cy="566928"/>
          </a:xfrm>
          <a:prstGeom prst="rect">
            <a:avLst/>
          </a:prstGeom>
          <a:noFill/>
          <a:ln/>
        </p:spPr>
        <p:txBody>
          <a:bodyPr wrap="square" lIns="0" tIns="0" rIns="0" bIns="0" rtlCol="0" anchor="t"/>
          <a:lstStyle/>
          <a:p>
            <a:pPr marL="0" indent="0">
              <a:buNone/>
            </a:pPr>
            <a:r>
              <a:rPr lang="en-US" sz="3000" b="1" dirty="0">
                <a:solidFill>
                  <a:srgbClr val="FFFFFF"/>
                </a:solidFill>
                <a:latin typeface="Calibri" pitchFamily="34" charset="0"/>
                <a:ea typeface="Calibri" pitchFamily="34" charset="-122"/>
                <a:cs typeface="Calibri" pitchFamily="34" charset="-120"/>
              </a:rPr>
              <a:t>Metodología</a:t>
            </a:r>
            <a:endParaRPr lang="en-US" sz="3000" dirty="0"/>
          </a:p>
        </p:txBody>
      </p:sp>
      <p:sp>
        <p:nvSpPr>
          <p:cNvPr id="5" name="Text 3"/>
          <p:cNvSpPr txBox="1"/>
          <p:nvPr/>
        </p:nvSpPr>
        <p:spPr>
          <a:xfrm>
            <a:off x="1005840" y="960120"/>
            <a:ext cx="7680960" cy="292608"/>
          </a:xfrm>
          <a:prstGeom prst="rect">
            <a:avLst/>
          </a:prstGeom>
          <a:noFill/>
          <a:ln/>
        </p:spPr>
        <p:txBody>
          <a:bodyPr wrap="square" lIns="0" tIns="0" rIns="0" bIns="0" rtlCol="0" anchor="t"/>
          <a:lstStyle/>
          <a:p>
            <a:pPr marL="0" indent="0">
              <a:buNone/>
            </a:pPr>
            <a:r>
              <a:rPr lang="en-US" sz="1300" dirty="0">
                <a:solidFill>
                  <a:srgbClr val="CADCFC"/>
                </a:solidFill>
                <a:latin typeface="Calibri" pitchFamily="34" charset="0"/>
                <a:ea typeface="Calibri" pitchFamily="34" charset="-122"/>
                <a:cs typeface="Calibri" pitchFamily="34" charset="-120"/>
              </a:rPr>
              <a:t>Enfoque ágil iterativo e incremental en tres fases.</a:t>
            </a:r>
            <a:endParaRPr lang="en-US" sz="1300" dirty="0"/>
          </a:p>
        </p:txBody>
      </p:sp>
      <p:sp>
        <p:nvSpPr>
          <p:cNvPr id="6" name="Shape 4"/>
          <p:cNvSpPr/>
          <p:nvPr/>
        </p:nvSpPr>
        <p:spPr>
          <a:xfrm>
            <a:off x="457200" y="1325880"/>
            <a:ext cx="2615184" cy="1828800"/>
          </a:xfrm>
          <a:prstGeom prst="roundRect">
            <a:avLst>
              <a:gd name="adj" fmla="val 3500"/>
            </a:avLst>
          </a:prstGeom>
          <a:solidFill>
            <a:srgbClr val="27316B"/>
          </a:solidFill>
          <a:ln/>
        </p:spPr>
      </p:sp>
      <p:sp>
        <p:nvSpPr>
          <p:cNvPr id="7" name="Shape 5"/>
          <p:cNvSpPr txBox="1"/>
          <p:nvPr/>
        </p:nvSpPr>
        <p:spPr>
          <a:xfrm>
            <a:off x="603504" y="1472184"/>
            <a:ext cx="384048" cy="384048"/>
          </a:xfrm>
          <a:prstGeom prst="ellipse">
            <a:avLst/>
          </a:prstGeom>
          <a:solidFill>
            <a:srgbClr val="8FA8FF"/>
          </a:solidFill>
          <a:ln/>
        </p:spPr>
      </p:sp>
      <p:sp>
        <p:nvSpPr>
          <p:cNvPr id="8" name="Text 6"/>
          <p:cNvSpPr txBox="1"/>
          <p:nvPr/>
        </p:nvSpPr>
        <p:spPr>
          <a:xfrm>
            <a:off x="603504" y="1472184"/>
            <a:ext cx="384048" cy="384048"/>
          </a:xfrm>
          <a:prstGeom prst="rect">
            <a:avLst/>
          </a:prstGeom>
          <a:noFill/>
          <a:ln/>
        </p:spPr>
        <p:txBody>
          <a:bodyPr wrap="square" lIns="0" tIns="0" rIns="0" bIns="0" rtlCol="0" anchor="t"/>
          <a:lstStyle/>
          <a:p>
            <a:pPr marL="0" indent="0" algn="ctr">
              <a:buNone/>
            </a:pPr>
            <a:r>
              <a:rPr lang="en-US" sz="1300" b="1" dirty="0">
                <a:solidFill>
                  <a:srgbClr val="0F1633"/>
                </a:solidFill>
                <a:latin typeface="Calibri" pitchFamily="34" charset="0"/>
                <a:ea typeface="Calibri" pitchFamily="34" charset="-122"/>
                <a:cs typeface="Calibri" pitchFamily="34" charset="-120"/>
              </a:rPr>
              <a:t>1</a:t>
            </a:r>
            <a:endParaRPr lang="en-US" sz="1300" dirty="0"/>
          </a:p>
        </p:txBody>
      </p:sp>
      <p:sp>
        <p:nvSpPr>
          <p:cNvPr id="9" name="Text 7"/>
          <p:cNvSpPr txBox="1"/>
          <p:nvPr/>
        </p:nvSpPr>
        <p:spPr>
          <a:xfrm>
            <a:off x="603504" y="1984248"/>
            <a:ext cx="2322576" cy="457200"/>
          </a:xfrm>
          <a:prstGeom prst="rect">
            <a:avLst/>
          </a:prstGeom>
          <a:noFill/>
          <a:ln/>
        </p:spPr>
        <p:txBody>
          <a:bodyPr wrap="square" lIns="0" tIns="0" rIns="0" bIns="0" rtlCol="0" anchor="t"/>
          <a:lstStyle/>
          <a:p>
            <a:pPr marL="0" indent="0">
              <a:buNone/>
            </a:pPr>
            <a:r>
              <a:rPr lang="en-US" sz="1300" b="1" dirty="0">
                <a:solidFill>
                  <a:srgbClr val="FFFFFF"/>
                </a:solidFill>
                <a:latin typeface="Calibri" pitchFamily="34" charset="0"/>
                <a:ea typeface="Calibri" pitchFamily="34" charset="-122"/>
                <a:cs typeface="Calibri" pitchFamily="34" charset="-120"/>
              </a:rPr>
              <a:t>Fase 1 · Kickoff y Levantamiento</a:t>
            </a:r>
            <a:endParaRPr lang="en-US" sz="1300" dirty="0"/>
          </a:p>
        </p:txBody>
      </p:sp>
      <p:sp>
        <p:nvSpPr>
          <p:cNvPr id="10" name="Text 8"/>
          <p:cNvSpPr txBox="1"/>
          <p:nvPr/>
        </p:nvSpPr>
        <p:spPr>
          <a:xfrm>
            <a:off x="603504" y="2441448"/>
            <a:ext cx="2322576" cy="685800"/>
          </a:xfrm>
          <a:prstGeom prst="rect">
            <a:avLst/>
          </a:prstGeom>
          <a:noFill/>
          <a:ln/>
        </p:spPr>
        <p:txBody>
          <a:bodyPr wrap="square" lIns="0" tIns="0" rIns="0" bIns="0" rtlCol="0" anchor="t"/>
          <a:lstStyle/>
          <a:p>
            <a:pPr marL="0" indent="0">
              <a:buNone/>
            </a:pPr>
            <a:r>
              <a:rPr lang="en-US" sz="1050" dirty="0">
                <a:solidFill>
                  <a:srgbClr val="CADCFC"/>
                </a:solidFill>
                <a:latin typeface="Calibri" pitchFamily="34" charset="0"/>
                <a:ea typeface="Calibri" pitchFamily="34" charset="-122"/>
                <a:cs typeface="Calibri" pitchFamily="34" charset="-120"/>
              </a:rPr>
              <a:t>Definición de requerimientos y alcance junto al cliente (semanas 1-5).</a:t>
            </a:r>
            <a:endParaRPr lang="en-US" sz="1050" dirty="0"/>
          </a:p>
        </p:txBody>
      </p:sp>
      <p:sp>
        <p:nvSpPr>
          <p:cNvPr id="11" name="Shape 9"/>
          <p:cNvSpPr/>
          <p:nvPr/>
        </p:nvSpPr>
        <p:spPr>
          <a:xfrm>
            <a:off x="3264408" y="1325880"/>
            <a:ext cx="2615184" cy="1828800"/>
          </a:xfrm>
          <a:prstGeom prst="roundRect">
            <a:avLst>
              <a:gd name="adj" fmla="val 3500"/>
            </a:avLst>
          </a:prstGeom>
          <a:solidFill>
            <a:srgbClr val="27316B"/>
          </a:solidFill>
          <a:ln/>
        </p:spPr>
      </p:sp>
      <p:sp>
        <p:nvSpPr>
          <p:cNvPr id="12" name="Shape 10"/>
          <p:cNvSpPr txBox="1"/>
          <p:nvPr/>
        </p:nvSpPr>
        <p:spPr>
          <a:xfrm>
            <a:off x="3410712" y="1472184"/>
            <a:ext cx="384048" cy="384048"/>
          </a:xfrm>
          <a:prstGeom prst="ellipse">
            <a:avLst/>
          </a:prstGeom>
          <a:solidFill>
            <a:srgbClr val="8FA8FF"/>
          </a:solidFill>
          <a:ln/>
        </p:spPr>
      </p:sp>
      <p:sp>
        <p:nvSpPr>
          <p:cNvPr id="13" name="Text 11"/>
          <p:cNvSpPr txBox="1"/>
          <p:nvPr/>
        </p:nvSpPr>
        <p:spPr>
          <a:xfrm>
            <a:off x="3410712" y="1472184"/>
            <a:ext cx="384048" cy="384048"/>
          </a:xfrm>
          <a:prstGeom prst="rect">
            <a:avLst/>
          </a:prstGeom>
          <a:noFill/>
          <a:ln/>
        </p:spPr>
        <p:txBody>
          <a:bodyPr wrap="square" lIns="0" tIns="0" rIns="0" bIns="0" rtlCol="0" anchor="t"/>
          <a:lstStyle/>
          <a:p>
            <a:pPr marL="0" indent="0" algn="ctr">
              <a:buNone/>
            </a:pPr>
            <a:r>
              <a:rPr lang="en-US" sz="1300" b="1" dirty="0">
                <a:solidFill>
                  <a:srgbClr val="0F1633"/>
                </a:solidFill>
                <a:latin typeface="Calibri" pitchFamily="34" charset="0"/>
                <a:ea typeface="Calibri" pitchFamily="34" charset="-122"/>
                <a:cs typeface="Calibri" pitchFamily="34" charset="-120"/>
              </a:rPr>
              <a:t>2</a:t>
            </a:r>
            <a:endParaRPr lang="en-US" sz="1300" dirty="0"/>
          </a:p>
        </p:txBody>
      </p:sp>
      <p:sp>
        <p:nvSpPr>
          <p:cNvPr id="14" name="Text 12"/>
          <p:cNvSpPr txBox="1"/>
          <p:nvPr/>
        </p:nvSpPr>
        <p:spPr>
          <a:xfrm>
            <a:off x="3410712" y="1984248"/>
            <a:ext cx="2322576" cy="457200"/>
          </a:xfrm>
          <a:prstGeom prst="rect">
            <a:avLst/>
          </a:prstGeom>
          <a:noFill/>
          <a:ln/>
        </p:spPr>
        <p:txBody>
          <a:bodyPr wrap="square" lIns="0" tIns="0" rIns="0" bIns="0" rtlCol="0" anchor="t"/>
          <a:lstStyle/>
          <a:p>
            <a:pPr marL="0" indent="0">
              <a:buNone/>
            </a:pPr>
            <a:r>
              <a:rPr lang="en-US" sz="1300" b="1" dirty="0">
                <a:solidFill>
                  <a:srgbClr val="FFFFFF"/>
                </a:solidFill>
                <a:latin typeface="Calibri" pitchFamily="34" charset="0"/>
                <a:ea typeface="Calibri" pitchFamily="34" charset="-122"/>
                <a:cs typeface="Calibri" pitchFamily="34" charset="-120"/>
              </a:rPr>
              <a:t>Fase 2 · Diseño e Implementación</a:t>
            </a:r>
            <a:endParaRPr lang="en-US" sz="1300" dirty="0"/>
          </a:p>
        </p:txBody>
      </p:sp>
      <p:sp>
        <p:nvSpPr>
          <p:cNvPr id="15" name="Text 13"/>
          <p:cNvSpPr txBox="1"/>
          <p:nvPr/>
        </p:nvSpPr>
        <p:spPr>
          <a:xfrm>
            <a:off x="3410712" y="2441448"/>
            <a:ext cx="2322576" cy="685800"/>
          </a:xfrm>
          <a:prstGeom prst="rect">
            <a:avLst/>
          </a:prstGeom>
          <a:noFill/>
          <a:ln/>
        </p:spPr>
        <p:txBody>
          <a:bodyPr wrap="square" lIns="0" tIns="0" rIns="0" bIns="0" rtlCol="0" anchor="t"/>
          <a:lstStyle/>
          <a:p>
            <a:pPr marL="0" indent="0">
              <a:buNone/>
            </a:pPr>
            <a:r>
              <a:rPr lang="en-US" sz="1050" dirty="0">
                <a:solidFill>
                  <a:srgbClr val="CADCFC"/>
                </a:solidFill>
                <a:latin typeface="Calibri" pitchFamily="34" charset="0"/>
                <a:ea typeface="Calibri" pitchFamily="34" charset="-122"/>
                <a:cs typeface="Calibri" pitchFamily="34" charset="-120"/>
              </a:rPr>
              <a:t>Construcción de la plataforma, integración de la IA y perfiles de revisión (semanas 6-13).</a:t>
            </a:r>
            <a:endParaRPr lang="en-US" sz="1050" dirty="0"/>
          </a:p>
        </p:txBody>
      </p:sp>
      <p:sp>
        <p:nvSpPr>
          <p:cNvPr id="16" name="Shape 14"/>
          <p:cNvSpPr/>
          <p:nvPr/>
        </p:nvSpPr>
        <p:spPr>
          <a:xfrm>
            <a:off x="6071616" y="1325880"/>
            <a:ext cx="2615184" cy="1828800"/>
          </a:xfrm>
          <a:prstGeom prst="roundRect">
            <a:avLst>
              <a:gd name="adj" fmla="val 3500"/>
            </a:avLst>
          </a:prstGeom>
          <a:solidFill>
            <a:srgbClr val="27316B"/>
          </a:solidFill>
          <a:ln/>
        </p:spPr>
      </p:sp>
      <p:sp>
        <p:nvSpPr>
          <p:cNvPr id="17" name="Shape 15"/>
          <p:cNvSpPr txBox="1"/>
          <p:nvPr/>
        </p:nvSpPr>
        <p:spPr>
          <a:xfrm>
            <a:off x="6217920" y="1472184"/>
            <a:ext cx="384048" cy="384048"/>
          </a:xfrm>
          <a:prstGeom prst="ellipse">
            <a:avLst/>
          </a:prstGeom>
          <a:solidFill>
            <a:srgbClr val="8FA8FF"/>
          </a:solidFill>
          <a:ln/>
        </p:spPr>
      </p:sp>
      <p:sp>
        <p:nvSpPr>
          <p:cNvPr id="18" name="Text 16"/>
          <p:cNvSpPr txBox="1"/>
          <p:nvPr/>
        </p:nvSpPr>
        <p:spPr>
          <a:xfrm>
            <a:off x="6217920" y="1472184"/>
            <a:ext cx="384048" cy="384048"/>
          </a:xfrm>
          <a:prstGeom prst="rect">
            <a:avLst/>
          </a:prstGeom>
          <a:noFill/>
          <a:ln/>
        </p:spPr>
        <p:txBody>
          <a:bodyPr wrap="square" lIns="0" tIns="0" rIns="0" bIns="0" rtlCol="0" anchor="t"/>
          <a:lstStyle/>
          <a:p>
            <a:pPr marL="0" indent="0" algn="ctr">
              <a:buNone/>
            </a:pPr>
            <a:r>
              <a:rPr lang="en-US" sz="1300" b="1" dirty="0">
                <a:solidFill>
                  <a:srgbClr val="0F1633"/>
                </a:solidFill>
                <a:latin typeface="Calibri" pitchFamily="34" charset="0"/>
                <a:ea typeface="Calibri" pitchFamily="34" charset="-122"/>
                <a:cs typeface="Calibri" pitchFamily="34" charset="-120"/>
              </a:rPr>
              <a:t>3</a:t>
            </a:r>
            <a:endParaRPr lang="en-US" sz="1300" dirty="0"/>
          </a:p>
        </p:txBody>
      </p:sp>
      <p:sp>
        <p:nvSpPr>
          <p:cNvPr id="19" name="Text 17"/>
          <p:cNvSpPr txBox="1"/>
          <p:nvPr/>
        </p:nvSpPr>
        <p:spPr>
          <a:xfrm>
            <a:off x="6217920" y="1984248"/>
            <a:ext cx="2322576" cy="457200"/>
          </a:xfrm>
          <a:prstGeom prst="rect">
            <a:avLst/>
          </a:prstGeom>
          <a:noFill/>
          <a:ln/>
        </p:spPr>
        <p:txBody>
          <a:bodyPr wrap="square" lIns="0" tIns="0" rIns="0" bIns="0" rtlCol="0" anchor="t"/>
          <a:lstStyle/>
          <a:p>
            <a:pPr marL="0" indent="0">
              <a:buNone/>
            </a:pPr>
            <a:r>
              <a:rPr lang="en-US" sz="1300" b="1" dirty="0">
                <a:solidFill>
                  <a:srgbClr val="FFFFFF"/>
                </a:solidFill>
                <a:latin typeface="Calibri" pitchFamily="34" charset="0"/>
                <a:ea typeface="Calibri" pitchFamily="34" charset="-122"/>
                <a:cs typeface="Calibri" pitchFamily="34" charset="-120"/>
              </a:rPr>
              <a:t>Fase 3 · Pruebas y Entrega</a:t>
            </a:r>
            <a:endParaRPr lang="en-US" sz="1300" dirty="0"/>
          </a:p>
        </p:txBody>
      </p:sp>
      <p:sp>
        <p:nvSpPr>
          <p:cNvPr id="20" name="Text 18"/>
          <p:cNvSpPr txBox="1"/>
          <p:nvPr/>
        </p:nvSpPr>
        <p:spPr>
          <a:xfrm>
            <a:off x="6217920" y="2441448"/>
            <a:ext cx="2322576" cy="685800"/>
          </a:xfrm>
          <a:prstGeom prst="rect">
            <a:avLst/>
          </a:prstGeom>
          <a:noFill/>
          <a:ln/>
        </p:spPr>
        <p:txBody>
          <a:bodyPr wrap="square" lIns="0" tIns="0" rIns="0" bIns="0" rtlCol="0" anchor="t"/>
          <a:lstStyle/>
          <a:p>
            <a:pPr marL="0" indent="0">
              <a:buNone/>
            </a:pPr>
            <a:r>
              <a:rPr lang="en-US" sz="1050" dirty="0">
                <a:solidFill>
                  <a:srgbClr val="CADCFC"/>
                </a:solidFill>
                <a:latin typeface="Calibri" pitchFamily="34" charset="0"/>
                <a:ea typeface="Calibri" pitchFamily="34" charset="-122"/>
                <a:cs typeface="Calibri" pitchFamily="34" charset="-120"/>
              </a:rPr>
              <a:t>Validación con el cliente, corrección de errores y despliegue final (semanas 14-16).</a:t>
            </a:r>
            <a:endParaRPr lang="en-US" sz="1050" dirty="0"/>
          </a:p>
        </p:txBody>
      </p:sp>
      <p:sp>
        <p:nvSpPr>
          <p:cNvPr id="21" name="Shape 19"/>
          <p:cNvSpPr/>
          <p:nvPr/>
        </p:nvSpPr>
        <p:spPr>
          <a:xfrm>
            <a:off x="1860804" y="3246120"/>
            <a:ext cx="2615184" cy="1280160"/>
          </a:xfrm>
          <a:prstGeom prst="roundRect">
            <a:avLst>
              <a:gd name="adj" fmla="val 5000"/>
            </a:avLst>
          </a:prstGeom>
          <a:solidFill>
            <a:srgbClr val="27316B"/>
          </a:solidFill>
          <a:ln/>
        </p:spPr>
      </p:sp>
      <p:sp>
        <p:nvSpPr>
          <p:cNvPr id="22" name="Shape 20"/>
          <p:cNvSpPr txBox="1"/>
          <p:nvPr/>
        </p:nvSpPr>
        <p:spPr>
          <a:xfrm>
            <a:off x="2007108" y="3429000"/>
            <a:ext cx="329184" cy="329184"/>
          </a:xfrm>
          <a:prstGeom prst="ellipse">
            <a:avLst/>
          </a:prstGeom>
          <a:solidFill>
            <a:srgbClr val="8FA8FF"/>
          </a:solidFill>
          <a:ln/>
        </p:spPr>
      </p:sp>
      <p:sp>
        <p:nvSpPr>
          <p:cNvPr id="23" name="Text 21"/>
          <p:cNvSpPr txBox="1"/>
          <p:nvPr/>
        </p:nvSpPr>
        <p:spPr>
          <a:xfrm>
            <a:off x="2007108" y="3429000"/>
            <a:ext cx="329184" cy="329184"/>
          </a:xfrm>
          <a:prstGeom prst="rect">
            <a:avLst/>
          </a:prstGeom>
          <a:noFill/>
          <a:ln/>
        </p:spPr>
        <p:txBody>
          <a:bodyPr wrap="square" lIns="0" tIns="0" rIns="0" bIns="0" rtlCol="0" anchor="t"/>
          <a:lstStyle/>
          <a:p>
            <a:pPr marL="0" indent="0" algn="ctr">
              <a:buNone/>
            </a:pPr>
            <a:r>
              <a:rPr lang="en-US" sz="1300" b="1" dirty="0">
                <a:solidFill>
                  <a:srgbClr val="0F1633"/>
                </a:solidFill>
                <a:latin typeface="Calibri" pitchFamily="34" charset="0"/>
                <a:ea typeface="Calibri" pitchFamily="34" charset="-122"/>
                <a:cs typeface="Calibri" pitchFamily="34" charset="-120"/>
              </a:rPr>
              <a:t>4</a:t>
            </a:r>
            <a:endParaRPr lang="en-US" sz="1300" dirty="0"/>
          </a:p>
        </p:txBody>
      </p:sp>
      <p:sp>
        <p:nvSpPr>
          <p:cNvPr id="24" name="Text 22"/>
          <p:cNvSpPr txBox="1"/>
          <p:nvPr/>
        </p:nvSpPr>
        <p:spPr>
          <a:xfrm>
            <a:off x="2464308" y="3419856"/>
            <a:ext cx="1865376" cy="329184"/>
          </a:xfrm>
          <a:prstGeom prst="rect">
            <a:avLst/>
          </a:prstGeom>
          <a:noFill/>
          <a:ln/>
        </p:spPr>
        <p:txBody>
          <a:bodyPr wrap="square" lIns="0" tIns="0" rIns="0" bIns="0" rtlCol="0" anchor="t"/>
          <a:lstStyle/>
          <a:p>
            <a:pPr marL="0" indent="0">
              <a:buNone/>
            </a:pPr>
            <a:r>
              <a:rPr lang="en-US" sz="1300" b="1" dirty="0">
                <a:solidFill>
                  <a:srgbClr val="FFFFFF"/>
                </a:solidFill>
                <a:latin typeface="Calibri" pitchFamily="34" charset="0"/>
                <a:ea typeface="Calibri" pitchFamily="34" charset="-122"/>
                <a:cs typeface="Calibri" pitchFamily="34" charset="-120"/>
              </a:rPr>
              <a:t>Roles del equipo</a:t>
            </a:r>
            <a:endParaRPr lang="en-US" sz="1300" dirty="0"/>
          </a:p>
        </p:txBody>
      </p:sp>
      <p:sp>
        <p:nvSpPr>
          <p:cNvPr id="25" name="Text 23"/>
          <p:cNvSpPr txBox="1"/>
          <p:nvPr/>
        </p:nvSpPr>
        <p:spPr>
          <a:xfrm>
            <a:off x="2007108" y="3813048"/>
            <a:ext cx="2322576" cy="658368"/>
          </a:xfrm>
          <a:prstGeom prst="rect">
            <a:avLst/>
          </a:prstGeom>
          <a:noFill/>
          <a:ln/>
        </p:spPr>
        <p:txBody>
          <a:bodyPr wrap="square" lIns="0" tIns="0" rIns="0" bIns="0" rtlCol="0" anchor="t"/>
          <a:lstStyle/>
          <a:p>
            <a:pPr marL="0" indent="0">
              <a:buNone/>
            </a:pPr>
            <a:r>
              <a:rPr lang="en-US" sz="1050" dirty="0">
                <a:solidFill>
                  <a:srgbClr val="CADCFC"/>
                </a:solidFill>
                <a:latin typeface="Calibri" pitchFamily="34" charset="0"/>
                <a:ea typeface="Calibri" pitchFamily="34" charset="-122"/>
                <a:cs typeface="Calibri" pitchFamily="34" charset="-120"/>
              </a:rPr>
              <a:t>Joaquín: backend e IA. Carolina: frontend y UX. Maicol: documentación y coordinación.</a:t>
            </a:r>
            <a:endParaRPr lang="en-US" sz="1050" dirty="0"/>
          </a:p>
        </p:txBody>
      </p:sp>
      <p:sp>
        <p:nvSpPr>
          <p:cNvPr id="26" name="Shape 24"/>
          <p:cNvSpPr/>
          <p:nvPr/>
        </p:nvSpPr>
        <p:spPr>
          <a:xfrm>
            <a:off x="4668012" y="3246120"/>
            <a:ext cx="2615184" cy="1280160"/>
          </a:xfrm>
          <a:prstGeom prst="roundRect">
            <a:avLst>
              <a:gd name="adj" fmla="val 5000"/>
            </a:avLst>
          </a:prstGeom>
          <a:solidFill>
            <a:srgbClr val="27316B"/>
          </a:solidFill>
          <a:ln/>
        </p:spPr>
      </p:sp>
      <p:sp>
        <p:nvSpPr>
          <p:cNvPr id="27" name="Shape 25"/>
          <p:cNvSpPr txBox="1"/>
          <p:nvPr/>
        </p:nvSpPr>
        <p:spPr>
          <a:xfrm>
            <a:off x="4814316" y="3429000"/>
            <a:ext cx="329184" cy="329184"/>
          </a:xfrm>
          <a:prstGeom prst="ellipse">
            <a:avLst/>
          </a:prstGeom>
          <a:solidFill>
            <a:srgbClr val="8FA8FF"/>
          </a:solidFill>
          <a:ln/>
        </p:spPr>
      </p:sp>
      <p:sp>
        <p:nvSpPr>
          <p:cNvPr id="28" name="Text 26"/>
          <p:cNvSpPr txBox="1"/>
          <p:nvPr/>
        </p:nvSpPr>
        <p:spPr>
          <a:xfrm>
            <a:off x="4814316" y="3429000"/>
            <a:ext cx="329184" cy="329184"/>
          </a:xfrm>
          <a:prstGeom prst="rect">
            <a:avLst/>
          </a:prstGeom>
          <a:noFill/>
          <a:ln/>
        </p:spPr>
        <p:txBody>
          <a:bodyPr wrap="square" lIns="0" tIns="0" rIns="0" bIns="0" rtlCol="0" anchor="t"/>
          <a:lstStyle/>
          <a:p>
            <a:pPr marL="0" indent="0" algn="ctr">
              <a:buNone/>
            </a:pPr>
            <a:r>
              <a:rPr lang="en-US" sz="1300" b="1" dirty="0">
                <a:solidFill>
                  <a:srgbClr val="0F1633"/>
                </a:solidFill>
                <a:latin typeface="Calibri" pitchFamily="34" charset="0"/>
                <a:ea typeface="Calibri" pitchFamily="34" charset="-122"/>
                <a:cs typeface="Calibri" pitchFamily="34" charset="-120"/>
              </a:rPr>
              <a:t>5</a:t>
            </a:r>
            <a:endParaRPr lang="en-US" sz="1300" dirty="0"/>
          </a:p>
        </p:txBody>
      </p:sp>
      <p:sp>
        <p:nvSpPr>
          <p:cNvPr id="29" name="Text 27"/>
          <p:cNvSpPr txBox="1"/>
          <p:nvPr/>
        </p:nvSpPr>
        <p:spPr>
          <a:xfrm>
            <a:off x="5271516" y="3419856"/>
            <a:ext cx="1865376" cy="329184"/>
          </a:xfrm>
          <a:prstGeom prst="rect">
            <a:avLst/>
          </a:prstGeom>
          <a:noFill/>
          <a:ln/>
        </p:spPr>
        <p:txBody>
          <a:bodyPr wrap="square" lIns="0" tIns="0" rIns="0" bIns="0" rtlCol="0" anchor="t"/>
          <a:lstStyle/>
          <a:p>
            <a:pPr marL="0" indent="0">
              <a:buNone/>
            </a:pPr>
            <a:r>
              <a:rPr lang="en-US" sz="1300" b="1" dirty="0">
                <a:solidFill>
                  <a:srgbClr val="FFFFFF"/>
                </a:solidFill>
                <a:latin typeface="Calibri" pitchFamily="34" charset="0"/>
                <a:ea typeface="Calibri" pitchFamily="34" charset="-122"/>
                <a:cs typeface="Calibri" pitchFamily="34" charset="-120"/>
              </a:rPr>
              <a:t>Entregas iterativas</a:t>
            </a:r>
            <a:endParaRPr lang="en-US" sz="1300" dirty="0"/>
          </a:p>
        </p:txBody>
      </p:sp>
      <p:sp>
        <p:nvSpPr>
          <p:cNvPr id="30" name="Text 28"/>
          <p:cNvSpPr txBox="1"/>
          <p:nvPr/>
        </p:nvSpPr>
        <p:spPr>
          <a:xfrm>
            <a:off x="4814316" y="3813048"/>
            <a:ext cx="2322576" cy="658368"/>
          </a:xfrm>
          <a:prstGeom prst="rect">
            <a:avLst/>
          </a:prstGeom>
          <a:noFill/>
          <a:ln/>
        </p:spPr>
        <p:txBody>
          <a:bodyPr wrap="square" lIns="0" tIns="0" rIns="0" bIns="0" rtlCol="0" anchor="t"/>
          <a:lstStyle/>
          <a:p>
            <a:pPr marL="0" indent="0">
              <a:buNone/>
            </a:pPr>
            <a:r>
              <a:rPr lang="en-US" sz="1050" dirty="0">
                <a:solidFill>
                  <a:srgbClr val="CADCFC"/>
                </a:solidFill>
                <a:latin typeface="Calibri" pitchFamily="34" charset="0"/>
                <a:ea typeface="Calibri" pitchFamily="34" charset="-122"/>
                <a:cs typeface="Calibri" pitchFamily="34" charset="-120"/>
              </a:rPr>
              <a:t>Hitos de revisión claros con el cliente para ajustar el producto durante el semestre.</a:t>
            </a:r>
            <a:endParaRPr lang="en-US" sz="1050" dirty="0"/>
          </a:p>
        </p:txBody>
      </p:sp>
      <p:sp>
        <p:nvSpPr>
          <p:cNvPr id="31" name="Text 29"/>
          <p:cNvSpPr txBox="1"/>
          <p:nvPr/>
        </p:nvSpPr>
        <p:spPr>
          <a:xfrm>
            <a:off x="457200" y="4864608"/>
            <a:ext cx="2743200" cy="228600"/>
          </a:xfrm>
          <a:prstGeom prst="rect">
            <a:avLst/>
          </a:prstGeom>
          <a:noFill/>
          <a:ln/>
        </p:spPr>
        <p:txBody>
          <a:bodyPr wrap="square" lIns="0" tIns="0" rIns="0" bIns="0" rtlCol="0" anchor="t"/>
          <a:lstStyle/>
          <a:p>
            <a:pPr marL="0" indent="0">
              <a:buNone/>
            </a:pPr>
            <a:r>
              <a:rPr lang="en-US" sz="900" kern="0" spc="100" dirty="0">
                <a:solidFill>
                  <a:srgbClr val="93A4DC"/>
                </a:solidFill>
                <a:latin typeface="Calibri" pitchFamily="34" charset="0"/>
                <a:ea typeface="Calibri" pitchFamily="34" charset="-122"/>
                <a:cs typeface="Calibri" pitchFamily="34" charset="-120"/>
              </a:rPr>
              <a:t>Proyecto APT · CCHIA</a:t>
            </a:r>
            <a:endParaRPr lang="en-US" sz="900" dirty="0"/>
          </a:p>
        </p:txBody>
      </p:sp>
      <p:sp>
        <p:nvSpPr>
          <p:cNvPr id="32" name="Text 30"/>
          <p:cNvSpPr txBox="1"/>
          <p:nvPr/>
        </p:nvSpPr>
        <p:spPr>
          <a:xfrm>
            <a:off x="6400800" y="4864608"/>
            <a:ext cx="2286000" cy="228600"/>
          </a:xfrm>
          <a:prstGeom prst="rect">
            <a:avLst/>
          </a:prstGeom>
          <a:noFill/>
          <a:ln/>
        </p:spPr>
        <p:txBody>
          <a:bodyPr wrap="square" lIns="0" tIns="0" rIns="0" bIns="0" rtlCol="0" anchor="t"/>
          <a:lstStyle/>
          <a:p>
            <a:pPr marL="0" indent="0" algn="r">
              <a:buNone/>
            </a:pPr>
            <a:r>
              <a:rPr lang="en-US" sz="900" kern="0" spc="100" dirty="0">
                <a:solidFill>
                  <a:srgbClr val="93A4DC"/>
                </a:solidFill>
                <a:latin typeface="Calibri" pitchFamily="34" charset="0"/>
                <a:ea typeface="Calibri" pitchFamily="34" charset="-122"/>
                <a:cs typeface="Calibri" pitchFamily="34" charset="-120"/>
              </a:rPr>
              <a:t>10 / 11</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1">
    <p:bg>
      <p:bgPr>
        <a:solidFill>
          <a:srgbClr val="1B2452"/>
        </a:solidFill>
        <a:effectLst/>
      </p:bgPr>
    </p:bg>
    <p:spTree>
      <p:nvGrpSpPr>
        <p:cNvPr id="1" name=""/>
        <p:cNvGrpSpPr/>
        <p:nvPr/>
      </p:nvGrpSpPr>
      <p:grpSpPr>
        <a:xfrm>
          <a:off x="0" y="0"/>
          <a:ext cx="0" cy="0"/>
          <a:chOff x="0" y="0"/>
          <a:chExt cx="0" cy="0"/>
        </a:xfrm>
      </p:grpSpPr>
      <p:sp>
        <p:nvSpPr>
          <p:cNvPr id="2" name="Shape 0"/>
          <p:cNvSpPr txBox="1"/>
          <p:nvPr/>
        </p:nvSpPr>
        <p:spPr>
          <a:xfrm>
            <a:off x="457200" y="457200"/>
            <a:ext cx="411480" cy="411480"/>
          </a:xfrm>
          <a:prstGeom prst="ellipse">
            <a:avLst/>
          </a:prstGeom>
          <a:solidFill>
            <a:srgbClr val="8FA8FF"/>
          </a:solidFill>
          <a:ln/>
        </p:spPr>
      </p:sp>
      <p:sp>
        <p:nvSpPr>
          <p:cNvPr id="3" name="Text 1"/>
          <p:cNvSpPr txBox="1"/>
          <p:nvPr/>
        </p:nvSpPr>
        <p:spPr>
          <a:xfrm>
            <a:off x="457200" y="457200"/>
            <a:ext cx="411480" cy="411480"/>
          </a:xfrm>
          <a:prstGeom prst="rect">
            <a:avLst/>
          </a:prstGeom>
          <a:noFill/>
          <a:ln/>
        </p:spPr>
        <p:txBody>
          <a:bodyPr wrap="square" lIns="0" tIns="0" rIns="0" bIns="0" rtlCol="0" anchor="t"/>
          <a:lstStyle/>
          <a:p>
            <a:pPr marL="0" indent="0" algn="ctr">
              <a:buNone/>
            </a:pPr>
            <a:r>
              <a:rPr lang="en-US" sz="1300" b="1" dirty="0">
                <a:solidFill>
                  <a:srgbClr val="0F1633"/>
                </a:solidFill>
                <a:latin typeface="Calibri" pitchFamily="34" charset="0"/>
                <a:ea typeface="Calibri" pitchFamily="34" charset="-122"/>
                <a:cs typeface="Calibri" pitchFamily="34" charset="-120"/>
              </a:rPr>
              <a:t>10</a:t>
            </a:r>
            <a:endParaRPr lang="en-US" sz="1300" dirty="0"/>
          </a:p>
        </p:txBody>
      </p:sp>
      <p:sp>
        <p:nvSpPr>
          <p:cNvPr id="4" name="Text 2"/>
          <p:cNvSpPr txBox="1"/>
          <p:nvPr/>
        </p:nvSpPr>
        <p:spPr>
          <a:xfrm>
            <a:off x="1005840" y="384048"/>
            <a:ext cx="7498080" cy="566928"/>
          </a:xfrm>
          <a:prstGeom prst="rect">
            <a:avLst/>
          </a:prstGeom>
          <a:noFill/>
          <a:ln/>
        </p:spPr>
        <p:txBody>
          <a:bodyPr wrap="square" lIns="0" tIns="0" rIns="0" bIns="0" rtlCol="0" anchor="t"/>
          <a:lstStyle/>
          <a:p>
            <a:pPr marL="0" indent="0">
              <a:buNone/>
            </a:pPr>
            <a:r>
              <a:rPr lang="en-US" sz="3000" b="1" dirty="0">
                <a:solidFill>
                  <a:srgbClr val="FFFFFF"/>
                </a:solidFill>
                <a:latin typeface="Calibri" pitchFamily="34" charset="0"/>
                <a:ea typeface="Calibri" pitchFamily="34" charset="-122"/>
                <a:cs typeface="Calibri" pitchFamily="34" charset="-120"/>
              </a:rPr>
              <a:t>Plan de Trabajo e Hitos</a:t>
            </a:r>
            <a:endParaRPr lang="en-US" sz="3000" dirty="0"/>
          </a:p>
        </p:txBody>
      </p:sp>
      <p:sp>
        <p:nvSpPr>
          <p:cNvPr id="5" name="Text 3"/>
          <p:cNvSpPr txBox="1"/>
          <p:nvPr/>
        </p:nvSpPr>
        <p:spPr>
          <a:xfrm>
            <a:off x="1005840" y="960120"/>
            <a:ext cx="7680960" cy="292608"/>
          </a:xfrm>
          <a:prstGeom prst="rect">
            <a:avLst/>
          </a:prstGeom>
          <a:noFill/>
          <a:ln/>
        </p:spPr>
        <p:txBody>
          <a:bodyPr wrap="square" lIns="0" tIns="0" rIns="0" bIns="0" rtlCol="0" anchor="t"/>
          <a:lstStyle/>
          <a:p>
            <a:pPr marL="0" indent="0">
              <a:buNone/>
            </a:pPr>
            <a:r>
              <a:rPr lang="en-US" sz="1300" dirty="0">
                <a:solidFill>
                  <a:srgbClr val="CADCFC"/>
                </a:solidFill>
                <a:latin typeface="Calibri" pitchFamily="34" charset="0"/>
                <a:ea typeface="Calibri" pitchFamily="34" charset="-122"/>
                <a:cs typeface="Calibri" pitchFamily="34" charset="-120"/>
              </a:rPr>
              <a:t>16 semanas de trabajo efectivo en un semestre de 18.</a:t>
            </a:r>
            <a:endParaRPr lang="en-US" sz="1300" dirty="0"/>
          </a:p>
        </p:txBody>
      </p:sp>
      <p:sp>
        <p:nvSpPr>
          <p:cNvPr id="6" name="Shape 4"/>
          <p:cNvSpPr/>
          <p:nvPr/>
        </p:nvSpPr>
        <p:spPr>
          <a:xfrm>
            <a:off x="457200" y="1325880"/>
            <a:ext cx="2615184" cy="1828800"/>
          </a:xfrm>
          <a:prstGeom prst="roundRect">
            <a:avLst>
              <a:gd name="adj" fmla="val 3500"/>
            </a:avLst>
          </a:prstGeom>
          <a:solidFill>
            <a:srgbClr val="27316B"/>
          </a:solidFill>
          <a:ln/>
        </p:spPr>
      </p:sp>
      <p:sp>
        <p:nvSpPr>
          <p:cNvPr id="7" name="Shape 5"/>
          <p:cNvSpPr txBox="1"/>
          <p:nvPr/>
        </p:nvSpPr>
        <p:spPr>
          <a:xfrm>
            <a:off x="603504" y="1472184"/>
            <a:ext cx="384048" cy="384048"/>
          </a:xfrm>
          <a:prstGeom prst="ellipse">
            <a:avLst/>
          </a:prstGeom>
          <a:solidFill>
            <a:srgbClr val="8FA8FF"/>
          </a:solidFill>
          <a:ln/>
        </p:spPr>
      </p:sp>
      <p:sp>
        <p:nvSpPr>
          <p:cNvPr id="8" name="Text 6"/>
          <p:cNvSpPr txBox="1"/>
          <p:nvPr/>
        </p:nvSpPr>
        <p:spPr>
          <a:xfrm>
            <a:off x="603504" y="1472184"/>
            <a:ext cx="384048" cy="384048"/>
          </a:xfrm>
          <a:prstGeom prst="rect">
            <a:avLst/>
          </a:prstGeom>
          <a:noFill/>
          <a:ln/>
        </p:spPr>
        <p:txBody>
          <a:bodyPr wrap="square" lIns="0" tIns="0" rIns="0" bIns="0" rtlCol="0" anchor="t"/>
          <a:lstStyle/>
          <a:p>
            <a:pPr marL="0" indent="0" algn="ctr">
              <a:buNone/>
            </a:pPr>
            <a:r>
              <a:rPr lang="en-US" sz="1300" b="1" dirty="0">
                <a:solidFill>
                  <a:srgbClr val="0F1633"/>
                </a:solidFill>
                <a:latin typeface="Calibri" pitchFamily="34" charset="0"/>
                <a:ea typeface="Calibri" pitchFamily="34" charset="-122"/>
                <a:cs typeface="Calibri" pitchFamily="34" charset="-120"/>
              </a:rPr>
              <a:t>1</a:t>
            </a:r>
            <a:endParaRPr lang="en-US" sz="1300" dirty="0"/>
          </a:p>
        </p:txBody>
      </p:sp>
      <p:sp>
        <p:nvSpPr>
          <p:cNvPr id="9" name="Text 7"/>
          <p:cNvSpPr txBox="1"/>
          <p:nvPr/>
        </p:nvSpPr>
        <p:spPr>
          <a:xfrm>
            <a:off x="603504" y="1984248"/>
            <a:ext cx="2322576" cy="457200"/>
          </a:xfrm>
          <a:prstGeom prst="rect">
            <a:avLst/>
          </a:prstGeom>
          <a:noFill/>
          <a:ln/>
        </p:spPr>
        <p:txBody>
          <a:bodyPr wrap="square" lIns="0" tIns="0" rIns="0" bIns="0" rtlCol="0" anchor="t"/>
          <a:lstStyle/>
          <a:p>
            <a:pPr marL="0" indent="0">
              <a:buNone/>
            </a:pPr>
            <a:r>
              <a:rPr lang="en-US" sz="1300" b="1" dirty="0">
                <a:solidFill>
                  <a:srgbClr val="FFFFFF"/>
                </a:solidFill>
                <a:latin typeface="Calibri" pitchFamily="34" charset="0"/>
                <a:ea typeface="Calibri" pitchFamily="34" charset="-122"/>
                <a:cs typeface="Calibri" pitchFamily="34" charset="-120"/>
              </a:rPr>
              <a:t>H1 · Requisitos aprobados</a:t>
            </a:r>
            <a:endParaRPr lang="en-US" sz="1300" dirty="0"/>
          </a:p>
        </p:txBody>
      </p:sp>
      <p:sp>
        <p:nvSpPr>
          <p:cNvPr id="10" name="Text 8"/>
          <p:cNvSpPr txBox="1"/>
          <p:nvPr/>
        </p:nvSpPr>
        <p:spPr>
          <a:xfrm>
            <a:off x="603504" y="2441448"/>
            <a:ext cx="2322576" cy="685800"/>
          </a:xfrm>
          <a:prstGeom prst="rect">
            <a:avLst/>
          </a:prstGeom>
          <a:noFill/>
          <a:ln/>
        </p:spPr>
        <p:txBody>
          <a:bodyPr wrap="square" lIns="0" tIns="0" rIns="0" bIns="0" rtlCol="0" anchor="t"/>
          <a:lstStyle/>
          <a:p>
            <a:pPr marL="0" indent="0">
              <a:buNone/>
            </a:pPr>
            <a:r>
              <a:rPr lang="en-US" sz="1050" dirty="0">
                <a:solidFill>
                  <a:srgbClr val="CADCFC"/>
                </a:solidFill>
                <a:latin typeface="Calibri" pitchFamily="34" charset="0"/>
                <a:ea typeface="Calibri" pitchFamily="34" charset="-122"/>
                <a:cs typeface="Calibri" pitchFamily="34" charset="-120"/>
              </a:rPr>
              <a:t>Requisitos y alcance validados con el cliente (semana 2).</a:t>
            </a:r>
            <a:endParaRPr lang="en-US" sz="1050" dirty="0"/>
          </a:p>
        </p:txBody>
      </p:sp>
      <p:sp>
        <p:nvSpPr>
          <p:cNvPr id="11" name="Shape 9"/>
          <p:cNvSpPr/>
          <p:nvPr/>
        </p:nvSpPr>
        <p:spPr>
          <a:xfrm>
            <a:off x="3264408" y="1325880"/>
            <a:ext cx="2615184" cy="1828800"/>
          </a:xfrm>
          <a:prstGeom prst="roundRect">
            <a:avLst>
              <a:gd name="adj" fmla="val 3500"/>
            </a:avLst>
          </a:prstGeom>
          <a:solidFill>
            <a:srgbClr val="27316B"/>
          </a:solidFill>
          <a:ln/>
        </p:spPr>
      </p:sp>
      <p:sp>
        <p:nvSpPr>
          <p:cNvPr id="12" name="Shape 10"/>
          <p:cNvSpPr txBox="1"/>
          <p:nvPr/>
        </p:nvSpPr>
        <p:spPr>
          <a:xfrm>
            <a:off x="3410712" y="1472184"/>
            <a:ext cx="384048" cy="384048"/>
          </a:xfrm>
          <a:prstGeom prst="ellipse">
            <a:avLst/>
          </a:prstGeom>
          <a:solidFill>
            <a:srgbClr val="8FA8FF"/>
          </a:solidFill>
          <a:ln/>
        </p:spPr>
      </p:sp>
      <p:sp>
        <p:nvSpPr>
          <p:cNvPr id="13" name="Text 11"/>
          <p:cNvSpPr txBox="1"/>
          <p:nvPr/>
        </p:nvSpPr>
        <p:spPr>
          <a:xfrm>
            <a:off x="3410712" y="1472184"/>
            <a:ext cx="384048" cy="384048"/>
          </a:xfrm>
          <a:prstGeom prst="rect">
            <a:avLst/>
          </a:prstGeom>
          <a:noFill/>
          <a:ln/>
        </p:spPr>
        <p:txBody>
          <a:bodyPr wrap="square" lIns="0" tIns="0" rIns="0" bIns="0" rtlCol="0" anchor="t"/>
          <a:lstStyle/>
          <a:p>
            <a:pPr marL="0" indent="0" algn="ctr">
              <a:buNone/>
            </a:pPr>
            <a:r>
              <a:rPr lang="en-US" sz="1300" b="1" dirty="0">
                <a:solidFill>
                  <a:srgbClr val="0F1633"/>
                </a:solidFill>
                <a:latin typeface="Calibri" pitchFamily="34" charset="0"/>
                <a:ea typeface="Calibri" pitchFamily="34" charset="-122"/>
                <a:cs typeface="Calibri" pitchFamily="34" charset="-120"/>
              </a:rPr>
              <a:t>2</a:t>
            </a:r>
            <a:endParaRPr lang="en-US" sz="1300" dirty="0"/>
          </a:p>
        </p:txBody>
      </p:sp>
      <p:sp>
        <p:nvSpPr>
          <p:cNvPr id="14" name="Text 12"/>
          <p:cNvSpPr txBox="1"/>
          <p:nvPr/>
        </p:nvSpPr>
        <p:spPr>
          <a:xfrm>
            <a:off x="3410712" y="1984248"/>
            <a:ext cx="2322576" cy="457200"/>
          </a:xfrm>
          <a:prstGeom prst="rect">
            <a:avLst/>
          </a:prstGeom>
          <a:noFill/>
          <a:ln/>
        </p:spPr>
        <p:txBody>
          <a:bodyPr wrap="square" lIns="0" tIns="0" rIns="0" bIns="0" rtlCol="0" anchor="t"/>
          <a:lstStyle/>
          <a:p>
            <a:pPr marL="0" indent="0">
              <a:buNone/>
            </a:pPr>
            <a:r>
              <a:rPr lang="en-US" sz="1300" b="1" dirty="0">
                <a:solidFill>
                  <a:srgbClr val="FFFFFF"/>
                </a:solidFill>
                <a:latin typeface="Calibri" pitchFamily="34" charset="0"/>
                <a:ea typeface="Calibri" pitchFamily="34" charset="-122"/>
                <a:cs typeface="Calibri" pitchFamily="34" charset="-120"/>
              </a:rPr>
              <a:t>H2 · Prototipo validado</a:t>
            </a:r>
            <a:endParaRPr lang="en-US" sz="1300" dirty="0"/>
          </a:p>
        </p:txBody>
      </p:sp>
      <p:sp>
        <p:nvSpPr>
          <p:cNvPr id="15" name="Text 13"/>
          <p:cNvSpPr txBox="1"/>
          <p:nvPr/>
        </p:nvSpPr>
        <p:spPr>
          <a:xfrm>
            <a:off x="3410712" y="2441448"/>
            <a:ext cx="2322576" cy="685800"/>
          </a:xfrm>
          <a:prstGeom prst="rect">
            <a:avLst/>
          </a:prstGeom>
          <a:noFill/>
          <a:ln/>
        </p:spPr>
        <p:txBody>
          <a:bodyPr wrap="square" lIns="0" tIns="0" rIns="0" bIns="0" rtlCol="0" anchor="t"/>
          <a:lstStyle/>
          <a:p>
            <a:pPr marL="0" indent="0">
              <a:buNone/>
            </a:pPr>
            <a:r>
              <a:rPr lang="en-US" sz="1050" dirty="0">
                <a:solidFill>
                  <a:srgbClr val="CADCFC"/>
                </a:solidFill>
                <a:latin typeface="Calibri" pitchFamily="34" charset="0"/>
                <a:ea typeface="Calibri" pitchFamily="34" charset="-122"/>
                <a:cs typeface="Calibri" pitchFamily="34" charset="-120"/>
              </a:rPr>
              <a:t>Prototipo de la plataforma aprobado (semana 5).</a:t>
            </a:r>
            <a:endParaRPr lang="en-US" sz="1050" dirty="0"/>
          </a:p>
        </p:txBody>
      </p:sp>
      <p:sp>
        <p:nvSpPr>
          <p:cNvPr id="16" name="Shape 14"/>
          <p:cNvSpPr/>
          <p:nvPr/>
        </p:nvSpPr>
        <p:spPr>
          <a:xfrm>
            <a:off x="6071616" y="1325880"/>
            <a:ext cx="2615184" cy="1828800"/>
          </a:xfrm>
          <a:prstGeom prst="roundRect">
            <a:avLst>
              <a:gd name="adj" fmla="val 3500"/>
            </a:avLst>
          </a:prstGeom>
          <a:solidFill>
            <a:srgbClr val="27316B"/>
          </a:solidFill>
          <a:ln/>
        </p:spPr>
      </p:sp>
      <p:sp>
        <p:nvSpPr>
          <p:cNvPr id="17" name="Shape 15"/>
          <p:cNvSpPr txBox="1"/>
          <p:nvPr/>
        </p:nvSpPr>
        <p:spPr>
          <a:xfrm>
            <a:off x="6217920" y="1472184"/>
            <a:ext cx="384048" cy="384048"/>
          </a:xfrm>
          <a:prstGeom prst="ellipse">
            <a:avLst/>
          </a:prstGeom>
          <a:solidFill>
            <a:srgbClr val="8FA8FF"/>
          </a:solidFill>
          <a:ln/>
        </p:spPr>
      </p:sp>
      <p:sp>
        <p:nvSpPr>
          <p:cNvPr id="18" name="Text 16"/>
          <p:cNvSpPr txBox="1"/>
          <p:nvPr/>
        </p:nvSpPr>
        <p:spPr>
          <a:xfrm>
            <a:off x="6217920" y="1472184"/>
            <a:ext cx="384048" cy="384048"/>
          </a:xfrm>
          <a:prstGeom prst="rect">
            <a:avLst/>
          </a:prstGeom>
          <a:noFill/>
          <a:ln/>
        </p:spPr>
        <p:txBody>
          <a:bodyPr wrap="square" lIns="0" tIns="0" rIns="0" bIns="0" rtlCol="0" anchor="t"/>
          <a:lstStyle/>
          <a:p>
            <a:pPr marL="0" indent="0" algn="ctr">
              <a:buNone/>
            </a:pPr>
            <a:r>
              <a:rPr lang="en-US" sz="1300" b="1" dirty="0">
                <a:solidFill>
                  <a:srgbClr val="0F1633"/>
                </a:solidFill>
                <a:latin typeface="Calibri" pitchFamily="34" charset="0"/>
                <a:ea typeface="Calibri" pitchFamily="34" charset="-122"/>
                <a:cs typeface="Calibri" pitchFamily="34" charset="-120"/>
              </a:rPr>
              <a:t>3</a:t>
            </a:r>
            <a:endParaRPr lang="en-US" sz="1300" dirty="0"/>
          </a:p>
        </p:txBody>
      </p:sp>
      <p:sp>
        <p:nvSpPr>
          <p:cNvPr id="19" name="Text 17"/>
          <p:cNvSpPr txBox="1"/>
          <p:nvPr/>
        </p:nvSpPr>
        <p:spPr>
          <a:xfrm>
            <a:off x="6217920" y="1984248"/>
            <a:ext cx="2322576" cy="457200"/>
          </a:xfrm>
          <a:prstGeom prst="rect">
            <a:avLst/>
          </a:prstGeom>
          <a:noFill/>
          <a:ln/>
        </p:spPr>
        <p:txBody>
          <a:bodyPr wrap="square" lIns="0" tIns="0" rIns="0" bIns="0" rtlCol="0" anchor="t"/>
          <a:lstStyle/>
          <a:p>
            <a:pPr marL="0" indent="0">
              <a:buNone/>
            </a:pPr>
            <a:r>
              <a:rPr lang="en-US" sz="1300" b="1" dirty="0">
                <a:solidFill>
                  <a:srgbClr val="FFFFFF"/>
                </a:solidFill>
                <a:latin typeface="Calibri" pitchFamily="34" charset="0"/>
                <a:ea typeface="Calibri" pitchFamily="34" charset="-122"/>
                <a:cs typeface="Calibri" pitchFamily="34" charset="-120"/>
              </a:rPr>
              <a:t>H3 · Módulo IA integrado</a:t>
            </a:r>
            <a:endParaRPr lang="en-US" sz="1300" dirty="0"/>
          </a:p>
        </p:txBody>
      </p:sp>
      <p:sp>
        <p:nvSpPr>
          <p:cNvPr id="20" name="Text 18"/>
          <p:cNvSpPr txBox="1"/>
          <p:nvPr/>
        </p:nvSpPr>
        <p:spPr>
          <a:xfrm>
            <a:off x="6217920" y="2441448"/>
            <a:ext cx="2322576" cy="685800"/>
          </a:xfrm>
          <a:prstGeom prst="rect">
            <a:avLst/>
          </a:prstGeom>
          <a:noFill/>
          <a:ln/>
        </p:spPr>
        <p:txBody>
          <a:bodyPr wrap="square" lIns="0" tIns="0" rIns="0" bIns="0" rtlCol="0" anchor="t"/>
          <a:lstStyle/>
          <a:p>
            <a:pPr marL="0" indent="0">
              <a:buNone/>
            </a:pPr>
            <a:r>
              <a:rPr lang="en-US" sz="1050" dirty="0">
                <a:solidFill>
                  <a:srgbClr val="CADCFC"/>
                </a:solidFill>
                <a:latin typeface="Calibri" pitchFamily="34" charset="0"/>
                <a:ea typeface="Calibri" pitchFamily="34" charset="-122"/>
                <a:cs typeface="Calibri" pitchFamily="34" charset="-120"/>
              </a:rPr>
              <a:t>Módulo de redacción asistida por IA integrado (semana 13).</a:t>
            </a:r>
            <a:endParaRPr lang="en-US" sz="1050" dirty="0"/>
          </a:p>
        </p:txBody>
      </p:sp>
      <p:sp>
        <p:nvSpPr>
          <p:cNvPr id="21" name="Shape 19"/>
          <p:cNvSpPr/>
          <p:nvPr/>
        </p:nvSpPr>
        <p:spPr>
          <a:xfrm>
            <a:off x="1860804" y="3246120"/>
            <a:ext cx="2615184" cy="1280160"/>
          </a:xfrm>
          <a:prstGeom prst="roundRect">
            <a:avLst>
              <a:gd name="adj" fmla="val 5000"/>
            </a:avLst>
          </a:prstGeom>
          <a:solidFill>
            <a:srgbClr val="27316B"/>
          </a:solidFill>
          <a:ln/>
        </p:spPr>
      </p:sp>
      <p:sp>
        <p:nvSpPr>
          <p:cNvPr id="22" name="Shape 20"/>
          <p:cNvSpPr txBox="1"/>
          <p:nvPr/>
        </p:nvSpPr>
        <p:spPr>
          <a:xfrm>
            <a:off x="2007108" y="3429000"/>
            <a:ext cx="329184" cy="329184"/>
          </a:xfrm>
          <a:prstGeom prst="ellipse">
            <a:avLst/>
          </a:prstGeom>
          <a:solidFill>
            <a:srgbClr val="8FA8FF"/>
          </a:solidFill>
          <a:ln/>
        </p:spPr>
      </p:sp>
      <p:sp>
        <p:nvSpPr>
          <p:cNvPr id="23" name="Text 21"/>
          <p:cNvSpPr txBox="1"/>
          <p:nvPr/>
        </p:nvSpPr>
        <p:spPr>
          <a:xfrm>
            <a:off x="2007108" y="3429000"/>
            <a:ext cx="329184" cy="329184"/>
          </a:xfrm>
          <a:prstGeom prst="rect">
            <a:avLst/>
          </a:prstGeom>
          <a:noFill/>
          <a:ln/>
        </p:spPr>
        <p:txBody>
          <a:bodyPr wrap="square" lIns="0" tIns="0" rIns="0" bIns="0" rtlCol="0" anchor="t"/>
          <a:lstStyle/>
          <a:p>
            <a:pPr marL="0" indent="0" algn="ctr">
              <a:buNone/>
            </a:pPr>
            <a:r>
              <a:rPr lang="en-US" sz="1300" b="1" dirty="0">
                <a:solidFill>
                  <a:srgbClr val="0F1633"/>
                </a:solidFill>
                <a:latin typeface="Calibri" pitchFamily="34" charset="0"/>
                <a:ea typeface="Calibri" pitchFamily="34" charset="-122"/>
                <a:cs typeface="Calibri" pitchFamily="34" charset="-120"/>
              </a:rPr>
              <a:t>4</a:t>
            </a:r>
            <a:endParaRPr lang="en-US" sz="1300" dirty="0"/>
          </a:p>
        </p:txBody>
      </p:sp>
      <p:sp>
        <p:nvSpPr>
          <p:cNvPr id="24" name="Text 22"/>
          <p:cNvSpPr txBox="1"/>
          <p:nvPr/>
        </p:nvSpPr>
        <p:spPr>
          <a:xfrm>
            <a:off x="2464308" y="3419856"/>
            <a:ext cx="1865376" cy="329184"/>
          </a:xfrm>
          <a:prstGeom prst="rect">
            <a:avLst/>
          </a:prstGeom>
          <a:noFill/>
          <a:ln/>
        </p:spPr>
        <p:txBody>
          <a:bodyPr wrap="square" lIns="0" tIns="0" rIns="0" bIns="0" rtlCol="0" anchor="t"/>
          <a:lstStyle/>
          <a:p>
            <a:pPr marL="0" indent="0">
              <a:buNone/>
            </a:pPr>
            <a:r>
              <a:rPr lang="en-US" sz="1300" b="1" dirty="0">
                <a:solidFill>
                  <a:srgbClr val="FFFFFF"/>
                </a:solidFill>
                <a:latin typeface="Calibri" pitchFamily="34" charset="0"/>
                <a:ea typeface="Calibri" pitchFamily="34" charset="-122"/>
                <a:cs typeface="Calibri" pitchFamily="34" charset="-120"/>
              </a:rPr>
              <a:t>H4 · Despliegue y aceptación</a:t>
            </a:r>
            <a:endParaRPr lang="en-US" sz="1300" dirty="0"/>
          </a:p>
        </p:txBody>
      </p:sp>
      <p:sp>
        <p:nvSpPr>
          <p:cNvPr id="25" name="Text 23"/>
          <p:cNvSpPr txBox="1"/>
          <p:nvPr/>
        </p:nvSpPr>
        <p:spPr>
          <a:xfrm>
            <a:off x="2007108" y="3813048"/>
            <a:ext cx="2322576" cy="658368"/>
          </a:xfrm>
          <a:prstGeom prst="rect">
            <a:avLst/>
          </a:prstGeom>
          <a:noFill/>
          <a:ln/>
        </p:spPr>
        <p:txBody>
          <a:bodyPr wrap="square" lIns="0" tIns="0" rIns="0" bIns="0" rtlCol="0" anchor="t"/>
          <a:lstStyle/>
          <a:p>
            <a:pPr marL="0" indent="0">
              <a:buNone/>
            </a:pPr>
            <a:r>
              <a:rPr lang="en-US" sz="1050" dirty="0">
                <a:solidFill>
                  <a:srgbClr val="CADCFC"/>
                </a:solidFill>
                <a:latin typeface="Calibri" pitchFamily="34" charset="0"/>
                <a:ea typeface="Calibri" pitchFamily="34" charset="-122"/>
                <a:cs typeface="Calibri" pitchFamily="34" charset="-120"/>
              </a:rPr>
              <a:t>Plataforma desplegada y aceptada por el cliente (semana 16).</a:t>
            </a:r>
            <a:endParaRPr lang="en-US" sz="1050" dirty="0"/>
          </a:p>
        </p:txBody>
      </p:sp>
      <p:sp>
        <p:nvSpPr>
          <p:cNvPr id="26" name="Shape 24"/>
          <p:cNvSpPr/>
          <p:nvPr/>
        </p:nvSpPr>
        <p:spPr>
          <a:xfrm>
            <a:off x="4668012" y="3246120"/>
            <a:ext cx="2615184" cy="1280160"/>
          </a:xfrm>
          <a:prstGeom prst="roundRect">
            <a:avLst>
              <a:gd name="adj" fmla="val 5000"/>
            </a:avLst>
          </a:prstGeom>
          <a:solidFill>
            <a:srgbClr val="27316B"/>
          </a:solidFill>
          <a:ln/>
        </p:spPr>
      </p:sp>
      <p:sp>
        <p:nvSpPr>
          <p:cNvPr id="27" name="Shape 25"/>
          <p:cNvSpPr txBox="1"/>
          <p:nvPr/>
        </p:nvSpPr>
        <p:spPr>
          <a:xfrm>
            <a:off x="4814316" y="3429000"/>
            <a:ext cx="329184" cy="329184"/>
          </a:xfrm>
          <a:prstGeom prst="ellipse">
            <a:avLst/>
          </a:prstGeom>
          <a:solidFill>
            <a:srgbClr val="8FA8FF"/>
          </a:solidFill>
          <a:ln/>
        </p:spPr>
      </p:sp>
      <p:sp>
        <p:nvSpPr>
          <p:cNvPr id="28" name="Text 26"/>
          <p:cNvSpPr txBox="1"/>
          <p:nvPr/>
        </p:nvSpPr>
        <p:spPr>
          <a:xfrm>
            <a:off x="4814316" y="3429000"/>
            <a:ext cx="329184" cy="329184"/>
          </a:xfrm>
          <a:prstGeom prst="rect">
            <a:avLst/>
          </a:prstGeom>
          <a:noFill/>
          <a:ln/>
        </p:spPr>
        <p:txBody>
          <a:bodyPr wrap="square" lIns="0" tIns="0" rIns="0" bIns="0" rtlCol="0" anchor="t"/>
          <a:lstStyle/>
          <a:p>
            <a:pPr marL="0" indent="0" algn="ctr">
              <a:buNone/>
            </a:pPr>
            <a:r>
              <a:rPr lang="en-US" sz="1300" b="1" dirty="0">
                <a:solidFill>
                  <a:srgbClr val="0F1633"/>
                </a:solidFill>
                <a:latin typeface="Calibri" pitchFamily="34" charset="0"/>
                <a:ea typeface="Calibri" pitchFamily="34" charset="-122"/>
                <a:cs typeface="Calibri" pitchFamily="34" charset="-120"/>
              </a:rPr>
              <a:t>5</a:t>
            </a:r>
            <a:endParaRPr lang="en-US" sz="1300" dirty="0"/>
          </a:p>
        </p:txBody>
      </p:sp>
      <p:sp>
        <p:nvSpPr>
          <p:cNvPr id="29" name="Text 27"/>
          <p:cNvSpPr txBox="1"/>
          <p:nvPr/>
        </p:nvSpPr>
        <p:spPr>
          <a:xfrm>
            <a:off x="5271516" y="3419856"/>
            <a:ext cx="1865376" cy="329184"/>
          </a:xfrm>
          <a:prstGeom prst="rect">
            <a:avLst/>
          </a:prstGeom>
          <a:noFill/>
          <a:ln/>
        </p:spPr>
        <p:txBody>
          <a:bodyPr wrap="square" lIns="0" tIns="0" rIns="0" bIns="0" rtlCol="0" anchor="t"/>
          <a:lstStyle/>
          <a:p>
            <a:pPr marL="0" indent="0">
              <a:buNone/>
            </a:pPr>
            <a:r>
              <a:rPr lang="en-US" sz="1300" b="1" dirty="0">
                <a:solidFill>
                  <a:srgbClr val="FFFFFF"/>
                </a:solidFill>
                <a:latin typeface="Calibri" pitchFamily="34" charset="0"/>
                <a:ea typeface="Calibri" pitchFamily="34" charset="-122"/>
                <a:cs typeface="Calibri" pitchFamily="34" charset="-120"/>
              </a:rPr>
              <a:t>Margen de cierre</a:t>
            </a:r>
            <a:endParaRPr lang="en-US" sz="1300" dirty="0"/>
          </a:p>
        </p:txBody>
      </p:sp>
      <p:sp>
        <p:nvSpPr>
          <p:cNvPr id="30" name="Text 28"/>
          <p:cNvSpPr txBox="1"/>
          <p:nvPr/>
        </p:nvSpPr>
        <p:spPr>
          <a:xfrm>
            <a:off x="4814316" y="3813048"/>
            <a:ext cx="2322576" cy="658368"/>
          </a:xfrm>
          <a:prstGeom prst="rect">
            <a:avLst/>
          </a:prstGeom>
          <a:noFill/>
          <a:ln/>
        </p:spPr>
        <p:txBody>
          <a:bodyPr wrap="square" lIns="0" tIns="0" rIns="0" bIns="0" rtlCol="0" anchor="t"/>
          <a:lstStyle/>
          <a:p>
            <a:pPr marL="0" indent="0">
              <a:buNone/>
            </a:pPr>
            <a:r>
              <a:rPr lang="en-US" sz="1050" dirty="0">
                <a:solidFill>
                  <a:srgbClr val="CADCFC"/>
                </a:solidFill>
                <a:latin typeface="Calibri" pitchFamily="34" charset="0"/>
                <a:ea typeface="Calibri" pitchFamily="34" charset="-122"/>
                <a:cs typeface="Calibri" pitchFamily="34" charset="-120"/>
              </a:rPr>
              <a:t>Semanas 17-18 reservadas para correcciones y entrega final.</a:t>
            </a:r>
            <a:endParaRPr lang="en-US" sz="1050" dirty="0"/>
          </a:p>
        </p:txBody>
      </p:sp>
      <p:sp>
        <p:nvSpPr>
          <p:cNvPr id="31" name="Text 29"/>
          <p:cNvSpPr txBox="1"/>
          <p:nvPr/>
        </p:nvSpPr>
        <p:spPr>
          <a:xfrm>
            <a:off x="457200" y="4864608"/>
            <a:ext cx="2743200" cy="228600"/>
          </a:xfrm>
          <a:prstGeom prst="rect">
            <a:avLst/>
          </a:prstGeom>
          <a:noFill/>
          <a:ln/>
        </p:spPr>
        <p:txBody>
          <a:bodyPr wrap="square" lIns="0" tIns="0" rIns="0" bIns="0" rtlCol="0" anchor="t"/>
          <a:lstStyle/>
          <a:p>
            <a:pPr marL="0" indent="0">
              <a:buNone/>
            </a:pPr>
            <a:r>
              <a:rPr lang="en-US" sz="900" kern="0" spc="100" dirty="0">
                <a:solidFill>
                  <a:srgbClr val="93A4DC"/>
                </a:solidFill>
                <a:latin typeface="Calibri" pitchFamily="34" charset="0"/>
                <a:ea typeface="Calibri" pitchFamily="34" charset="-122"/>
                <a:cs typeface="Calibri" pitchFamily="34" charset="-120"/>
              </a:rPr>
              <a:t>Proyecto APT · CCHIA</a:t>
            </a:r>
            <a:endParaRPr lang="en-US" sz="900" dirty="0"/>
          </a:p>
        </p:txBody>
      </p:sp>
      <p:sp>
        <p:nvSpPr>
          <p:cNvPr id="32" name="Text 30"/>
          <p:cNvSpPr txBox="1"/>
          <p:nvPr/>
        </p:nvSpPr>
        <p:spPr>
          <a:xfrm>
            <a:off x="6400800" y="4864608"/>
            <a:ext cx="2286000" cy="228600"/>
          </a:xfrm>
          <a:prstGeom prst="rect">
            <a:avLst/>
          </a:prstGeom>
          <a:noFill/>
          <a:ln/>
        </p:spPr>
        <p:txBody>
          <a:bodyPr wrap="square" lIns="0" tIns="0" rIns="0" bIns="0" rtlCol="0" anchor="t"/>
          <a:lstStyle/>
          <a:p>
            <a:pPr marL="0" indent="0" algn="r">
              <a:buNone/>
            </a:pPr>
            <a:r>
              <a:rPr lang="en-US" sz="900" kern="0" spc="100" dirty="0">
                <a:solidFill>
                  <a:srgbClr val="93A4DC"/>
                </a:solidFill>
                <a:latin typeface="Calibri" pitchFamily="34" charset="0"/>
                <a:ea typeface="Calibri" pitchFamily="34" charset="-122"/>
                <a:cs typeface="Calibri" pitchFamily="34" charset="-120"/>
              </a:rPr>
              <a:t>11 / 11</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5">
    <p:bg>
      <p:bgPr>
        <a:solidFill>
          <a:srgbClr val="1B2452"/>
        </a:solidFill>
        <a:effectLst/>
      </p:bgPr>
    </p:bg>
    <p:spTree>
      <p:nvGrpSpPr>
        <p:cNvPr id="1" name=""/>
        <p:cNvGrpSpPr/>
        <p:nvPr/>
      </p:nvGrpSpPr>
      <p:grpSpPr>
        <a:xfrm>
          <a:off x="0" y="0"/>
          <a:ext cx="0" cy="0"/>
          <a:chOff x="0" y="0"/>
          <a:chExt cx="0" cy="0"/>
        </a:xfrm>
      </p:grpSpPr>
      <p:sp>
        <p:nvSpPr>
          <p:cNvPr id="2" name="Shape 0"/>
          <p:cNvSpPr txBox="1"/>
          <p:nvPr/>
        </p:nvSpPr>
        <p:spPr>
          <a:xfrm>
            <a:off x="8092440" y="438912"/>
            <a:ext cx="109728" cy="109728"/>
          </a:xfrm>
          <a:prstGeom prst="ellipse">
            <a:avLst/>
          </a:prstGeom>
          <a:solidFill>
            <a:srgbClr val="8FA8FF"/>
          </a:solidFill>
          <a:ln/>
        </p:spPr>
      </p:sp>
      <p:sp>
        <p:nvSpPr>
          <p:cNvPr id="3" name="Shape 1"/>
          <p:cNvSpPr txBox="1"/>
          <p:nvPr/>
        </p:nvSpPr>
        <p:spPr>
          <a:xfrm>
            <a:off x="8339328" y="566928"/>
            <a:ext cx="82296" cy="82296"/>
          </a:xfrm>
          <a:prstGeom prst="ellipse">
            <a:avLst/>
          </a:prstGeom>
          <a:solidFill>
            <a:srgbClr val="8FA8FF"/>
          </a:solidFill>
          <a:ln/>
        </p:spPr>
      </p:sp>
      <p:sp>
        <p:nvSpPr>
          <p:cNvPr id="4" name="Shape 2"/>
          <p:cNvSpPr txBox="1"/>
          <p:nvPr/>
        </p:nvSpPr>
        <p:spPr>
          <a:xfrm>
            <a:off x="8540496" y="384048"/>
            <a:ext cx="64008" cy="64008"/>
          </a:xfrm>
          <a:prstGeom prst="ellipse">
            <a:avLst/>
          </a:prstGeom>
          <a:solidFill>
            <a:srgbClr val="8FA8FF"/>
          </a:solidFill>
          <a:ln/>
        </p:spPr>
      </p:sp>
      <p:sp>
        <p:nvSpPr>
          <p:cNvPr id="5" name="Text 3"/>
          <p:cNvSpPr txBox="1"/>
          <p:nvPr/>
        </p:nvSpPr>
        <p:spPr>
          <a:xfrm>
            <a:off x="457200" y="1143000"/>
            <a:ext cx="8229600" cy="731520"/>
          </a:xfrm>
          <a:prstGeom prst="rect">
            <a:avLst/>
          </a:prstGeom>
          <a:noFill/>
          <a:ln/>
        </p:spPr>
        <p:txBody>
          <a:bodyPr wrap="square" lIns="0" tIns="0" rIns="0" bIns="0" rtlCol="0" anchor="t"/>
          <a:lstStyle/>
          <a:p>
            <a:pPr marL="0" indent="0" algn="ctr">
              <a:buNone/>
            </a:pPr>
            <a:r>
              <a:rPr lang="en-US" sz="3400" b="1" dirty="0">
                <a:solidFill>
                  <a:srgbClr val="FFFFFF"/>
                </a:solidFill>
                <a:latin typeface="Calibri" pitchFamily="34" charset="0"/>
                <a:ea typeface="Calibri" pitchFamily="34" charset="-122"/>
                <a:cs typeface="Calibri" pitchFamily="34" charset="-120"/>
              </a:rPr>
              <a:t>Gracias por su Atención</a:t>
            </a:r>
            <a:endParaRPr lang="en-US" sz="3400" dirty="0"/>
          </a:p>
        </p:txBody>
      </p:sp>
      <p:sp>
        <p:nvSpPr>
          <p:cNvPr id="6" name="Text 4"/>
          <p:cNvSpPr txBox="1"/>
          <p:nvPr/>
        </p:nvSpPr>
        <p:spPr>
          <a:xfrm>
            <a:off x="1143000" y="1965960"/>
            <a:ext cx="6858000" cy="914400"/>
          </a:xfrm>
          <a:prstGeom prst="rect">
            <a:avLst/>
          </a:prstGeom>
          <a:noFill/>
          <a:ln/>
        </p:spPr>
        <p:txBody>
          <a:bodyPr wrap="square" lIns="0" tIns="0" rIns="0" bIns="0" rtlCol="0" anchor="t"/>
          <a:lstStyle/>
          <a:p>
            <a:pPr marL="0" indent="0" algn="ctr">
              <a:buNone/>
            </a:pPr>
            <a:r>
              <a:rPr lang="en-US" sz="1400" dirty="0">
                <a:solidFill>
                  <a:srgbClr val="CADCFC"/>
                </a:solidFill>
                <a:latin typeface="Calibri" pitchFamily="34" charset="0"/>
                <a:ea typeface="Calibri" pitchFamily="34" charset="-122"/>
                <a:cs typeface="Calibri" pitchFamily="34" charset="-120"/>
              </a:rPr>
              <a:t>Agradecemos el tiempo dedicado a esta presentación. Como próximo paso, coordinaremos las reuniones de levantamiento de requisitos con los equipos involucrados para avanzar en el desarrollo de la plataforma digital.</a:t>
            </a:r>
            <a:endParaRPr lang="en-US" sz="1400" dirty="0"/>
          </a:p>
        </p:txBody>
      </p:sp>
      <p:sp>
        <p:nvSpPr>
          <p:cNvPr id="7" name="Shape 5"/>
          <p:cNvSpPr/>
          <p:nvPr/>
        </p:nvSpPr>
        <p:spPr>
          <a:xfrm>
            <a:off x="1600200" y="3108960"/>
            <a:ext cx="5943600" cy="868680"/>
          </a:xfrm>
          <a:prstGeom prst="roundRect">
            <a:avLst>
              <a:gd name="adj" fmla="val 8421"/>
            </a:avLst>
          </a:prstGeom>
          <a:solidFill>
            <a:srgbClr val="27316B"/>
          </a:solidFill>
          <a:ln/>
        </p:spPr>
      </p:sp>
      <p:sp>
        <p:nvSpPr>
          <p:cNvPr id="8" name="Text 6"/>
          <p:cNvSpPr txBox="1"/>
          <p:nvPr/>
        </p:nvSpPr>
        <p:spPr>
          <a:xfrm>
            <a:off x="1828800" y="3246120"/>
            <a:ext cx="5486400" cy="594360"/>
          </a:xfrm>
          <a:prstGeom prst="rect">
            <a:avLst/>
          </a:prstGeom>
          <a:noFill/>
          <a:ln/>
        </p:spPr>
        <p:txBody>
          <a:bodyPr wrap="square" lIns="0" tIns="0" rIns="0" bIns="0" rtlCol="0" anchor="ctr"/>
          <a:lstStyle/>
          <a:p>
            <a:pPr marL="0" indent="0" algn="ctr">
              <a:spcAft>
                <a:spcPts val="400"/>
              </a:spcAft>
              <a:buNone/>
            </a:pPr>
            <a:r>
              <a:rPr lang="en-US" sz="1400" b="1" dirty="0">
                <a:solidFill>
                  <a:srgbClr val="FFFFFF"/>
                </a:solidFill>
                <a:latin typeface="Calibri" pitchFamily="34" charset="0"/>
                <a:ea typeface="Calibri" pitchFamily="34" charset="-122"/>
                <a:cs typeface="Calibri" pitchFamily="34" charset="-120"/>
              </a:rPr>
              <a:t>Cámara Chilena de Inteligencia Artificial</a:t>
            </a:r>
            <a:endParaRPr lang="en-US" sz="1400" dirty="0"/>
          </a:p>
          <a:p>
            <a:pPr marL="0" indent="0" algn="ctr">
              <a:buNone/>
            </a:pPr>
            <a:r>
              <a:rPr lang="en-US" sz="1200" dirty="0">
                <a:solidFill>
                  <a:srgbClr val="CADCFC"/>
                </a:solidFill>
                <a:latin typeface="Calibri" pitchFamily="34" charset="0"/>
                <a:ea typeface="Calibri" pitchFamily="34" charset="-122"/>
                <a:cs typeface="Calibri" pitchFamily="34" charset="-120"/>
              </a:rPr>
              <a:t>www.cchia.cl · Santiago, Región Metropolitana, Chile</a:t>
            </a:r>
            <a:endParaRPr lang="en-US" sz="1400" dirty="0"/>
          </a:p>
        </p:txBody>
      </p:sp>
      <p:sp>
        <p:nvSpPr>
          <p:cNvPr id="9" name="Text 7"/>
          <p:cNvSpPr txBox="1"/>
          <p:nvPr/>
        </p:nvSpPr>
        <p:spPr>
          <a:xfrm>
            <a:off x="457200" y="4343400"/>
            <a:ext cx="8229600" cy="274320"/>
          </a:xfrm>
          <a:prstGeom prst="rect">
            <a:avLst/>
          </a:prstGeom>
          <a:noFill/>
          <a:ln/>
        </p:spPr>
        <p:txBody>
          <a:bodyPr wrap="square" lIns="0" tIns="0" rIns="0" bIns="0" rtlCol="0" anchor="t"/>
          <a:lstStyle/>
          <a:p>
            <a:pPr marL="0" indent="0" algn="ctr">
              <a:buNone/>
            </a:pPr>
            <a:r>
              <a:rPr lang="en-US" sz="1100" dirty="0">
                <a:solidFill>
                  <a:srgbClr val="93A4DC"/>
                </a:solidFill>
                <a:latin typeface="Calibri" pitchFamily="34" charset="0"/>
                <a:ea typeface="Calibri" pitchFamily="34" charset="-122"/>
                <a:cs typeface="Calibri" pitchFamily="34" charset="-120"/>
              </a:rPr>
              <a:t>Equipo 8 · PTY4614-302D · Fase 1</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1789</Words>
  <Application>Microsoft Office PowerPoint</Application>
  <PresentationFormat>Presentación en pantalla (16:9)</PresentationFormat>
  <Paragraphs>205</Paragraphs>
  <Slides>11</Slides>
  <Notes>11</Notes>
  <HiddenSlides>0</HiddenSlides>
  <MMClips>0</MMClips>
  <ScaleCrop>false</ScaleCrop>
  <HeadingPairs>
    <vt:vector size="6" baseType="variant">
      <vt:variant>
        <vt:lpstr>Fuentes usadas</vt:lpstr>
      </vt:variant>
      <vt:variant>
        <vt:i4>2</vt:i4>
      </vt:variant>
      <vt:variant>
        <vt:lpstr>Tema</vt:lpstr>
      </vt:variant>
      <vt:variant>
        <vt:i4>1</vt:i4>
      </vt:variant>
      <vt:variant>
        <vt:lpstr>Títulos de diapositiva</vt:lpstr>
      </vt:variant>
      <vt:variant>
        <vt:i4>11</vt:i4>
      </vt:variant>
    </vt:vector>
  </HeadingPairs>
  <TitlesOfParts>
    <vt:vector size="14" baseType="lpstr">
      <vt:lpstr>Arial</vt:lpstr>
      <vt:lpstr>Calibri</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Maicol Avila</dc:creator>
  <cp:lastModifiedBy>Maicol Avila</cp:lastModifiedBy>
  <cp:revision>2</cp:revision>
  <dcterms:created xsi:type="dcterms:W3CDTF">2026-09-22T01:51:50Z</dcterms:created>
  <dcterms:modified xsi:type="dcterms:W3CDTF">2026-09-22T02:48:19Z</dcterms:modified>
</cp:coreProperties>
</file>